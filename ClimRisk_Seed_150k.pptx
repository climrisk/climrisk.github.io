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Severity</c:v>
                </c:pt>
              </c:strCache>
            </c:strRef>
          </c:tx>
          <c:spPr>
            <a:solidFill>
              <a:srgbClr val="059669"/>
            </a:solidFill>
            <a:effectLst/>
          </c:spPr>
          <c:invertIfNegative val="0"/>
          <c:dLbls>
            <c:numFmt formatCode="#,##0" sourceLinked="0"/>
            <c:txPr>
              <a:bodyPr/>
              <a:lstStyle/>
              <a:p>
                <a:pPr>
                  <a:defRPr b="0" i="0" strike="noStrike" sz="1200" u="none">
                    <a:solidFill>
                      <a:srgbClr val="0B1628"/>
                    </a:solidFill>
                    <a:latin typeface="Arial"/>
                  </a:defRPr>
                </a:pPr>
              </a:p>
            </c:txPr>
            <c:showLegendKey val="0"/>
            <c:showVal val="1"/>
            <c:showCatName val="0"/>
            <c:showSerName val="0"/>
            <c:showPercent val="0"/>
            <c:showBubbleSize val="0"/>
            <c:showLeaderLines val="0"/>
          </c:dLbls>
          <c:dPt>
            <c:idx val="0"/>
            <c:invertIfNegative val="0"/>
            <c:bubble3D val="0"/>
            <c:spPr>
              <a:solidFill>
                <a:srgbClr val="059669"/>
              </a:solidFill>
              <a:effectLst/>
            </c:spPr>
          </c:dPt>
          <c:dPt>
            <c:idx val="1"/>
            <c:invertIfNegative val="0"/>
            <c:bubble3D val="0"/>
            <c:spPr>
              <a:solidFill>
                <a:srgbClr val="0891B2"/>
              </a:solidFill>
              <a:effectLst/>
            </c:spPr>
          </c:dPt>
          <c:dPt>
            <c:idx val="2"/>
            <c:invertIfNegative val="0"/>
            <c:bubble3D val="0"/>
            <c:spPr>
              <a:solidFill>
                <a:srgbClr val="475569"/>
              </a:solidFill>
              <a:effectLst/>
            </c:spPr>
          </c:dPt>
          <c:cat>
            <c:multiLvlStrRef>
              <c:f>Sheet1!$A$2:$A$4</c:f>
              <c:multiLvlStrCache>
                <c:ptCount val="3"/>
                <c:lvl>
                  <c:pt idx="0">
                    <c:v>Brewery (F&amp;B)</c:v>
                  </c:pt>
                  <c:pt idx="1">
                    <c:v>Steel Plant</c:v>
                  </c:pt>
                  <c:pt idx="2">
                    <c:v>Cement Plant</c:v>
                  </c:pt>
                </c:lvl>
              </c:multiLvlStrCache>
            </c:multiLvlStrRef>
          </c:cat>
          <c:val>
            <c:numRef>
              <c:f>Sheet1!$B$2:$B$4</c:f>
              <c:numCache>
                <c:formatCode>General</c:formatCode>
                <c:ptCount val="3"/>
                <c:pt idx="0">
                  <c:v>3.96</c:v>
                </c:pt>
                <c:pt idx="1">
                  <c:v>2.52</c:v>
                </c:pt>
                <c:pt idx="2">
                  <c:v>1.4</c:v>
                </c:pt>
              </c:numCache>
            </c:numRef>
          </c:val>
        </c:ser>
        <c:dLbls>
          <c:numFmt formatCode="#,##0" sourceLinked="0"/>
          <c:txPr>
            <a:bodyPr/>
            <a:lstStyle/>
            <a:p>
              <a:pPr>
                <a:defRPr b="0" i="0" strike="noStrike" sz="1200" u="none">
                  <a:solidFill>
                    <a:srgbClr val="0B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5"/>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59669"/>
          </a:solidFill>
          <a:ln w="12700">
            <a:solidFill>
              <a:srgbClr val="059669"/>
            </a:solidFill>
            <a:prstDash val="solid"/>
          </a:ln>
        </p:spPr>
      </p:sp>
      <p:sp>
        <p:nvSpPr>
          <p:cNvPr id="3" name="Text 1"/>
          <p:cNvSpPr/>
          <p:nvPr/>
        </p:nvSpPr>
        <p:spPr>
          <a:xfrm>
            <a:off x="457200" y="1280160"/>
            <a:ext cx="3657600" cy="82296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Clim</a:t>
            </a:r>
            <a:pPr indent="0" marL="0">
              <a:buNone/>
            </a:pPr>
            <a:r>
              <a:rPr lang="en-US" sz="5400" b="1" dirty="0">
                <a:solidFill>
                  <a:srgbClr val="059669"/>
                </a:solidFill>
                <a:latin typeface="Georgia" pitchFamily="34" charset="0"/>
                <a:ea typeface="Georgia" pitchFamily="34" charset="-122"/>
                <a:cs typeface="Georgia" pitchFamily="34" charset="-120"/>
              </a:rPr>
              <a:t>Risk</a:t>
            </a:r>
            <a:endParaRPr lang="en-US" sz="5400" dirty="0"/>
          </a:p>
        </p:txBody>
      </p:sp>
      <p:sp>
        <p:nvSpPr>
          <p:cNvPr id="4" name="Text 2"/>
          <p:cNvSpPr/>
          <p:nvPr/>
        </p:nvSpPr>
        <p:spPr>
          <a:xfrm>
            <a:off x="457200" y="2148840"/>
            <a:ext cx="54864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Climate Risk Intelligence</a:t>
            </a:r>
            <a:endParaRPr lang="en-US" sz="1600" dirty="0"/>
          </a:p>
        </p:txBody>
      </p:sp>
      <p:sp>
        <p:nvSpPr>
          <p:cNvPr id="5" name="Text 3"/>
          <p:cNvSpPr/>
          <p:nvPr/>
        </p:nvSpPr>
        <p:spPr>
          <a:xfrm>
            <a:off x="457200" y="2606040"/>
            <a:ext cx="5943600" cy="640080"/>
          </a:xfrm>
          <a:prstGeom prst="rect">
            <a:avLst/>
          </a:prstGeom>
          <a:noFill/>
          <a:ln/>
        </p:spPr>
        <p:txBody>
          <a:bodyPr wrap="square"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Physical risk. Transition risk. One composite score per asset. Action intelligence to protect capital.</a:t>
            </a:r>
            <a:endParaRPr lang="en-US" sz="1400" dirty="0"/>
          </a:p>
        </p:txBody>
      </p:sp>
      <p:sp>
        <p:nvSpPr>
          <p:cNvPr id="6" name="Shape 4"/>
          <p:cNvSpPr/>
          <p:nvPr/>
        </p:nvSpPr>
        <p:spPr>
          <a:xfrm>
            <a:off x="457200" y="3520440"/>
            <a:ext cx="1920240" cy="1097280"/>
          </a:xfrm>
          <a:prstGeom prst="rect">
            <a:avLst/>
          </a:prstGeom>
          <a:solidFill>
            <a:srgbClr val="112240"/>
          </a:solidFill>
          <a:ln w="12700">
            <a:solidFill>
              <a:srgbClr val="059669"/>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3547872"/>
            <a:ext cx="1920240" cy="502920"/>
          </a:xfrm>
          <a:prstGeom prst="rect">
            <a:avLst/>
          </a:prstGeom>
          <a:noFill/>
          <a:ln/>
        </p:spPr>
        <p:txBody>
          <a:bodyPr wrap="square" lIns="0" tIns="0" rIns="0" bIns="0" rtlCol="0" anchor="ctr"/>
          <a:lstStyle/>
          <a:p>
            <a:pPr algn="ctr" indent="0" marL="0">
              <a:buNone/>
            </a:pPr>
            <a:r>
              <a:rPr lang="en-US" sz="2800" b="1" dirty="0">
                <a:solidFill>
                  <a:srgbClr val="059669"/>
                </a:solidFill>
                <a:latin typeface="Georgia" pitchFamily="34" charset="0"/>
                <a:ea typeface="Georgia" pitchFamily="34" charset="-122"/>
                <a:cs typeface="Georgia" pitchFamily="34" charset="-120"/>
              </a:rPr>
              <a:t>40+</a:t>
            </a:r>
            <a:endParaRPr lang="en-US" sz="2800" dirty="0"/>
          </a:p>
        </p:txBody>
      </p:sp>
      <p:sp>
        <p:nvSpPr>
          <p:cNvPr id="8" name="Text 6"/>
          <p:cNvSpPr/>
          <p:nvPr/>
        </p:nvSpPr>
        <p:spPr>
          <a:xfrm>
            <a:off x="457200" y="4041648"/>
            <a:ext cx="1920240"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Jurisdictions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with mandatory disclosure</a:t>
            </a:r>
            <a:endParaRPr lang="en-US" sz="950" dirty="0"/>
          </a:p>
        </p:txBody>
      </p:sp>
      <p:sp>
        <p:nvSpPr>
          <p:cNvPr id="9" name="Shape 7"/>
          <p:cNvSpPr/>
          <p:nvPr/>
        </p:nvSpPr>
        <p:spPr>
          <a:xfrm>
            <a:off x="2606040" y="3520440"/>
            <a:ext cx="1920240" cy="1097280"/>
          </a:xfrm>
          <a:prstGeom prst="rect">
            <a:avLst/>
          </a:prstGeom>
          <a:solidFill>
            <a:srgbClr val="112240"/>
          </a:solidFill>
          <a:ln w="12700">
            <a:solidFill>
              <a:srgbClr val="059669"/>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2606040" y="3547872"/>
            <a:ext cx="1920240" cy="502920"/>
          </a:xfrm>
          <a:prstGeom prst="rect">
            <a:avLst/>
          </a:prstGeom>
          <a:noFill/>
          <a:ln/>
        </p:spPr>
        <p:txBody>
          <a:bodyPr wrap="square" lIns="0" tIns="0" rIns="0" bIns="0" rtlCol="0" anchor="ctr"/>
          <a:lstStyle/>
          <a:p>
            <a:pPr algn="ctr" indent="0" marL="0">
              <a:buNone/>
            </a:pPr>
            <a:r>
              <a:rPr lang="en-US" sz="2800" b="1" dirty="0">
                <a:solidFill>
                  <a:srgbClr val="059669"/>
                </a:solidFill>
                <a:latin typeface="Georgia" pitchFamily="34" charset="0"/>
                <a:ea typeface="Georgia" pitchFamily="34" charset="-122"/>
                <a:cs typeface="Georgia" pitchFamily="34" charset="-120"/>
              </a:rPr>
              <a:t>10</a:t>
            </a:r>
            <a:endParaRPr lang="en-US" sz="2800" dirty="0"/>
          </a:p>
        </p:txBody>
      </p:sp>
      <p:sp>
        <p:nvSpPr>
          <p:cNvPr id="11" name="Text 9"/>
          <p:cNvSpPr/>
          <p:nvPr/>
        </p:nvSpPr>
        <p:spPr>
          <a:xfrm>
            <a:off x="2606040" y="4041648"/>
            <a:ext cx="1920240"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Physical hazard</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types modelled</a:t>
            </a:r>
            <a:endParaRPr lang="en-US" sz="950" dirty="0"/>
          </a:p>
        </p:txBody>
      </p:sp>
      <p:sp>
        <p:nvSpPr>
          <p:cNvPr id="12" name="Shape 10"/>
          <p:cNvSpPr/>
          <p:nvPr/>
        </p:nvSpPr>
        <p:spPr>
          <a:xfrm>
            <a:off x="4754880" y="3520440"/>
            <a:ext cx="1920240" cy="1097280"/>
          </a:xfrm>
          <a:prstGeom prst="rect">
            <a:avLst/>
          </a:prstGeom>
          <a:solidFill>
            <a:srgbClr val="112240"/>
          </a:solidFill>
          <a:ln w="12700">
            <a:solidFill>
              <a:srgbClr val="059669"/>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754880" y="3547872"/>
            <a:ext cx="1920240" cy="502920"/>
          </a:xfrm>
          <a:prstGeom prst="rect">
            <a:avLst/>
          </a:prstGeom>
          <a:noFill/>
          <a:ln/>
        </p:spPr>
        <p:txBody>
          <a:bodyPr wrap="square" lIns="0" tIns="0" rIns="0" bIns="0" rtlCol="0" anchor="ctr"/>
          <a:lstStyle/>
          <a:p>
            <a:pPr algn="ctr" indent="0" marL="0">
              <a:buNone/>
            </a:pPr>
            <a:r>
              <a:rPr lang="en-US" sz="2800" b="1" dirty="0">
                <a:solidFill>
                  <a:srgbClr val="059669"/>
                </a:solidFill>
                <a:latin typeface="Georgia" pitchFamily="34" charset="0"/>
                <a:ea typeface="Georgia" pitchFamily="34" charset="-122"/>
                <a:cs typeface="Georgia" pitchFamily="34" charset="-120"/>
              </a:rPr>
              <a:t>3</a:t>
            </a:r>
            <a:endParaRPr lang="en-US" sz="2800" dirty="0"/>
          </a:p>
        </p:txBody>
      </p:sp>
      <p:sp>
        <p:nvSpPr>
          <p:cNvPr id="14" name="Text 12"/>
          <p:cNvSpPr/>
          <p:nvPr/>
        </p:nvSpPr>
        <p:spPr>
          <a:xfrm>
            <a:off x="4754880" y="4041648"/>
            <a:ext cx="1920240"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NGFS carbon</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price scenarios</a:t>
            </a:r>
            <a:endParaRPr lang="en-US" sz="950" dirty="0"/>
          </a:p>
        </p:txBody>
      </p:sp>
      <p:sp>
        <p:nvSpPr>
          <p:cNvPr id="15" name="Shape 13"/>
          <p:cNvSpPr/>
          <p:nvPr/>
        </p:nvSpPr>
        <p:spPr>
          <a:xfrm>
            <a:off x="6903720" y="3520440"/>
            <a:ext cx="1920240" cy="1097280"/>
          </a:xfrm>
          <a:prstGeom prst="rect">
            <a:avLst/>
          </a:prstGeom>
          <a:solidFill>
            <a:srgbClr val="112240"/>
          </a:solidFill>
          <a:ln w="12700">
            <a:solidFill>
              <a:srgbClr val="059669"/>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6903720" y="3547872"/>
            <a:ext cx="1920240" cy="502920"/>
          </a:xfrm>
          <a:prstGeom prst="rect">
            <a:avLst/>
          </a:prstGeom>
          <a:noFill/>
          <a:ln/>
        </p:spPr>
        <p:txBody>
          <a:bodyPr wrap="square" lIns="0" tIns="0" rIns="0" bIns="0" rtlCol="0" anchor="ctr"/>
          <a:lstStyle/>
          <a:p>
            <a:pPr algn="ctr" indent="0" marL="0">
              <a:buNone/>
            </a:pPr>
            <a:r>
              <a:rPr lang="en-US" sz="2800" b="1" dirty="0">
                <a:solidFill>
                  <a:srgbClr val="059669"/>
                </a:solidFill>
                <a:latin typeface="Georgia" pitchFamily="34" charset="0"/>
                <a:ea typeface="Georgia" pitchFamily="34" charset="-122"/>
                <a:cs typeface="Georgia" pitchFamily="34" charset="-120"/>
              </a:rPr>
              <a:t>60s</a:t>
            </a:r>
            <a:endParaRPr lang="en-US" sz="2800" dirty="0"/>
          </a:p>
        </p:txBody>
      </p:sp>
      <p:sp>
        <p:nvSpPr>
          <p:cNvPr id="17" name="Text 15"/>
          <p:cNvSpPr/>
          <p:nvPr/>
        </p:nvSpPr>
        <p:spPr>
          <a:xfrm>
            <a:off x="6903720" y="4041648"/>
            <a:ext cx="1920240"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Full assessment</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run time</a:t>
            </a:r>
            <a:endParaRPr lang="en-US" sz="950" dirty="0"/>
          </a:p>
        </p:txBody>
      </p:sp>
      <p:sp>
        <p:nvSpPr>
          <p:cNvPr id="18" name="Text 16"/>
          <p:cNvSpPr/>
          <p:nvPr/>
        </p:nvSpPr>
        <p:spPr>
          <a:xfrm>
            <a:off x="457200" y="4800600"/>
            <a:ext cx="82296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Shrinivash Dhamodhara Kannan  ·  Founder  ·  shri@climrisk.io  ·  climrisk.io  ·  KVK 95420134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628"/>
          </a:solidFill>
          <a:ln w="12700">
            <a:solidFill>
              <a:srgbClr val="0B1628"/>
            </a:solidFill>
            <a:prstDash val="solid"/>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457200" y="868680"/>
            <a:ext cx="822960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Climate risk will move capital. Companies can't quantify it or act on it.</a:t>
            </a:r>
            <a:endParaRPr lang="en-US" sz="2200" dirty="0"/>
          </a:p>
        </p:txBody>
      </p:sp>
      <p:sp>
        <p:nvSpPr>
          <p:cNvPr id="5" name="Shape 3"/>
          <p:cNvSpPr/>
          <p:nvPr/>
        </p:nvSpPr>
        <p:spPr>
          <a:xfrm>
            <a:off x="320040" y="1554480"/>
            <a:ext cx="2697480" cy="3200400"/>
          </a:xfrm>
          <a:prstGeom prst="rect">
            <a:avLst/>
          </a:prstGeom>
          <a:solidFill>
            <a:srgbClr val="F1F5F9"/>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554480"/>
            <a:ext cx="2697480" cy="45720"/>
          </a:xfrm>
          <a:prstGeom prst="rect">
            <a:avLst/>
          </a:prstGeom>
          <a:solidFill>
            <a:srgbClr val="059669"/>
          </a:solidFill>
          <a:ln w="12700">
            <a:solidFill>
              <a:srgbClr val="059669"/>
            </a:solidFill>
            <a:prstDash val="solid"/>
          </a:ln>
        </p:spPr>
      </p:sp>
      <p:sp>
        <p:nvSpPr>
          <p:cNvPr id="7" name="Text 5"/>
          <p:cNvSpPr/>
          <p:nvPr/>
        </p:nvSpPr>
        <p:spPr>
          <a:xfrm>
            <a:off x="457200" y="1664208"/>
            <a:ext cx="2423160" cy="594360"/>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Regulation is</a:t>
            </a:r>
            <a:endParaRPr lang="en-US" sz="1300" dirty="0"/>
          </a:p>
          <a:p>
            <a:pPr indent="0" marL="0">
              <a:buNone/>
            </a:pPr>
            <a:r>
              <a:rPr lang="en-US" sz="1300" b="1" dirty="0">
                <a:solidFill>
                  <a:srgbClr val="0B1628"/>
                </a:solidFill>
                <a:latin typeface="Georgia" pitchFamily="34" charset="0"/>
                <a:ea typeface="Georgia" pitchFamily="34" charset="-122"/>
                <a:cs typeface="Georgia" pitchFamily="34" charset="-120"/>
              </a:rPr>
              <a:t>arriving fast</a:t>
            </a:r>
            <a:endParaRPr lang="en-US" sz="1300" dirty="0"/>
          </a:p>
        </p:txBody>
      </p:sp>
      <p:sp>
        <p:nvSpPr>
          <p:cNvPr id="8" name="Text 6"/>
          <p:cNvSpPr/>
          <p:nvPr/>
        </p:nvSpPr>
        <p:spPr>
          <a:xfrm>
            <a:off x="457200" y="2331720"/>
            <a:ext cx="2423160" cy="228600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CSRD is live in the EU. TCFD is mandatory in the UK. IFRS S2 is being adopted across 40+ jurisdictions. Every major financial regulator is asking companies one question: what is climate change going to do to your balance sheet?</a:t>
            </a:r>
            <a:endParaRPr lang="en-US" sz="1000" dirty="0"/>
          </a:p>
        </p:txBody>
      </p:sp>
      <p:sp>
        <p:nvSpPr>
          <p:cNvPr id="9" name="Shape 7"/>
          <p:cNvSpPr/>
          <p:nvPr/>
        </p:nvSpPr>
        <p:spPr>
          <a:xfrm>
            <a:off x="3200400" y="1554480"/>
            <a:ext cx="2697480" cy="3200400"/>
          </a:xfrm>
          <a:prstGeom prst="rect">
            <a:avLst/>
          </a:prstGeom>
          <a:solidFill>
            <a:srgbClr val="F1F5F9"/>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0" y="1554480"/>
            <a:ext cx="2697480" cy="45720"/>
          </a:xfrm>
          <a:prstGeom prst="rect">
            <a:avLst/>
          </a:prstGeom>
          <a:solidFill>
            <a:srgbClr val="059669"/>
          </a:solidFill>
          <a:ln w="12700">
            <a:solidFill>
              <a:srgbClr val="059669"/>
            </a:solidFill>
            <a:prstDash val="solid"/>
          </a:ln>
        </p:spPr>
      </p:sp>
      <p:sp>
        <p:nvSpPr>
          <p:cNvPr id="11" name="Text 9"/>
          <p:cNvSpPr/>
          <p:nvPr/>
        </p:nvSpPr>
        <p:spPr>
          <a:xfrm>
            <a:off x="3337560" y="1664208"/>
            <a:ext cx="2423160" cy="594360"/>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The answer</a:t>
            </a:r>
            <a:endParaRPr lang="en-US" sz="1300" dirty="0"/>
          </a:p>
          <a:p>
            <a:pPr indent="0" marL="0">
              <a:buNone/>
            </a:pPr>
            <a:r>
              <a:rPr lang="en-US" sz="1300" b="1" dirty="0">
                <a:solidFill>
                  <a:srgbClr val="0B1628"/>
                </a:solidFill>
                <a:latin typeface="Georgia" pitchFamily="34" charset="0"/>
                <a:ea typeface="Georgia" pitchFamily="34" charset="-122"/>
                <a:cs typeface="Georgia" pitchFamily="34" charset="-120"/>
              </a:rPr>
              <a:t>doesn't exist yet</a:t>
            </a:r>
            <a:endParaRPr lang="en-US" sz="1300" dirty="0"/>
          </a:p>
        </p:txBody>
      </p:sp>
      <p:sp>
        <p:nvSpPr>
          <p:cNvPr id="12" name="Text 10"/>
          <p:cNvSpPr/>
          <p:nvPr/>
        </p:nvSpPr>
        <p:spPr>
          <a:xfrm>
            <a:off x="3337560" y="2331720"/>
            <a:ext cx="2423160" cy="228600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Most companies respond with a heat map or a PDF. Neither tells them which assets are financially exposed, which transition scenario kills their margins, or what to actually do at each site to prevent the loss.</a:t>
            </a:r>
            <a:endParaRPr lang="en-US" sz="1000" dirty="0"/>
          </a:p>
        </p:txBody>
      </p:sp>
      <p:sp>
        <p:nvSpPr>
          <p:cNvPr id="13" name="Shape 11"/>
          <p:cNvSpPr/>
          <p:nvPr/>
        </p:nvSpPr>
        <p:spPr>
          <a:xfrm>
            <a:off x="6080760" y="1554480"/>
            <a:ext cx="2697480" cy="3200400"/>
          </a:xfrm>
          <a:prstGeom prst="rect">
            <a:avLst/>
          </a:prstGeom>
          <a:solidFill>
            <a:srgbClr val="F1F5F9"/>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080760" y="1554480"/>
            <a:ext cx="2697480" cy="45720"/>
          </a:xfrm>
          <a:prstGeom prst="rect">
            <a:avLst/>
          </a:prstGeom>
          <a:solidFill>
            <a:srgbClr val="059669"/>
          </a:solidFill>
          <a:ln w="12700">
            <a:solidFill>
              <a:srgbClr val="059669"/>
            </a:solidFill>
            <a:prstDash val="solid"/>
          </a:ln>
        </p:spPr>
      </p:sp>
      <p:sp>
        <p:nvSpPr>
          <p:cNvPr id="15" name="Text 13"/>
          <p:cNvSpPr/>
          <p:nvPr/>
        </p:nvSpPr>
        <p:spPr>
          <a:xfrm>
            <a:off x="6217920" y="1664208"/>
            <a:ext cx="2423160" cy="594360"/>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Existing tools</a:t>
            </a:r>
            <a:endParaRPr lang="en-US" sz="1300" dirty="0"/>
          </a:p>
          <a:p>
            <a:pPr indent="0" marL="0">
              <a:buNone/>
            </a:pPr>
            <a:r>
              <a:rPr lang="en-US" sz="1300" b="1" dirty="0">
                <a:solidFill>
                  <a:srgbClr val="0B1628"/>
                </a:solidFill>
                <a:latin typeface="Georgia" pitchFamily="34" charset="0"/>
                <a:ea typeface="Georgia" pitchFamily="34" charset="-122"/>
                <a:cs typeface="Georgia" pitchFamily="34" charset="-120"/>
              </a:rPr>
              <a:t>don't solve it</a:t>
            </a:r>
            <a:endParaRPr lang="en-US" sz="1300" dirty="0"/>
          </a:p>
        </p:txBody>
      </p:sp>
      <p:sp>
        <p:nvSpPr>
          <p:cNvPr id="16" name="Text 14"/>
          <p:cNvSpPr/>
          <p:nvPr/>
        </p:nvSpPr>
        <p:spPr>
          <a:xfrm>
            <a:off x="6217920" y="2331720"/>
            <a:ext cx="2423160" cy="228600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Generic ESG scores are portfolio-level and sector-averaged. They do not tell you which specific asset is exposed, by how much in dollar terms, or what intervention at that asset prevents the revenue loss. That gap is where investment decisions go wrong.</a:t>
            </a:r>
            <a:endParaRPr lang="en-US" sz="1000" dirty="0"/>
          </a:p>
        </p:txBody>
      </p:sp>
      <p:sp>
        <p:nvSpPr>
          <p:cNvPr id="17" name="Text 15"/>
          <p:cNvSpPr/>
          <p:nvPr/>
        </p:nvSpPr>
        <p:spPr>
          <a:xfrm>
            <a:off x="8046720" y="4937760"/>
            <a:ext cx="9144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climrisk.io</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628"/>
          </a:solidFill>
          <a:ln w="12700">
            <a:solidFill>
              <a:srgbClr val="0B1628"/>
            </a:solidFill>
            <a:prstDash val="solid"/>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MARKET OPPORTUNITY</a:t>
            </a:r>
            <a:endParaRPr lang="en-US" sz="1100" dirty="0"/>
          </a:p>
        </p:txBody>
      </p:sp>
      <p:sp>
        <p:nvSpPr>
          <p:cNvPr id="4" name="Text 2"/>
          <p:cNvSpPr/>
          <p:nvPr/>
        </p:nvSpPr>
        <p:spPr>
          <a:xfrm>
            <a:off x="365760" y="1005840"/>
            <a:ext cx="4114800" cy="731520"/>
          </a:xfrm>
          <a:prstGeom prst="rect">
            <a:avLst/>
          </a:prstGeom>
          <a:noFill/>
          <a:ln/>
        </p:spPr>
        <p:txBody>
          <a:bodyPr wrap="square" lIns="0" tIns="0" rIns="0" bIns="0" rtlCol="0" anchor="ctr"/>
          <a:lstStyle/>
          <a:p>
            <a:pPr indent="0" marL="0">
              <a:buNone/>
            </a:pPr>
            <a:r>
              <a:rPr lang="en-US" sz="5200" b="1" dirty="0">
                <a:solidFill>
                  <a:srgbClr val="059669"/>
                </a:solidFill>
                <a:latin typeface="Georgia" pitchFamily="34" charset="0"/>
                <a:ea typeface="Georgia" pitchFamily="34" charset="-122"/>
                <a:cs typeface="Georgia" pitchFamily="34" charset="-120"/>
              </a:rPr>
              <a:t>50,000+</a:t>
            </a:r>
            <a:endParaRPr lang="en-US" sz="5200" dirty="0"/>
          </a:p>
        </p:txBody>
      </p:sp>
      <p:sp>
        <p:nvSpPr>
          <p:cNvPr id="5" name="Text 3"/>
          <p:cNvSpPr/>
          <p:nvPr/>
        </p:nvSpPr>
        <p:spPr>
          <a:xfrm>
            <a:off x="365760" y="1691640"/>
            <a:ext cx="384048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Large European corporates with quantifiable physical and transition risk</a:t>
            </a:r>
            <a:endParaRPr lang="en-US" sz="1200" dirty="0"/>
          </a:p>
        </p:txBody>
      </p:sp>
      <p:sp>
        <p:nvSpPr>
          <p:cNvPr id="6" name="Shape 4"/>
          <p:cNvSpPr/>
          <p:nvPr/>
        </p:nvSpPr>
        <p:spPr>
          <a:xfrm>
            <a:off x="365760" y="2286000"/>
            <a:ext cx="3840480" cy="0"/>
          </a:xfrm>
          <a:prstGeom prst="line">
            <a:avLst/>
          </a:prstGeom>
          <a:noFill/>
          <a:ln w="12700">
            <a:solidFill>
              <a:srgbClr val="CBD5E1"/>
            </a:solidFill>
            <a:prstDash val="solid"/>
          </a:ln>
        </p:spPr>
      </p:sp>
      <p:sp>
        <p:nvSpPr>
          <p:cNvPr id="7" name="Text 5"/>
          <p:cNvSpPr/>
          <p:nvPr/>
        </p:nvSpPr>
        <p:spPr>
          <a:xfrm>
            <a:off x="365760" y="2423160"/>
            <a:ext cx="4114800" cy="640080"/>
          </a:xfrm>
          <a:prstGeom prst="rect">
            <a:avLst/>
          </a:prstGeom>
          <a:noFill/>
          <a:ln/>
        </p:spPr>
        <p:txBody>
          <a:bodyPr wrap="square" lIns="0" tIns="0" rIns="0" bIns="0" rtlCol="0" anchor="ctr"/>
          <a:lstStyle/>
          <a:p>
            <a:pPr indent="0" marL="0">
              <a:buNone/>
            </a:pPr>
            <a:r>
              <a:rPr lang="en-US" sz="4400" b="1" dirty="0">
                <a:solidFill>
                  <a:srgbClr val="0B1628"/>
                </a:solidFill>
                <a:latin typeface="Georgia" pitchFamily="34" charset="0"/>
                <a:ea typeface="Georgia" pitchFamily="34" charset="-122"/>
                <a:cs typeface="Georgia" pitchFamily="34" charset="-120"/>
              </a:rPr>
              <a:t>$2.4B</a:t>
            </a:r>
            <a:endParaRPr lang="en-US" sz="4400" dirty="0"/>
          </a:p>
        </p:txBody>
      </p:sp>
      <p:sp>
        <p:nvSpPr>
          <p:cNvPr id="8" name="Text 6"/>
          <p:cNvSpPr/>
          <p:nvPr/>
        </p:nvSpPr>
        <p:spPr>
          <a:xfrm>
            <a:off x="365760" y="3017520"/>
            <a:ext cx="384048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Projected global climate risk analytics market by 2028</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(CAGR 28%, physical risk quantification and mandatory CSRD and IFRS S2 disclosure driving demand)</a:t>
            </a:r>
            <a:endParaRPr lang="en-US" sz="1100" dirty="0"/>
          </a:p>
        </p:txBody>
      </p:sp>
      <p:sp>
        <p:nvSpPr>
          <p:cNvPr id="9" name="Shape 7"/>
          <p:cNvSpPr/>
          <p:nvPr/>
        </p:nvSpPr>
        <p:spPr>
          <a:xfrm>
            <a:off x="365760" y="3703320"/>
            <a:ext cx="3840480" cy="0"/>
          </a:xfrm>
          <a:prstGeom prst="line">
            <a:avLst/>
          </a:prstGeom>
          <a:noFill/>
          <a:ln w="12700">
            <a:solidFill>
              <a:srgbClr val="CBD5E1"/>
            </a:solidFill>
            <a:prstDash val="solid"/>
          </a:ln>
        </p:spPr>
      </p:sp>
      <p:sp>
        <p:nvSpPr>
          <p:cNvPr id="10" name="Text 8"/>
          <p:cNvSpPr/>
          <p:nvPr/>
        </p:nvSpPr>
        <p:spPr>
          <a:xfrm>
            <a:off x="365760" y="3794760"/>
            <a:ext cx="3840480" cy="73152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Primary targets: large industrials, PE and infrastructure funds, commercial banks running climate stress tests, and sustainability consultancies serving EU corporates.</a:t>
            </a:r>
            <a:endParaRPr lang="en-US" sz="1000" dirty="0"/>
          </a:p>
        </p:txBody>
      </p:sp>
      <p:sp>
        <p:nvSpPr>
          <p:cNvPr id="11" name="Text 9"/>
          <p:cNvSpPr/>
          <p:nvPr/>
        </p:nvSpPr>
        <p:spPr>
          <a:xfrm>
            <a:off x="4754880" y="960120"/>
            <a:ext cx="4023360" cy="365760"/>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Regulatory Pressure Timeline</a:t>
            </a:r>
            <a:endParaRPr lang="en-US" sz="1300" dirty="0"/>
          </a:p>
        </p:txBody>
      </p:sp>
      <p:sp>
        <p:nvSpPr>
          <p:cNvPr id="12" name="Shape 10"/>
          <p:cNvSpPr/>
          <p:nvPr/>
        </p:nvSpPr>
        <p:spPr>
          <a:xfrm>
            <a:off x="4754880" y="1463040"/>
            <a:ext cx="914400" cy="502920"/>
          </a:xfrm>
          <a:prstGeom prst="rect">
            <a:avLst/>
          </a:prstGeom>
          <a:solidFill>
            <a:srgbClr val="DC2626"/>
          </a:solidFill>
          <a:ln w="12700">
            <a:solidFill>
              <a:srgbClr val="DC2626"/>
            </a:solidFill>
            <a:prstDash val="solid"/>
          </a:ln>
        </p:spPr>
      </p:sp>
      <p:sp>
        <p:nvSpPr>
          <p:cNvPr id="13" name="Text 11"/>
          <p:cNvSpPr/>
          <p:nvPr/>
        </p:nvSpPr>
        <p:spPr>
          <a:xfrm>
            <a:off x="4754880" y="1463040"/>
            <a:ext cx="914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2025</a:t>
            </a:r>
            <a:endParaRPr lang="en-US" sz="1400" dirty="0"/>
          </a:p>
        </p:txBody>
      </p:sp>
      <p:sp>
        <p:nvSpPr>
          <p:cNvPr id="14" name="Shape 12"/>
          <p:cNvSpPr/>
          <p:nvPr/>
        </p:nvSpPr>
        <p:spPr>
          <a:xfrm>
            <a:off x="5715000" y="1463040"/>
            <a:ext cx="3108960" cy="502920"/>
          </a:xfrm>
          <a:prstGeom prst="rect">
            <a:avLst/>
          </a:prstGeom>
          <a:solidFill>
            <a:srgbClr val="F1F5F9"/>
          </a:solidFill>
          <a:ln w="12700">
            <a:solidFill>
              <a:srgbClr val="CBD5E1"/>
            </a:solidFill>
            <a:prstDash val="solid"/>
          </a:ln>
        </p:spPr>
      </p:sp>
      <p:sp>
        <p:nvSpPr>
          <p:cNvPr id="15" name="Text 13"/>
          <p:cNvSpPr/>
          <p:nvPr/>
        </p:nvSpPr>
        <p:spPr>
          <a:xfrm>
            <a:off x="5806440" y="1463040"/>
            <a:ext cx="292608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Large listed companies (500+ employees)</a:t>
            </a:r>
            <a:endParaRPr lang="en-US" sz="1000" dirty="0"/>
          </a:p>
        </p:txBody>
      </p:sp>
      <p:sp>
        <p:nvSpPr>
          <p:cNvPr id="16" name="Shape 14"/>
          <p:cNvSpPr/>
          <p:nvPr/>
        </p:nvSpPr>
        <p:spPr>
          <a:xfrm>
            <a:off x="4754880" y="2286000"/>
            <a:ext cx="914400" cy="502920"/>
          </a:xfrm>
          <a:prstGeom prst="rect">
            <a:avLst/>
          </a:prstGeom>
          <a:solidFill>
            <a:srgbClr val="D97706"/>
          </a:solidFill>
          <a:ln w="12700">
            <a:solidFill>
              <a:srgbClr val="D97706"/>
            </a:solidFill>
            <a:prstDash val="solid"/>
          </a:ln>
        </p:spPr>
      </p:sp>
      <p:sp>
        <p:nvSpPr>
          <p:cNvPr id="17" name="Text 15"/>
          <p:cNvSpPr/>
          <p:nvPr/>
        </p:nvSpPr>
        <p:spPr>
          <a:xfrm>
            <a:off x="4754880" y="2286000"/>
            <a:ext cx="914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2026</a:t>
            </a:r>
            <a:endParaRPr lang="en-US" sz="1400" dirty="0"/>
          </a:p>
        </p:txBody>
      </p:sp>
      <p:sp>
        <p:nvSpPr>
          <p:cNvPr id="18" name="Shape 16"/>
          <p:cNvSpPr/>
          <p:nvPr/>
        </p:nvSpPr>
        <p:spPr>
          <a:xfrm>
            <a:off x="5715000" y="2286000"/>
            <a:ext cx="3108960" cy="502920"/>
          </a:xfrm>
          <a:prstGeom prst="rect">
            <a:avLst/>
          </a:prstGeom>
          <a:solidFill>
            <a:srgbClr val="F1F5F9"/>
          </a:solidFill>
          <a:ln w="12700">
            <a:solidFill>
              <a:srgbClr val="CBD5E1"/>
            </a:solidFill>
            <a:prstDash val="solid"/>
          </a:ln>
        </p:spPr>
      </p:sp>
      <p:sp>
        <p:nvSpPr>
          <p:cNvPr id="19" name="Text 17"/>
          <p:cNvSpPr/>
          <p:nvPr/>
        </p:nvSpPr>
        <p:spPr>
          <a:xfrm>
            <a:off x="5806440" y="2286000"/>
            <a:ext cx="292608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All large EU companies (250+ employees)</a:t>
            </a:r>
            <a:endParaRPr lang="en-US" sz="1000" dirty="0"/>
          </a:p>
        </p:txBody>
      </p:sp>
      <p:sp>
        <p:nvSpPr>
          <p:cNvPr id="20" name="Shape 18"/>
          <p:cNvSpPr/>
          <p:nvPr/>
        </p:nvSpPr>
        <p:spPr>
          <a:xfrm>
            <a:off x="4754880" y="3108960"/>
            <a:ext cx="914400" cy="502920"/>
          </a:xfrm>
          <a:prstGeom prst="rect">
            <a:avLst/>
          </a:prstGeom>
          <a:solidFill>
            <a:srgbClr val="059669"/>
          </a:solidFill>
          <a:ln w="12700">
            <a:solidFill>
              <a:srgbClr val="059669"/>
            </a:solidFill>
            <a:prstDash val="solid"/>
          </a:ln>
        </p:spPr>
      </p:sp>
      <p:sp>
        <p:nvSpPr>
          <p:cNvPr id="21" name="Text 19"/>
          <p:cNvSpPr/>
          <p:nvPr/>
        </p:nvSpPr>
        <p:spPr>
          <a:xfrm>
            <a:off x="4754880" y="3108960"/>
            <a:ext cx="914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2027</a:t>
            </a:r>
            <a:endParaRPr lang="en-US" sz="1400" dirty="0"/>
          </a:p>
        </p:txBody>
      </p:sp>
      <p:sp>
        <p:nvSpPr>
          <p:cNvPr id="22" name="Shape 20"/>
          <p:cNvSpPr/>
          <p:nvPr/>
        </p:nvSpPr>
        <p:spPr>
          <a:xfrm>
            <a:off x="5715000" y="3108960"/>
            <a:ext cx="3108960" cy="502920"/>
          </a:xfrm>
          <a:prstGeom prst="rect">
            <a:avLst/>
          </a:prstGeom>
          <a:solidFill>
            <a:srgbClr val="F1F5F9"/>
          </a:solidFill>
          <a:ln w="12700">
            <a:solidFill>
              <a:srgbClr val="CBD5E1"/>
            </a:solidFill>
            <a:prstDash val="solid"/>
          </a:ln>
        </p:spPr>
      </p:sp>
      <p:sp>
        <p:nvSpPr>
          <p:cNvPr id="23" name="Text 21"/>
          <p:cNvSpPr/>
          <p:nvPr/>
        </p:nvSpPr>
        <p:spPr>
          <a:xfrm>
            <a:off x="5806440" y="3108960"/>
            <a:ext cx="292608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Listed SMEs, non-EU companies with EU revenue</a:t>
            </a:r>
            <a:endParaRPr lang="en-US" sz="1000" dirty="0"/>
          </a:p>
        </p:txBody>
      </p:sp>
      <p:sp>
        <p:nvSpPr>
          <p:cNvPr id="24" name="Shape 22"/>
          <p:cNvSpPr/>
          <p:nvPr/>
        </p:nvSpPr>
        <p:spPr>
          <a:xfrm>
            <a:off x="4754880" y="3931920"/>
            <a:ext cx="914400" cy="502920"/>
          </a:xfrm>
          <a:prstGeom prst="rect">
            <a:avLst/>
          </a:prstGeom>
          <a:solidFill>
            <a:srgbClr val="0891B2"/>
          </a:solidFill>
          <a:ln w="12700">
            <a:solidFill>
              <a:srgbClr val="0891B2"/>
            </a:solidFill>
            <a:prstDash val="solid"/>
          </a:ln>
        </p:spPr>
      </p:sp>
      <p:sp>
        <p:nvSpPr>
          <p:cNvPr id="25" name="Text 23"/>
          <p:cNvSpPr/>
          <p:nvPr/>
        </p:nvSpPr>
        <p:spPr>
          <a:xfrm>
            <a:off x="4754880" y="3931920"/>
            <a:ext cx="914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2028</a:t>
            </a:r>
            <a:endParaRPr lang="en-US" sz="1400" dirty="0"/>
          </a:p>
        </p:txBody>
      </p:sp>
      <p:sp>
        <p:nvSpPr>
          <p:cNvPr id="26" name="Shape 24"/>
          <p:cNvSpPr/>
          <p:nvPr/>
        </p:nvSpPr>
        <p:spPr>
          <a:xfrm>
            <a:off x="5715000" y="3931920"/>
            <a:ext cx="3108960" cy="502920"/>
          </a:xfrm>
          <a:prstGeom prst="rect">
            <a:avLst/>
          </a:prstGeom>
          <a:solidFill>
            <a:srgbClr val="F1F5F9"/>
          </a:solidFill>
          <a:ln w="12700">
            <a:solidFill>
              <a:srgbClr val="CBD5E1"/>
            </a:solidFill>
            <a:prstDash val="solid"/>
          </a:ln>
        </p:spPr>
      </p:sp>
      <p:sp>
        <p:nvSpPr>
          <p:cNvPr id="27" name="Text 25"/>
          <p:cNvSpPr/>
          <p:nvPr/>
        </p:nvSpPr>
        <p:spPr>
          <a:xfrm>
            <a:off x="5806440" y="3931920"/>
            <a:ext cx="292608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Non-EU companies with EU subsidiaries/branches</a:t>
            </a:r>
            <a:endParaRPr lang="en-US" sz="1000" dirty="0"/>
          </a:p>
        </p:txBody>
      </p:sp>
      <p:sp>
        <p:nvSpPr>
          <p:cNvPr id="28" name="Text 26"/>
          <p:cNvSpPr/>
          <p:nvPr/>
        </p:nvSpPr>
        <p:spPr>
          <a:xfrm>
            <a:off x="4754880" y="4754880"/>
            <a:ext cx="4023360" cy="274320"/>
          </a:xfrm>
          <a:prstGeom prst="rect">
            <a:avLst/>
          </a:prstGeom>
          <a:noFill/>
          <a:ln/>
        </p:spPr>
        <p:txBody>
          <a:bodyPr wrap="square" lIns="0" tIns="0" rIns="0" bIns="0" rtlCol="0" anchor="ctr"/>
          <a:lstStyle/>
          <a:p>
            <a:pPr indent="0" marL="0">
              <a:buNone/>
            </a:pPr>
            <a:r>
              <a:rPr lang="en-US" sz="1000" i="1" dirty="0">
                <a:solidFill>
                  <a:srgbClr val="059669"/>
                </a:solidFill>
                <a:latin typeface="Calibri" pitchFamily="34" charset="0"/>
                <a:ea typeface="Calibri" pitchFamily="34" charset="-122"/>
                <a:cs typeface="Calibri" pitchFamily="34" charset="-120"/>
              </a:rPr>
              <a:t>Window is open now — and growing each year.</a:t>
            </a:r>
            <a:endParaRPr lang="en-US" sz="1000" dirty="0"/>
          </a:p>
        </p:txBody>
      </p:sp>
      <p:sp>
        <p:nvSpPr>
          <p:cNvPr id="29" name="Text 27"/>
          <p:cNvSpPr/>
          <p:nvPr/>
        </p:nvSpPr>
        <p:spPr>
          <a:xfrm>
            <a:off x="8046720" y="4937760"/>
            <a:ext cx="9144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climrisk.io</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Clim</a:t>
            </a:r>
            <a:pPr indent="0" marL="0">
              <a:buNone/>
            </a:pPr>
            <a:r>
              <a:rPr lang="en-US" sz="2200" b="1" dirty="0">
                <a:solidFill>
                  <a:srgbClr val="059669"/>
                </a:solidFill>
                <a:latin typeface="Georgia" pitchFamily="34" charset="0"/>
                <a:ea typeface="Georgia" pitchFamily="34" charset="-122"/>
                <a:cs typeface="Georgia" pitchFamily="34" charset="-120"/>
              </a:rPr>
              <a:t>Risk</a:t>
            </a:r>
            <a:pPr indent="0" marL="0">
              <a:buNone/>
            </a:pPr>
            <a:r>
              <a:rPr lang="en-US" sz="2200" dirty="0">
                <a:solidFill>
                  <a:srgbClr val="94A3B8"/>
                </a:solidFill>
                <a:latin typeface="Georgia" pitchFamily="34" charset="0"/>
                <a:ea typeface="Georgia" pitchFamily="34" charset="-122"/>
                <a:cs typeface="Georgia" pitchFamily="34" charset="-120"/>
              </a:rPr>
              <a:t xml:space="preserve">  CRI Engine</a:t>
            </a:r>
            <a:endParaRPr lang="en-US" sz="2200" dirty="0"/>
          </a:p>
        </p:txBody>
      </p:sp>
      <p:sp>
        <p:nvSpPr>
          <p:cNvPr id="3" name="Text 1"/>
          <p:cNvSpPr/>
          <p:nvPr/>
        </p:nvSpPr>
        <p:spPr>
          <a:xfrm>
            <a:off x="457200" y="749808"/>
            <a:ext cx="8229600" cy="36576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Physical and transition risk modelled to a CRI Score. Every asset gets a score and an action plan.</a:t>
            </a:r>
            <a:endParaRPr lang="en-US" sz="1300" dirty="0"/>
          </a:p>
        </p:txBody>
      </p:sp>
      <p:sp>
        <p:nvSpPr>
          <p:cNvPr id="4" name="Shape 2"/>
          <p:cNvSpPr/>
          <p:nvPr/>
        </p:nvSpPr>
        <p:spPr>
          <a:xfrm>
            <a:off x="274320" y="1234440"/>
            <a:ext cx="2743200" cy="365760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234440"/>
            <a:ext cx="2743200" cy="54864"/>
          </a:xfrm>
          <a:prstGeom prst="rect">
            <a:avLst/>
          </a:prstGeom>
          <a:solidFill>
            <a:srgbClr val="059669"/>
          </a:solidFill>
          <a:ln w="12700">
            <a:solidFill>
              <a:srgbClr val="059669"/>
            </a:solidFill>
            <a:prstDash val="solid"/>
          </a:ln>
        </p:spPr>
      </p:sp>
      <p:sp>
        <p:nvSpPr>
          <p:cNvPr id="6" name="Text 4"/>
          <p:cNvSpPr/>
          <p:nvPr/>
        </p:nvSpPr>
        <p:spPr>
          <a:xfrm>
            <a:off x="411480" y="1325880"/>
            <a:ext cx="594360" cy="502920"/>
          </a:xfrm>
          <a:prstGeom prst="rect">
            <a:avLst/>
          </a:prstGeom>
          <a:noFill/>
          <a:ln/>
        </p:spPr>
        <p:txBody>
          <a:bodyPr wrap="square" lIns="0" tIns="0" rIns="0" bIns="0" rtlCol="0" anchor="ctr"/>
          <a:lstStyle/>
          <a:p>
            <a:pPr indent="0" marL="0">
              <a:buNone/>
            </a:pPr>
            <a:r>
              <a:rPr lang="en-US" sz="2800" b="1" dirty="0">
                <a:solidFill>
                  <a:srgbClr val="059669"/>
                </a:solidFill>
                <a:latin typeface="Georgia" pitchFamily="34" charset="0"/>
                <a:ea typeface="Georgia" pitchFamily="34" charset="-122"/>
                <a:cs typeface="Georgia" pitchFamily="34" charset="-120"/>
              </a:rPr>
              <a:t>01</a:t>
            </a:r>
            <a:endParaRPr lang="en-US" sz="2800" dirty="0"/>
          </a:p>
        </p:txBody>
      </p:sp>
      <p:sp>
        <p:nvSpPr>
          <p:cNvPr id="7" name="Text 5"/>
          <p:cNvSpPr/>
          <p:nvPr/>
        </p:nvSpPr>
        <p:spPr>
          <a:xfrm>
            <a:off x="411480" y="1828800"/>
            <a:ext cx="2468880" cy="38404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Physical Risk</a:t>
            </a:r>
            <a:endParaRPr lang="en-US" sz="1500" dirty="0"/>
          </a:p>
        </p:txBody>
      </p:sp>
      <p:sp>
        <p:nvSpPr>
          <p:cNvPr id="8" name="Text 6"/>
          <p:cNvSpPr/>
          <p:nvPr/>
        </p:nvSpPr>
        <p:spPr>
          <a:xfrm>
            <a:off x="411480" y="2194560"/>
            <a:ext cx="2468880" cy="274320"/>
          </a:xfrm>
          <a:prstGeom prst="rect">
            <a:avLst/>
          </a:prstGeom>
          <a:noFill/>
          <a:ln/>
        </p:spPr>
        <p:txBody>
          <a:bodyPr wrap="square" lIns="0" tIns="0" rIns="0" bIns="0"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Capital-at-Risk in USD</a:t>
            </a:r>
            <a:endParaRPr lang="en-US" sz="1000" dirty="0"/>
          </a:p>
        </p:txBody>
      </p:sp>
      <p:sp>
        <p:nvSpPr>
          <p:cNvPr id="9" name="Text 7"/>
          <p:cNvSpPr/>
          <p:nvPr/>
        </p:nvSpPr>
        <p:spPr>
          <a:xfrm>
            <a:off x="411480" y="2514600"/>
            <a:ext cx="2468880" cy="21945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10 hazard types: flood, heat, cyclone, drought, wildfire, sea level rise and more</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IPCC AR6 warming amplification per SSP scenario and year</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16 sector-specific multipliers — a brewery and a cement plant get different scores in the same location</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GPS-resolved to 25km grid, asset by asset</a:t>
            </a:r>
            <a:endParaRPr lang="en-US" sz="950" dirty="0"/>
          </a:p>
        </p:txBody>
      </p:sp>
      <p:sp>
        <p:nvSpPr>
          <p:cNvPr id="10" name="Shape 8"/>
          <p:cNvSpPr/>
          <p:nvPr/>
        </p:nvSpPr>
        <p:spPr>
          <a:xfrm>
            <a:off x="3200400" y="1234440"/>
            <a:ext cx="2743200" cy="365760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00400" y="1234440"/>
            <a:ext cx="2743200" cy="54864"/>
          </a:xfrm>
          <a:prstGeom prst="rect">
            <a:avLst/>
          </a:prstGeom>
          <a:solidFill>
            <a:srgbClr val="059669"/>
          </a:solidFill>
          <a:ln w="12700">
            <a:solidFill>
              <a:srgbClr val="059669"/>
            </a:solidFill>
            <a:prstDash val="solid"/>
          </a:ln>
        </p:spPr>
      </p:sp>
      <p:sp>
        <p:nvSpPr>
          <p:cNvPr id="12" name="Text 10"/>
          <p:cNvSpPr/>
          <p:nvPr/>
        </p:nvSpPr>
        <p:spPr>
          <a:xfrm>
            <a:off x="3337560" y="1325880"/>
            <a:ext cx="594360" cy="502920"/>
          </a:xfrm>
          <a:prstGeom prst="rect">
            <a:avLst/>
          </a:prstGeom>
          <a:noFill/>
          <a:ln/>
        </p:spPr>
        <p:txBody>
          <a:bodyPr wrap="square" lIns="0" tIns="0" rIns="0" bIns="0" rtlCol="0" anchor="ctr"/>
          <a:lstStyle/>
          <a:p>
            <a:pPr indent="0" marL="0">
              <a:buNone/>
            </a:pPr>
            <a:r>
              <a:rPr lang="en-US" sz="2800" b="1" dirty="0">
                <a:solidFill>
                  <a:srgbClr val="059669"/>
                </a:solidFill>
                <a:latin typeface="Georgia" pitchFamily="34" charset="0"/>
                <a:ea typeface="Georgia" pitchFamily="34" charset="-122"/>
                <a:cs typeface="Georgia" pitchFamily="34" charset="-120"/>
              </a:rPr>
              <a:t>02</a:t>
            </a:r>
            <a:endParaRPr lang="en-US" sz="2800" dirty="0"/>
          </a:p>
        </p:txBody>
      </p:sp>
      <p:sp>
        <p:nvSpPr>
          <p:cNvPr id="13" name="Text 11"/>
          <p:cNvSpPr/>
          <p:nvPr/>
        </p:nvSpPr>
        <p:spPr>
          <a:xfrm>
            <a:off x="3337560" y="1828800"/>
            <a:ext cx="2468880" cy="38404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Transition Risk</a:t>
            </a:r>
            <a:endParaRPr lang="en-US" sz="1500" dirty="0"/>
          </a:p>
        </p:txBody>
      </p:sp>
      <p:sp>
        <p:nvSpPr>
          <p:cNvPr id="14" name="Text 12"/>
          <p:cNvSpPr/>
          <p:nvPr/>
        </p:nvSpPr>
        <p:spPr>
          <a:xfrm>
            <a:off x="3337560" y="2194560"/>
            <a:ext cx="2468880" cy="274320"/>
          </a:xfrm>
          <a:prstGeom prst="rect">
            <a:avLst/>
          </a:prstGeom>
          <a:noFill/>
          <a:ln/>
        </p:spPr>
        <p:txBody>
          <a:bodyPr wrap="square" lIns="0" tIns="0" rIns="0" bIns="0"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EBITDA and Enterprise Value impact</a:t>
            </a:r>
            <a:endParaRPr lang="en-US" sz="1000" dirty="0"/>
          </a:p>
        </p:txBody>
      </p:sp>
      <p:sp>
        <p:nvSpPr>
          <p:cNvPr id="15" name="Text 13"/>
          <p:cNvSpPr/>
          <p:nvPr/>
        </p:nvSpPr>
        <p:spPr>
          <a:xfrm>
            <a:off x="3337560" y="2514600"/>
            <a:ext cx="2468880" cy="21945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Scope 1/2/3 emissions mapped to NGFS Phase 4 carbon price pathways</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Net Zero 2050, Delayed Transition, Current Policies</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DCF model: carbon cost reducing EBITDA each year 2026 to 2050</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Climate-adjusted WACC premium by sector</a:t>
            </a:r>
            <a:endParaRPr lang="en-US" sz="950" dirty="0"/>
          </a:p>
        </p:txBody>
      </p:sp>
      <p:sp>
        <p:nvSpPr>
          <p:cNvPr id="16" name="Shape 14"/>
          <p:cNvSpPr/>
          <p:nvPr/>
        </p:nvSpPr>
        <p:spPr>
          <a:xfrm>
            <a:off x="6126480" y="1234440"/>
            <a:ext cx="2743200" cy="365760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6126480" y="1234440"/>
            <a:ext cx="2743200" cy="54864"/>
          </a:xfrm>
          <a:prstGeom prst="rect">
            <a:avLst/>
          </a:prstGeom>
          <a:solidFill>
            <a:srgbClr val="059669"/>
          </a:solidFill>
          <a:ln w="12700">
            <a:solidFill>
              <a:srgbClr val="059669"/>
            </a:solidFill>
            <a:prstDash val="solid"/>
          </a:ln>
        </p:spPr>
      </p:sp>
      <p:sp>
        <p:nvSpPr>
          <p:cNvPr id="18" name="Text 16"/>
          <p:cNvSpPr/>
          <p:nvPr/>
        </p:nvSpPr>
        <p:spPr>
          <a:xfrm>
            <a:off x="6263640" y="1325880"/>
            <a:ext cx="594360" cy="502920"/>
          </a:xfrm>
          <a:prstGeom prst="rect">
            <a:avLst/>
          </a:prstGeom>
          <a:noFill/>
          <a:ln/>
        </p:spPr>
        <p:txBody>
          <a:bodyPr wrap="square" lIns="0" tIns="0" rIns="0" bIns="0" rtlCol="0" anchor="ctr"/>
          <a:lstStyle/>
          <a:p>
            <a:pPr indent="0" marL="0">
              <a:buNone/>
            </a:pPr>
            <a:r>
              <a:rPr lang="en-US" sz="2800" b="1" dirty="0">
                <a:solidFill>
                  <a:srgbClr val="059669"/>
                </a:solidFill>
                <a:latin typeface="Georgia" pitchFamily="34" charset="0"/>
                <a:ea typeface="Georgia" pitchFamily="34" charset="-122"/>
                <a:cs typeface="Georgia" pitchFamily="34" charset="-120"/>
              </a:rPr>
              <a:t>03</a:t>
            </a:r>
            <a:endParaRPr lang="en-US" sz="2800" dirty="0"/>
          </a:p>
        </p:txBody>
      </p:sp>
      <p:sp>
        <p:nvSpPr>
          <p:cNvPr id="19" name="Text 17"/>
          <p:cNvSpPr/>
          <p:nvPr/>
        </p:nvSpPr>
        <p:spPr>
          <a:xfrm>
            <a:off x="6263640" y="1828800"/>
            <a:ext cx="2468880" cy="38404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CRI Score and Actions</a:t>
            </a:r>
            <a:endParaRPr lang="en-US" sz="1500" dirty="0"/>
          </a:p>
        </p:txBody>
      </p:sp>
      <p:sp>
        <p:nvSpPr>
          <p:cNvPr id="20" name="Text 18"/>
          <p:cNvSpPr/>
          <p:nvPr/>
        </p:nvSpPr>
        <p:spPr>
          <a:xfrm>
            <a:off x="6263640" y="2194560"/>
            <a:ext cx="2468880" cy="274320"/>
          </a:xfrm>
          <a:prstGeom prst="rect">
            <a:avLst/>
          </a:prstGeom>
          <a:noFill/>
          <a:ln/>
        </p:spPr>
        <p:txBody>
          <a:bodyPr wrap="square" lIns="0" tIns="0" rIns="0" bIns="0" rtlCol="0" anchor="ctr"/>
          <a:lstStyle/>
          <a:p>
            <a:pPr indent="0" marL="0">
              <a:buNone/>
            </a:pPr>
            <a:r>
              <a:rPr lang="en-US" sz="1000" i="1" dirty="0">
                <a:solidFill>
                  <a:srgbClr val="10B981"/>
                </a:solidFill>
                <a:latin typeface="Calibri" pitchFamily="34" charset="0"/>
                <a:ea typeface="Calibri" pitchFamily="34" charset="-122"/>
                <a:cs typeface="Calibri" pitchFamily="34" charset="-120"/>
              </a:rPr>
              <a:t>Scored. Prioritised. Actionable.</a:t>
            </a:r>
            <a:endParaRPr lang="en-US" sz="1000" dirty="0"/>
          </a:p>
        </p:txBody>
      </p:sp>
      <p:sp>
        <p:nvSpPr>
          <p:cNvPr id="21" name="Text 19"/>
          <p:cNvSpPr/>
          <p:nvPr/>
        </p:nvSpPr>
        <p:spPr>
          <a:xfrm>
            <a:off x="6263640" y="2514600"/>
            <a:ext cx="2468880" cy="21945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CRI Score 0 to 100: Exposure (35%), Vulnerability (30%), Adaptive Capacity (25%), Financial Multiplier (10%)</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Score breakdown shows which pillar is driving risk at each asset</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Per-asset action plan: what to harden, insure, or redirect capital from to prevent loss</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Actions ranked by financial exposure, not just hazard frequency</a:t>
            </a:r>
            <a:endParaRPr lang="en-US" sz="950" dirty="0"/>
          </a:p>
          <a:p>
            <a:pPr marL="342900" indent="-342900">
              <a:spcAft>
                <a:spcPts val="400"/>
              </a:spcAft>
              <a:buSzPct val="100000"/>
              <a:buChar char="•"/>
            </a:pPr>
            <a:r>
              <a:rPr lang="en-US" sz="950" dirty="0">
                <a:solidFill>
                  <a:srgbClr val="CBD5E1"/>
                </a:solidFill>
                <a:latin typeface="Calibri" pitchFamily="34" charset="0"/>
                <a:ea typeface="Calibri" pitchFamily="34" charset="-122"/>
                <a:cs typeface="Calibri" pitchFamily="34" charset="-120"/>
              </a:rPr>
              <a:t>Regulatory disclosure (TCFD, IFRS S2, CSRD) generated from the same scored dataset</a:t>
            </a:r>
            <a:endParaRPr lang="en-US" sz="950" dirty="0"/>
          </a:p>
        </p:txBody>
      </p:sp>
      <p:sp>
        <p:nvSpPr>
          <p:cNvPr id="22" name="Text 20"/>
          <p:cNvSpPr/>
          <p:nvPr/>
        </p:nvSpPr>
        <p:spPr>
          <a:xfrm>
            <a:off x="8046720" y="4937760"/>
            <a:ext cx="914400" cy="182880"/>
          </a:xfrm>
          <a:prstGeom prst="rect">
            <a:avLst/>
          </a:prstGeom>
          <a:noFill/>
          <a:ln/>
        </p:spPr>
        <p:txBody>
          <a:bodyPr wrap="square" rtlCol="0" anchor="ctr"/>
          <a:lstStyle/>
          <a:p>
            <a:pPr indent="0" marL="0">
              <a:buNone/>
            </a:pPr>
            <a:r>
              <a:rPr lang="en-US" sz="700" dirty="0">
                <a:solidFill>
                  <a:srgbClr val="475569"/>
                </a:solidFill>
                <a:latin typeface="Calibri" pitchFamily="34" charset="0"/>
                <a:ea typeface="Calibri" pitchFamily="34" charset="-122"/>
                <a:cs typeface="Calibri" pitchFamily="34" charset="-120"/>
              </a:rPr>
              <a:t>climrisk.io</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628"/>
          </a:solidFill>
          <a:ln w="12700">
            <a:solidFill>
              <a:srgbClr val="0B1628"/>
            </a:solidFill>
            <a:prstDash val="solid"/>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KEY DIFFERENTIATOR</a:t>
            </a:r>
            <a:endParaRPr lang="en-US" sz="1100" dirty="0"/>
          </a:p>
        </p:txBody>
      </p:sp>
      <p:sp>
        <p:nvSpPr>
          <p:cNvPr id="4" name="Text 2"/>
          <p:cNvSpPr/>
          <p:nvPr/>
        </p:nvSpPr>
        <p:spPr>
          <a:xfrm>
            <a:off x="457200" y="868680"/>
            <a:ext cx="822960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Sector-specific hazard intelligence. Same location, completely different risk.</a:t>
            </a:r>
            <a:endParaRPr lang="en-US" sz="1800" dirty="0"/>
          </a:p>
        </p:txBody>
      </p:sp>
      <p:sp>
        <p:nvSpPr>
          <p:cNvPr id="5" name="Text 3"/>
          <p:cNvSpPr/>
          <p:nvPr/>
        </p:nvSpPr>
        <p:spPr>
          <a:xfrm>
            <a:off x="365760" y="1463040"/>
            <a:ext cx="4114800" cy="320040"/>
          </a:xfrm>
          <a:prstGeom prst="rect">
            <a:avLst/>
          </a:prstGeom>
          <a:noFill/>
          <a:ln/>
        </p:spPr>
        <p:txBody>
          <a:bodyPr wrap="square" lIns="0" tIns="0" rIns="0" bIns="0" rtlCol="0" anchor="ctr"/>
          <a:lstStyle/>
          <a:p>
            <a:pPr indent="0" marL="0">
              <a:buNone/>
            </a:pPr>
            <a:r>
              <a:rPr lang="en-US" sz="1200" b="1" dirty="0">
                <a:solidFill>
                  <a:srgbClr val="0B1628"/>
                </a:solidFill>
                <a:latin typeface="Georgia" pitchFamily="34" charset="0"/>
                <a:ea typeface="Georgia" pitchFamily="34" charset="-122"/>
                <a:cs typeface="Georgia" pitchFamily="34" charset="-120"/>
              </a:rPr>
              <a:t>Water Stress Score — Same GPS Coordinates</a:t>
            </a:r>
            <a:endParaRPr lang="en-US" sz="1200" dirty="0"/>
          </a:p>
        </p:txBody>
      </p:sp>
      <p:graphicFrame>
        <p:nvGraphicFramePr>
          <p:cNvPr id="6" name="Chart 0" descr=""/>
          <p:cNvGraphicFramePr/>
          <p:nvPr/>
        </p:nvGraphicFramePr>
        <p:xfrm>
          <a:off x="274320" y="182880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754880" y="1463040"/>
            <a:ext cx="4114800" cy="320040"/>
          </a:xfrm>
          <a:prstGeom prst="rect">
            <a:avLst/>
          </a:prstGeom>
          <a:noFill/>
          <a:ln/>
        </p:spPr>
        <p:txBody>
          <a:bodyPr wrap="square" lIns="0" tIns="0" rIns="0" bIns="0" rtlCol="0" anchor="ctr"/>
          <a:lstStyle/>
          <a:p>
            <a:pPr indent="0" marL="0">
              <a:buNone/>
            </a:pPr>
            <a:r>
              <a:rPr lang="en-US" sz="1200" b="1" dirty="0">
                <a:solidFill>
                  <a:srgbClr val="0B1628"/>
                </a:solidFill>
                <a:latin typeface="Georgia" pitchFamily="34" charset="0"/>
                <a:ea typeface="Georgia" pitchFamily="34" charset="-122"/>
                <a:cs typeface="Georgia" pitchFamily="34" charset="-120"/>
              </a:rPr>
              <a:t>Why the scores differ — sector multipliers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63440" y="1874520"/>
          <a:ext cx="4206240" cy="2743200"/>
        </p:xfrm>
        <a:graphic>
          <a:graphicData uri="http://schemas.openxmlformats.org/drawingml/2006/table">
            <a:tbl>
              <a:tblPr/>
              <a:tblGrid>
                <a:gridCol w="1463040"/>
                <a:gridCol w="1005840"/>
                <a:gridCol w="1737360"/>
              </a:tblGrid>
              <a:tr h="347472">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Sector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628"/>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Water Stress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628"/>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628"/>
                    </a:solidFill>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Food &amp; Beverage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3–7 L water per L product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Steel &amp; Metals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95 L per tonne of crude steel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Cement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Kilns recycle process water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Energy / Utilities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40–50 L per kWh for cooling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Real Estate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Indirect — insurance/value erosion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Agriculture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000000"/>
                          </a:solidFill>
                          <a:latin typeface="Calibri" pitchFamily="34" charset="0"/>
                          <a:ea typeface="Calibri" pitchFamily="34" charset="-122"/>
                          <a:cs typeface="Calibri" pitchFamily="34" charset="-120"/>
                        </a:rPr>
                        <a:t>Direct crop yield dependency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9" name="Text 5"/>
          <p:cNvSpPr/>
          <p:nvPr/>
        </p:nvSpPr>
        <p:spPr>
          <a:xfrm>
            <a:off x="365760" y="4663440"/>
            <a:ext cx="8412480" cy="274320"/>
          </a:xfrm>
          <a:prstGeom prst="rect">
            <a:avLst/>
          </a:prstGeom>
          <a:noFill/>
          <a:ln/>
        </p:spPr>
        <p:txBody>
          <a:bodyPr wrap="square" lIns="0" tIns="0" rIns="0" bIns="0"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16 sectors profiled. Every multiplier sourced from CDP, WRI, IEA or sector industry body publications.</a:t>
            </a:r>
            <a:endParaRPr lang="en-US" sz="900" dirty="0"/>
          </a:p>
        </p:txBody>
      </p:sp>
      <p:sp>
        <p:nvSpPr>
          <p:cNvPr id="10" name="Text 6"/>
          <p:cNvSpPr/>
          <p:nvPr/>
        </p:nvSpPr>
        <p:spPr>
          <a:xfrm>
            <a:off x="8046720" y="4937760"/>
            <a:ext cx="9144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climrisk.io</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628"/>
          </a:solidFill>
          <a:ln w="12700">
            <a:solidFill>
              <a:srgbClr val="0B1628"/>
            </a:solidFill>
            <a:prstDash val="solid"/>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BUSINESS MODEL</a:t>
            </a:r>
            <a:endParaRPr lang="en-US" sz="1100" dirty="0"/>
          </a:p>
        </p:txBody>
      </p:sp>
      <p:sp>
        <p:nvSpPr>
          <p:cNvPr id="4" name="Shape 2"/>
          <p:cNvSpPr/>
          <p:nvPr/>
        </p:nvSpPr>
        <p:spPr>
          <a:xfrm>
            <a:off x="320040" y="1005840"/>
            <a:ext cx="2697480" cy="3474720"/>
          </a:xfrm>
          <a:prstGeom prst="rect">
            <a:avLst/>
          </a:prstGeom>
          <a:solidFill>
            <a:srgbClr val="0B1628"/>
          </a:solidFill>
          <a:ln w="12700">
            <a:solidFill>
              <a:srgbClr val="0B1628"/>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457200" y="1097280"/>
            <a:ext cx="2423160" cy="256032"/>
          </a:xfrm>
          <a:prstGeom prst="rect">
            <a:avLst/>
          </a:prstGeom>
          <a:noFill/>
          <a:ln/>
        </p:spPr>
        <p:txBody>
          <a:bodyPr wrap="square" lIns="0" tIns="0" rIns="0" bIns="0" rtlCol="0" anchor="ctr"/>
          <a:lstStyle/>
          <a:p>
            <a:pPr indent="0" marL="0">
              <a:buNone/>
            </a:pPr>
            <a:r>
              <a:rPr lang="en-US" sz="850" b="1" spc="200" kern="0" dirty="0">
                <a:solidFill>
                  <a:srgbClr val="10B981"/>
                </a:solidFill>
                <a:latin typeface="Calibri" pitchFamily="34" charset="0"/>
                <a:ea typeface="Calibri" pitchFamily="34" charset="-122"/>
                <a:cs typeface="Calibri" pitchFamily="34" charset="-120"/>
              </a:rPr>
              <a:t>RECURRING</a:t>
            </a:r>
            <a:endParaRPr lang="en-US" sz="850" dirty="0"/>
          </a:p>
        </p:txBody>
      </p:sp>
      <p:sp>
        <p:nvSpPr>
          <p:cNvPr id="6" name="Text 4"/>
          <p:cNvSpPr/>
          <p:nvPr/>
        </p:nvSpPr>
        <p:spPr>
          <a:xfrm>
            <a:off x="457200" y="1353312"/>
            <a:ext cx="242316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SaaS Platform</a:t>
            </a:r>
            <a:endParaRPr lang="en-US" sz="1700" dirty="0"/>
          </a:p>
        </p:txBody>
      </p:sp>
      <p:sp>
        <p:nvSpPr>
          <p:cNvPr id="7" name="Text 5"/>
          <p:cNvSpPr/>
          <p:nvPr/>
        </p:nvSpPr>
        <p:spPr>
          <a:xfrm>
            <a:off x="457200" y="1901952"/>
            <a:ext cx="2423160" cy="384048"/>
          </a:xfrm>
          <a:prstGeom prst="rect">
            <a:avLst/>
          </a:prstGeom>
          <a:noFill/>
          <a:ln/>
        </p:spPr>
        <p:txBody>
          <a:bodyPr wrap="square" lIns="0" tIns="0" rIns="0" bIns="0" rtlCol="0" anchor="ctr"/>
          <a:lstStyle/>
          <a:p>
            <a:pPr indent="0" marL="0">
              <a:buNone/>
            </a:pPr>
            <a:r>
              <a:rPr lang="en-US" sz="2000" b="1" dirty="0">
                <a:solidFill>
                  <a:srgbClr val="10B981"/>
                </a:solidFill>
                <a:latin typeface="Georgia" pitchFamily="34" charset="0"/>
                <a:ea typeface="Georgia" pitchFamily="34" charset="-122"/>
                <a:cs typeface="Georgia" pitchFamily="34" charset="-120"/>
              </a:rPr>
              <a:t>€500–€2,000/mo</a:t>
            </a:r>
            <a:endParaRPr lang="en-US" sz="2000" dirty="0"/>
          </a:p>
        </p:txBody>
      </p:sp>
      <p:sp>
        <p:nvSpPr>
          <p:cNvPr id="8" name="Shape 6"/>
          <p:cNvSpPr/>
          <p:nvPr/>
        </p:nvSpPr>
        <p:spPr>
          <a:xfrm>
            <a:off x="457200" y="2331720"/>
            <a:ext cx="2423160" cy="0"/>
          </a:xfrm>
          <a:prstGeom prst="line">
            <a:avLst/>
          </a:prstGeom>
          <a:noFill/>
          <a:ln w="12700">
            <a:solidFill>
              <a:srgbClr val="1E3A5F"/>
            </a:solidFill>
            <a:prstDash val="solid"/>
          </a:ln>
        </p:spPr>
      </p:sp>
      <p:sp>
        <p:nvSpPr>
          <p:cNvPr id="9" name="Text 7"/>
          <p:cNvSpPr/>
          <p:nvPr/>
        </p:nvSpPr>
        <p:spPr>
          <a:xfrm>
            <a:off x="457200" y="2423160"/>
            <a:ext cx="2423160" cy="192024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Sustainability consultancies and asset managers running multiple assessments per month. Seat-based, with usage tier above a threshold. Highest LTV segment.</a:t>
            </a:r>
            <a:endParaRPr lang="en-US" sz="1000" dirty="0"/>
          </a:p>
        </p:txBody>
      </p:sp>
      <p:sp>
        <p:nvSpPr>
          <p:cNvPr id="10" name="Shape 8"/>
          <p:cNvSpPr/>
          <p:nvPr/>
        </p:nvSpPr>
        <p:spPr>
          <a:xfrm>
            <a:off x="3200400" y="1005840"/>
            <a:ext cx="2697480" cy="3474720"/>
          </a:xfrm>
          <a:prstGeom prst="rect">
            <a:avLst/>
          </a:prstGeom>
          <a:solidFill>
            <a:srgbClr val="0C4A6E"/>
          </a:solidFill>
          <a:ln w="12700">
            <a:solidFill>
              <a:srgbClr val="0C4A6E"/>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337560" y="1097280"/>
            <a:ext cx="2423160" cy="256032"/>
          </a:xfrm>
          <a:prstGeom prst="rect">
            <a:avLst/>
          </a:prstGeom>
          <a:noFill/>
          <a:ln/>
        </p:spPr>
        <p:txBody>
          <a:bodyPr wrap="square" lIns="0" tIns="0" rIns="0" bIns="0" rtlCol="0" anchor="ctr"/>
          <a:lstStyle/>
          <a:p>
            <a:pPr indent="0" marL="0">
              <a:buNone/>
            </a:pPr>
            <a:r>
              <a:rPr lang="en-US" sz="850" b="1" spc="200" kern="0" dirty="0">
                <a:solidFill>
                  <a:srgbClr val="10B981"/>
                </a:solidFill>
                <a:latin typeface="Calibri" pitchFamily="34" charset="0"/>
                <a:ea typeface="Calibri" pitchFamily="34" charset="-122"/>
                <a:cs typeface="Calibri" pitchFamily="34" charset="-120"/>
              </a:rPr>
              <a:t>TRANSACTIONAL</a:t>
            </a:r>
            <a:endParaRPr lang="en-US" sz="850" dirty="0"/>
          </a:p>
        </p:txBody>
      </p:sp>
      <p:sp>
        <p:nvSpPr>
          <p:cNvPr id="12" name="Text 10"/>
          <p:cNvSpPr/>
          <p:nvPr/>
        </p:nvSpPr>
        <p:spPr>
          <a:xfrm>
            <a:off x="3337560" y="1353312"/>
            <a:ext cx="242316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Per-Report Licensing</a:t>
            </a:r>
            <a:endParaRPr lang="en-US" sz="1700" dirty="0"/>
          </a:p>
        </p:txBody>
      </p:sp>
      <p:sp>
        <p:nvSpPr>
          <p:cNvPr id="13" name="Text 11"/>
          <p:cNvSpPr/>
          <p:nvPr/>
        </p:nvSpPr>
        <p:spPr>
          <a:xfrm>
            <a:off x="3337560" y="1901952"/>
            <a:ext cx="2423160" cy="384048"/>
          </a:xfrm>
          <a:prstGeom prst="rect">
            <a:avLst/>
          </a:prstGeom>
          <a:noFill/>
          <a:ln/>
        </p:spPr>
        <p:txBody>
          <a:bodyPr wrap="square" lIns="0" tIns="0" rIns="0" bIns="0" rtlCol="0" anchor="ctr"/>
          <a:lstStyle/>
          <a:p>
            <a:pPr indent="0" marL="0">
              <a:buNone/>
            </a:pPr>
            <a:r>
              <a:rPr lang="en-US" sz="2000" b="1" dirty="0">
                <a:solidFill>
                  <a:srgbClr val="10B981"/>
                </a:solidFill>
                <a:latin typeface="Georgia" pitchFamily="34" charset="0"/>
                <a:ea typeface="Georgia" pitchFamily="34" charset="-122"/>
                <a:cs typeface="Georgia" pitchFamily="34" charset="-120"/>
              </a:rPr>
              <a:t>€1,500–€8,000/report</a:t>
            </a:r>
            <a:endParaRPr lang="en-US" sz="2000" dirty="0"/>
          </a:p>
        </p:txBody>
      </p:sp>
      <p:sp>
        <p:nvSpPr>
          <p:cNvPr id="14" name="Shape 12"/>
          <p:cNvSpPr/>
          <p:nvPr/>
        </p:nvSpPr>
        <p:spPr>
          <a:xfrm>
            <a:off x="3337560" y="2331720"/>
            <a:ext cx="2423160" cy="0"/>
          </a:xfrm>
          <a:prstGeom prst="line">
            <a:avLst/>
          </a:prstGeom>
          <a:noFill/>
          <a:ln w="12700">
            <a:solidFill>
              <a:srgbClr val="1E3A5F"/>
            </a:solidFill>
            <a:prstDash val="solid"/>
          </a:ln>
        </p:spPr>
      </p:sp>
      <p:sp>
        <p:nvSpPr>
          <p:cNvPr id="15" name="Text 13"/>
          <p:cNvSpPr/>
          <p:nvPr/>
        </p:nvSpPr>
        <p:spPr>
          <a:xfrm>
            <a:off x="3337560" y="2423160"/>
            <a:ext cx="2423160" cy="192024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Corporates generating a one-off CSRD or TCFD filing. Priced by company size and number of assets. Fast to close, minimal onboarding required.</a:t>
            </a:r>
            <a:endParaRPr lang="en-US" sz="1000" dirty="0"/>
          </a:p>
        </p:txBody>
      </p:sp>
      <p:sp>
        <p:nvSpPr>
          <p:cNvPr id="16" name="Shape 14"/>
          <p:cNvSpPr/>
          <p:nvPr/>
        </p:nvSpPr>
        <p:spPr>
          <a:xfrm>
            <a:off x="6080760" y="1005840"/>
            <a:ext cx="2697480" cy="3474720"/>
          </a:xfrm>
          <a:prstGeom prst="rect">
            <a:avLst/>
          </a:prstGeom>
          <a:solidFill>
            <a:srgbClr val="064E3B"/>
          </a:solidFill>
          <a:ln w="12700">
            <a:solidFill>
              <a:srgbClr val="064E3B"/>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6217920" y="1097280"/>
            <a:ext cx="2423160" cy="256032"/>
          </a:xfrm>
          <a:prstGeom prst="rect">
            <a:avLst/>
          </a:prstGeom>
          <a:noFill/>
          <a:ln/>
        </p:spPr>
        <p:txBody>
          <a:bodyPr wrap="square" lIns="0" tIns="0" rIns="0" bIns="0" rtlCol="0" anchor="ctr"/>
          <a:lstStyle/>
          <a:p>
            <a:pPr indent="0" marL="0">
              <a:buNone/>
            </a:pPr>
            <a:r>
              <a:rPr lang="en-US" sz="850" b="1" spc="200" kern="0" dirty="0">
                <a:solidFill>
                  <a:srgbClr val="10B981"/>
                </a:solidFill>
                <a:latin typeface="Calibri" pitchFamily="34" charset="0"/>
                <a:ea typeface="Calibri" pitchFamily="34" charset="-122"/>
                <a:cs typeface="Calibri" pitchFamily="34" charset="-120"/>
              </a:rPr>
              <a:t>PARTNERSHIP</a:t>
            </a:r>
            <a:endParaRPr lang="en-US" sz="850" dirty="0"/>
          </a:p>
        </p:txBody>
      </p:sp>
      <p:sp>
        <p:nvSpPr>
          <p:cNvPr id="18" name="Text 16"/>
          <p:cNvSpPr/>
          <p:nvPr/>
        </p:nvSpPr>
        <p:spPr>
          <a:xfrm>
            <a:off x="6217920" y="1353312"/>
            <a:ext cx="242316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White-Label API</a:t>
            </a:r>
            <a:endParaRPr lang="en-US" sz="1700" dirty="0"/>
          </a:p>
        </p:txBody>
      </p:sp>
      <p:sp>
        <p:nvSpPr>
          <p:cNvPr id="19" name="Text 17"/>
          <p:cNvSpPr/>
          <p:nvPr/>
        </p:nvSpPr>
        <p:spPr>
          <a:xfrm>
            <a:off x="6217920" y="1901952"/>
            <a:ext cx="2423160" cy="384048"/>
          </a:xfrm>
          <a:prstGeom prst="rect">
            <a:avLst/>
          </a:prstGeom>
          <a:noFill/>
          <a:ln/>
        </p:spPr>
        <p:txBody>
          <a:bodyPr wrap="square" lIns="0" tIns="0" rIns="0" bIns="0" rtlCol="0" anchor="ctr"/>
          <a:lstStyle/>
          <a:p>
            <a:pPr indent="0" marL="0">
              <a:buNone/>
            </a:pPr>
            <a:r>
              <a:rPr lang="en-US" sz="2000" b="1" dirty="0">
                <a:solidFill>
                  <a:srgbClr val="10B981"/>
                </a:solidFill>
                <a:latin typeface="Georgia" pitchFamily="34" charset="0"/>
                <a:ea typeface="Georgia" pitchFamily="34" charset="-122"/>
                <a:cs typeface="Georgia" pitchFamily="34" charset="-120"/>
              </a:rPr>
              <a:t>Revenue share</a:t>
            </a:r>
            <a:endParaRPr lang="en-US" sz="2000" dirty="0"/>
          </a:p>
        </p:txBody>
      </p:sp>
      <p:sp>
        <p:nvSpPr>
          <p:cNvPr id="20" name="Shape 18"/>
          <p:cNvSpPr/>
          <p:nvPr/>
        </p:nvSpPr>
        <p:spPr>
          <a:xfrm>
            <a:off x="6217920" y="2331720"/>
            <a:ext cx="2423160" cy="0"/>
          </a:xfrm>
          <a:prstGeom prst="line">
            <a:avLst/>
          </a:prstGeom>
          <a:noFill/>
          <a:ln w="12700">
            <a:solidFill>
              <a:srgbClr val="1E3A5F"/>
            </a:solidFill>
            <a:prstDash val="solid"/>
          </a:ln>
        </p:spPr>
      </p:sp>
      <p:sp>
        <p:nvSpPr>
          <p:cNvPr id="21" name="Text 19"/>
          <p:cNvSpPr/>
          <p:nvPr/>
        </p:nvSpPr>
        <p:spPr>
          <a:xfrm>
            <a:off x="6217920" y="2423160"/>
            <a:ext cx="2423160" cy="192024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Consultancies and audit firms that want CRI's engine behind their own branded product. Unlocks enterprise accounts ClimRisk cannot reach directly.</a:t>
            </a:r>
            <a:endParaRPr lang="en-US" sz="1000" dirty="0"/>
          </a:p>
        </p:txBody>
      </p:sp>
      <p:sp>
        <p:nvSpPr>
          <p:cNvPr id="22" name="Text 20"/>
          <p:cNvSpPr/>
          <p:nvPr/>
        </p:nvSpPr>
        <p:spPr>
          <a:xfrm>
            <a:off x="365760" y="4663440"/>
            <a:ext cx="8412480" cy="27432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Target blended ARPU at maturity: €3,200/customer/month across all segments.</a:t>
            </a:r>
            <a:endParaRPr lang="en-US" sz="1000" dirty="0"/>
          </a:p>
        </p:txBody>
      </p:sp>
      <p:sp>
        <p:nvSpPr>
          <p:cNvPr id="23" name="Text 21"/>
          <p:cNvSpPr/>
          <p:nvPr/>
        </p:nvSpPr>
        <p:spPr>
          <a:xfrm>
            <a:off x="8046720" y="4937760"/>
            <a:ext cx="9144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climrisk.io</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628"/>
          </a:solidFill>
          <a:ln w="12700">
            <a:solidFill>
              <a:srgbClr val="0B1628"/>
            </a:solidFill>
            <a:prstDash val="solid"/>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TRACTION &amp; ROADMAP</a:t>
            </a:r>
            <a:endParaRPr lang="en-US" sz="1100" dirty="0"/>
          </a:p>
        </p:txBody>
      </p:sp>
      <p:sp>
        <p:nvSpPr>
          <p:cNvPr id="4" name="Text 2"/>
          <p:cNvSpPr/>
          <p:nvPr/>
        </p:nvSpPr>
        <p:spPr>
          <a:xfrm>
            <a:off x="365760" y="960120"/>
            <a:ext cx="3931920" cy="365760"/>
          </a:xfrm>
          <a:prstGeom prst="rect">
            <a:avLst/>
          </a:prstGeom>
          <a:noFill/>
          <a:ln/>
        </p:spPr>
        <p:txBody>
          <a:bodyPr wrap="square" lIns="0" tIns="0" rIns="0" bIns="0" rtlCol="0" anchor="ctr"/>
          <a:lstStyle/>
          <a:p>
            <a:pPr indent="0" marL="0">
              <a:buNone/>
            </a:pPr>
            <a:r>
              <a:rPr lang="en-US" sz="1400" b="1" dirty="0">
                <a:solidFill>
                  <a:srgbClr val="0B1628"/>
                </a:solidFill>
                <a:latin typeface="Georgia" pitchFamily="34" charset="0"/>
                <a:ea typeface="Georgia" pitchFamily="34" charset="-122"/>
                <a:cs typeface="Georgia" pitchFamily="34" charset="-120"/>
              </a:rPr>
              <a:t>Where We Are</a:t>
            </a:r>
            <a:endParaRPr lang="en-US" sz="1400" dirty="0"/>
          </a:p>
        </p:txBody>
      </p:sp>
      <p:sp>
        <p:nvSpPr>
          <p:cNvPr id="5" name="Text 3"/>
          <p:cNvSpPr/>
          <p:nvPr/>
        </p:nvSpPr>
        <p:spPr>
          <a:xfrm>
            <a:off x="365760" y="1417320"/>
            <a:ext cx="3931920" cy="32004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Platform live at climrisk.io — publicly accessible, no login required</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Full methodology documentation completed (CRI_Methodology_v1.pdf)</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Pilot engagement active with Morelli Consulting, UK-based sustainability advisory</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Incorporated in Netherlands — KVK 95420134, BTW NL004902017B42</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16 sector profiles calibrated from CDP, WRI, IEA and industry body publications</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TCFD, IFRS S2, CSRD/ESRS E1, BRSR disclosure outputs implemented and tested</a:t>
            </a:r>
            <a:endParaRPr lang="en-US" sz="1000" dirty="0"/>
          </a:p>
        </p:txBody>
      </p:sp>
      <p:sp>
        <p:nvSpPr>
          <p:cNvPr id="6" name="Text 4"/>
          <p:cNvSpPr/>
          <p:nvPr/>
        </p:nvSpPr>
        <p:spPr>
          <a:xfrm>
            <a:off x="4846320" y="960120"/>
            <a:ext cx="3931920" cy="365760"/>
          </a:xfrm>
          <a:prstGeom prst="rect">
            <a:avLst/>
          </a:prstGeom>
          <a:noFill/>
          <a:ln/>
        </p:spPr>
        <p:txBody>
          <a:bodyPr wrap="square" lIns="0" tIns="0" rIns="0" bIns="0" rtlCol="0" anchor="ctr"/>
          <a:lstStyle/>
          <a:p>
            <a:pPr indent="0" marL="0">
              <a:buNone/>
            </a:pPr>
            <a:r>
              <a:rPr lang="en-US" sz="1400" b="1" dirty="0">
                <a:solidFill>
                  <a:srgbClr val="0B1628"/>
                </a:solidFill>
                <a:latin typeface="Georgia" pitchFamily="34" charset="0"/>
                <a:ea typeface="Georgia" pitchFamily="34" charset="-122"/>
                <a:cs typeface="Georgia" pitchFamily="34" charset="-120"/>
              </a:rPr>
              <a:t>Next 12 Months</a:t>
            </a:r>
            <a:endParaRPr lang="en-US" sz="1400" dirty="0"/>
          </a:p>
        </p:txBody>
      </p:sp>
      <p:sp>
        <p:nvSpPr>
          <p:cNvPr id="7" name="Shape 5"/>
          <p:cNvSpPr/>
          <p:nvPr/>
        </p:nvSpPr>
        <p:spPr>
          <a:xfrm>
            <a:off x="4846320" y="1417320"/>
            <a:ext cx="914400" cy="548640"/>
          </a:xfrm>
          <a:prstGeom prst="rect">
            <a:avLst/>
          </a:prstGeom>
          <a:solidFill>
            <a:srgbClr val="059669"/>
          </a:solidFill>
          <a:ln w="12700">
            <a:solidFill>
              <a:srgbClr val="059669"/>
            </a:solidFill>
            <a:prstDash val="solid"/>
          </a:ln>
        </p:spPr>
      </p:sp>
      <p:sp>
        <p:nvSpPr>
          <p:cNvPr id="8" name="Text 6"/>
          <p:cNvSpPr/>
          <p:nvPr/>
        </p:nvSpPr>
        <p:spPr>
          <a:xfrm>
            <a:off x="4846320" y="1417320"/>
            <a:ext cx="91440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Q3 2026</a:t>
            </a:r>
            <a:endParaRPr lang="en-US" sz="900" dirty="0"/>
          </a:p>
        </p:txBody>
      </p:sp>
      <p:sp>
        <p:nvSpPr>
          <p:cNvPr id="9" name="Shape 7"/>
          <p:cNvSpPr/>
          <p:nvPr/>
        </p:nvSpPr>
        <p:spPr>
          <a:xfrm>
            <a:off x="5806440" y="1417320"/>
            <a:ext cx="3017520" cy="548640"/>
          </a:xfrm>
          <a:prstGeom prst="rect">
            <a:avLst/>
          </a:prstGeom>
          <a:solidFill>
            <a:srgbClr val="F1F5F9"/>
          </a:solidFill>
          <a:ln w="12700">
            <a:solidFill>
              <a:srgbClr val="CBD5E1"/>
            </a:solidFill>
            <a:prstDash val="solid"/>
          </a:ln>
        </p:spPr>
      </p:sp>
      <p:sp>
        <p:nvSpPr>
          <p:cNvPr id="10" name="Text 8"/>
          <p:cNvSpPr/>
          <p:nvPr/>
        </p:nvSpPr>
        <p:spPr>
          <a:xfrm>
            <a:off x="5897880" y="1417320"/>
            <a:ext cx="2834640" cy="548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Land first two paid pilot clients. Founder relocates to Rotterdam on startup visa.</a:t>
            </a:r>
            <a:endParaRPr lang="en-US" sz="950" dirty="0"/>
          </a:p>
        </p:txBody>
      </p:sp>
      <p:sp>
        <p:nvSpPr>
          <p:cNvPr id="11" name="Shape 9"/>
          <p:cNvSpPr/>
          <p:nvPr/>
        </p:nvSpPr>
        <p:spPr>
          <a:xfrm>
            <a:off x="4846320" y="2258568"/>
            <a:ext cx="914400" cy="548640"/>
          </a:xfrm>
          <a:prstGeom prst="rect">
            <a:avLst/>
          </a:prstGeom>
          <a:solidFill>
            <a:srgbClr val="0B1628"/>
          </a:solidFill>
          <a:ln w="12700">
            <a:solidFill>
              <a:srgbClr val="0B1628"/>
            </a:solidFill>
            <a:prstDash val="solid"/>
          </a:ln>
        </p:spPr>
      </p:sp>
      <p:sp>
        <p:nvSpPr>
          <p:cNvPr id="12" name="Text 10"/>
          <p:cNvSpPr/>
          <p:nvPr/>
        </p:nvSpPr>
        <p:spPr>
          <a:xfrm>
            <a:off x="4846320" y="2258568"/>
            <a:ext cx="91440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Q4 2026</a:t>
            </a:r>
            <a:endParaRPr lang="en-US" sz="900" dirty="0"/>
          </a:p>
        </p:txBody>
      </p:sp>
      <p:sp>
        <p:nvSpPr>
          <p:cNvPr id="13" name="Shape 11"/>
          <p:cNvSpPr/>
          <p:nvPr/>
        </p:nvSpPr>
        <p:spPr>
          <a:xfrm>
            <a:off x="5806440" y="2258568"/>
            <a:ext cx="3017520" cy="548640"/>
          </a:xfrm>
          <a:prstGeom prst="rect">
            <a:avLst/>
          </a:prstGeom>
          <a:solidFill>
            <a:srgbClr val="F1F5F9"/>
          </a:solidFill>
          <a:ln w="12700">
            <a:solidFill>
              <a:srgbClr val="CBD5E1"/>
            </a:solidFill>
            <a:prstDash val="solid"/>
          </a:ln>
        </p:spPr>
      </p:sp>
      <p:sp>
        <p:nvSpPr>
          <p:cNvPr id="14" name="Text 12"/>
          <p:cNvSpPr/>
          <p:nvPr/>
        </p:nvSpPr>
        <p:spPr>
          <a:xfrm>
            <a:off x="5897880" y="2258568"/>
            <a:ext cx="2834640" cy="548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Launch SaaS subscription tier. First white-label API conversation with a consultancy.</a:t>
            </a:r>
            <a:endParaRPr lang="en-US" sz="950" dirty="0"/>
          </a:p>
        </p:txBody>
      </p:sp>
      <p:sp>
        <p:nvSpPr>
          <p:cNvPr id="15" name="Shape 13"/>
          <p:cNvSpPr/>
          <p:nvPr/>
        </p:nvSpPr>
        <p:spPr>
          <a:xfrm>
            <a:off x="4846320" y="3099816"/>
            <a:ext cx="914400" cy="548640"/>
          </a:xfrm>
          <a:prstGeom prst="rect">
            <a:avLst/>
          </a:prstGeom>
          <a:solidFill>
            <a:srgbClr val="0B1628"/>
          </a:solidFill>
          <a:ln w="12700">
            <a:solidFill>
              <a:srgbClr val="0B1628"/>
            </a:solidFill>
            <a:prstDash val="solid"/>
          </a:ln>
        </p:spPr>
      </p:sp>
      <p:sp>
        <p:nvSpPr>
          <p:cNvPr id="16" name="Text 14"/>
          <p:cNvSpPr/>
          <p:nvPr/>
        </p:nvSpPr>
        <p:spPr>
          <a:xfrm>
            <a:off x="4846320" y="3099816"/>
            <a:ext cx="91440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Q1 2027</a:t>
            </a:r>
            <a:endParaRPr lang="en-US" sz="900" dirty="0"/>
          </a:p>
        </p:txBody>
      </p:sp>
      <p:sp>
        <p:nvSpPr>
          <p:cNvPr id="17" name="Shape 15"/>
          <p:cNvSpPr/>
          <p:nvPr/>
        </p:nvSpPr>
        <p:spPr>
          <a:xfrm>
            <a:off x="5806440" y="3099816"/>
            <a:ext cx="3017520" cy="548640"/>
          </a:xfrm>
          <a:prstGeom prst="rect">
            <a:avLst/>
          </a:prstGeom>
          <a:solidFill>
            <a:srgbClr val="F1F5F9"/>
          </a:solidFill>
          <a:ln w="12700">
            <a:solidFill>
              <a:srgbClr val="CBD5E1"/>
            </a:solidFill>
            <a:prstDash val="solid"/>
          </a:ln>
        </p:spPr>
      </p:sp>
      <p:sp>
        <p:nvSpPr>
          <p:cNvPr id="18" name="Text 16"/>
          <p:cNvSpPr/>
          <p:nvPr/>
        </p:nvSpPr>
        <p:spPr>
          <a:xfrm>
            <a:off x="5897880" y="3099816"/>
            <a:ext cx="2834640" cy="548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TNFD nature-related risk layer in beta. Real-time asset registry sync.</a:t>
            </a:r>
            <a:endParaRPr lang="en-US" sz="950" dirty="0"/>
          </a:p>
        </p:txBody>
      </p:sp>
      <p:sp>
        <p:nvSpPr>
          <p:cNvPr id="19" name="Shape 17"/>
          <p:cNvSpPr/>
          <p:nvPr/>
        </p:nvSpPr>
        <p:spPr>
          <a:xfrm>
            <a:off x="4846320" y="3941064"/>
            <a:ext cx="914400" cy="548640"/>
          </a:xfrm>
          <a:prstGeom prst="rect">
            <a:avLst/>
          </a:prstGeom>
          <a:solidFill>
            <a:srgbClr val="0B1628"/>
          </a:solidFill>
          <a:ln w="12700">
            <a:solidFill>
              <a:srgbClr val="0B1628"/>
            </a:solidFill>
            <a:prstDash val="solid"/>
          </a:ln>
        </p:spPr>
      </p:sp>
      <p:sp>
        <p:nvSpPr>
          <p:cNvPr id="20" name="Text 18"/>
          <p:cNvSpPr/>
          <p:nvPr/>
        </p:nvSpPr>
        <p:spPr>
          <a:xfrm>
            <a:off x="4846320" y="3941064"/>
            <a:ext cx="91440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Q2 2027</a:t>
            </a:r>
            <a:endParaRPr lang="en-US" sz="900" dirty="0"/>
          </a:p>
        </p:txBody>
      </p:sp>
      <p:sp>
        <p:nvSpPr>
          <p:cNvPr id="21" name="Shape 19"/>
          <p:cNvSpPr/>
          <p:nvPr/>
        </p:nvSpPr>
        <p:spPr>
          <a:xfrm>
            <a:off x="5806440" y="3941064"/>
            <a:ext cx="3017520" cy="548640"/>
          </a:xfrm>
          <a:prstGeom prst="rect">
            <a:avLst/>
          </a:prstGeom>
          <a:solidFill>
            <a:srgbClr val="F1F5F9"/>
          </a:solidFill>
          <a:ln w="12700">
            <a:solidFill>
              <a:srgbClr val="CBD5E1"/>
            </a:solidFill>
            <a:prstDash val="solid"/>
          </a:ln>
        </p:spPr>
      </p:sp>
      <p:sp>
        <p:nvSpPr>
          <p:cNvPr id="22" name="Text 20"/>
          <p:cNvSpPr/>
          <p:nvPr/>
        </p:nvSpPr>
        <p:spPr>
          <a:xfrm>
            <a:off x="5897880" y="3941064"/>
            <a:ext cx="2834640" cy="548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10 paying customers. Seed round to fund engineering hire and enterprise sales.</a:t>
            </a:r>
            <a:endParaRPr lang="en-US" sz="950" dirty="0"/>
          </a:p>
        </p:txBody>
      </p:sp>
      <p:sp>
        <p:nvSpPr>
          <p:cNvPr id="23" name="Text 21"/>
          <p:cNvSpPr/>
          <p:nvPr/>
        </p:nvSpPr>
        <p:spPr>
          <a:xfrm>
            <a:off x="8046720" y="4937760"/>
            <a:ext cx="9144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climrisk.io</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8"/>
        </a:solidFill>
      </p:bgPr>
    </p:bg>
    <p:spTree>
      <p:nvGrpSpPr>
        <p:cNvPr id="1" name=""/>
        <p:cNvGrpSpPr/>
        <p:nvPr/>
      </p:nvGrpSpPr>
      <p:grpSpPr>
        <a:xfrm>
          <a:off x="0" y="0"/>
          <a:ext cx="0" cy="0"/>
          <a:chOff x="0" y="0"/>
          <a:chExt cx="0" cy="0"/>
        </a:xfrm>
      </p:grpSpPr>
      <p:sp>
        <p:nvSpPr>
          <p:cNvPr id="2" name="Text 0"/>
          <p:cNvSpPr/>
          <p:nvPr/>
        </p:nvSpPr>
        <p:spPr>
          <a:xfrm>
            <a:off x="457200" y="228600"/>
            <a:ext cx="8229600" cy="36576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FOUNDER</a:t>
            </a:r>
            <a:endParaRPr lang="en-US" sz="1100" dirty="0"/>
          </a:p>
        </p:txBody>
      </p:sp>
      <p:sp>
        <p:nvSpPr>
          <p:cNvPr id="3" name="Text 1"/>
          <p:cNvSpPr/>
          <p:nvPr/>
        </p:nvSpPr>
        <p:spPr>
          <a:xfrm>
            <a:off x="457200" y="59436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Shrinivash Dhamodhara Kannan</a:t>
            </a:r>
            <a:endParaRPr lang="en-US" sz="3000" dirty="0"/>
          </a:p>
        </p:txBody>
      </p:sp>
      <p:sp>
        <p:nvSpPr>
          <p:cNvPr id="4" name="Text 2"/>
          <p:cNvSpPr/>
          <p:nvPr/>
        </p:nvSpPr>
        <p:spPr>
          <a:xfrm>
            <a:off x="457200" y="1170432"/>
            <a:ext cx="8229600" cy="320040"/>
          </a:xfrm>
          <a:prstGeom prst="rect">
            <a:avLst/>
          </a:prstGeom>
          <a:noFill/>
          <a:ln/>
        </p:spPr>
        <p:txBody>
          <a:bodyPr wrap="square" lIns="0" tIns="0" rIns="0" bIns="0" rtlCol="0" anchor="ctr"/>
          <a:lstStyle/>
          <a:p>
            <a:pPr indent="0" marL="0">
              <a:buNone/>
            </a:pPr>
            <a:r>
              <a:rPr lang="en-US" sz="1200" i="1" dirty="0">
                <a:solidFill>
                  <a:srgbClr val="10B981"/>
                </a:solidFill>
                <a:latin typeface="Calibri" pitchFamily="34" charset="0"/>
                <a:ea typeface="Calibri" pitchFamily="34" charset="-122"/>
                <a:cs typeface="Calibri" pitchFamily="34" charset="-120"/>
              </a:rPr>
              <a:t>Founder &amp; CEO  ·  ISO 14067 Climate Risk Analyst &amp; Auditor</a:t>
            </a:r>
            <a:endParaRPr lang="en-US" sz="1200" dirty="0"/>
          </a:p>
        </p:txBody>
      </p:sp>
      <p:sp>
        <p:nvSpPr>
          <p:cNvPr id="5" name="Shape 3"/>
          <p:cNvSpPr/>
          <p:nvPr/>
        </p:nvSpPr>
        <p:spPr>
          <a:xfrm>
            <a:off x="274320" y="1691640"/>
            <a:ext cx="4114800" cy="146304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1691640"/>
            <a:ext cx="54864" cy="1463040"/>
          </a:xfrm>
          <a:prstGeom prst="rect">
            <a:avLst/>
          </a:prstGeom>
          <a:solidFill>
            <a:srgbClr val="059669"/>
          </a:solidFill>
          <a:ln w="12700">
            <a:solidFill>
              <a:srgbClr val="059669"/>
            </a:solidFill>
            <a:prstDash val="solid"/>
          </a:ln>
        </p:spPr>
      </p:sp>
      <p:sp>
        <p:nvSpPr>
          <p:cNvPr id="7" name="Text 5"/>
          <p:cNvSpPr/>
          <p:nvPr/>
        </p:nvSpPr>
        <p:spPr>
          <a:xfrm>
            <a:off x="457200" y="17830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ClimRisk</a:t>
            </a:r>
            <a:endParaRPr lang="en-US" sz="1200" dirty="0"/>
          </a:p>
        </p:txBody>
      </p:sp>
      <p:sp>
        <p:nvSpPr>
          <p:cNvPr id="8" name="Text 6"/>
          <p:cNvSpPr/>
          <p:nvPr/>
        </p:nvSpPr>
        <p:spPr>
          <a:xfrm>
            <a:off x="457200" y="2039112"/>
            <a:ext cx="3840480" cy="228600"/>
          </a:xfrm>
          <a:prstGeom prst="rect">
            <a:avLst/>
          </a:prstGeom>
          <a:noFill/>
          <a:ln/>
        </p:spPr>
        <p:txBody>
          <a:bodyPr wrap="square" lIns="0" tIns="0" rIns="0" bIns="0" rtlCol="0" anchor="ctr"/>
          <a:lstStyle/>
          <a:p>
            <a:pPr indent="0" marL="0">
              <a:buNone/>
            </a:pPr>
            <a:r>
              <a:rPr lang="en-US" sz="900" i="1" dirty="0">
                <a:solidFill>
                  <a:srgbClr val="10B981"/>
                </a:solidFill>
                <a:latin typeface="Calibri" pitchFamily="34" charset="0"/>
                <a:ea typeface="Calibri" pitchFamily="34" charset="-122"/>
                <a:cs typeface="Calibri" pitchFamily="34" charset="-120"/>
              </a:rPr>
              <a:t>Founder &amp; CEO  ·  Apr 2026 – Present</a:t>
            </a:r>
            <a:endParaRPr lang="en-US" sz="900" dirty="0"/>
          </a:p>
        </p:txBody>
      </p:sp>
      <p:sp>
        <p:nvSpPr>
          <p:cNvPr id="9" name="Text 7"/>
          <p:cNvSpPr/>
          <p:nvPr/>
        </p:nvSpPr>
        <p:spPr>
          <a:xfrm>
            <a:off x="457200" y="2295144"/>
            <a:ext cx="3840480" cy="777240"/>
          </a:xfrm>
          <a:prstGeom prst="rect">
            <a:avLst/>
          </a:prstGeom>
          <a:noFill/>
          <a:ln/>
        </p:spPr>
        <p:txBody>
          <a:bodyPr wrap="square" lIns="0" tIns="0" rIns="0" bIns="0" rtlCol="0" anchor="t"/>
          <a:lstStyle/>
          <a:p>
            <a:pPr indent="0" marL="0">
              <a:buNone/>
            </a:pPr>
            <a:r>
              <a:rPr lang="en-US" sz="900" dirty="0">
                <a:solidFill>
                  <a:srgbClr val="CBD5E1"/>
                </a:solidFill>
                <a:latin typeface="Calibri" pitchFamily="34" charset="0"/>
                <a:ea typeface="Calibri" pitchFamily="34" charset="-122"/>
                <a:cs typeface="Calibri" pitchFamily="34" charset="-120"/>
              </a:rPr>
              <a:t>Built the CRI Engine from scratch: physical and transition risk modelling, NGFS carbon pathways, automated TCFD/IFRS S2/CSRD disclosure output. Incorporated in the Netherlands.</a:t>
            </a:r>
            <a:endParaRPr lang="en-US" sz="900" dirty="0"/>
          </a:p>
        </p:txBody>
      </p:sp>
      <p:sp>
        <p:nvSpPr>
          <p:cNvPr id="10" name="Shape 8"/>
          <p:cNvSpPr/>
          <p:nvPr/>
        </p:nvSpPr>
        <p:spPr>
          <a:xfrm>
            <a:off x="4709160" y="1691640"/>
            <a:ext cx="4114800" cy="146304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709160" y="1691640"/>
            <a:ext cx="54864" cy="1463040"/>
          </a:xfrm>
          <a:prstGeom prst="rect">
            <a:avLst/>
          </a:prstGeom>
          <a:solidFill>
            <a:srgbClr val="059669"/>
          </a:solidFill>
          <a:ln w="12700">
            <a:solidFill>
              <a:srgbClr val="059669"/>
            </a:solidFill>
            <a:prstDash val="solid"/>
          </a:ln>
        </p:spPr>
      </p:sp>
      <p:sp>
        <p:nvSpPr>
          <p:cNvPr id="12" name="Text 10"/>
          <p:cNvSpPr/>
          <p:nvPr/>
        </p:nvSpPr>
        <p:spPr>
          <a:xfrm>
            <a:off x="4892040" y="17830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Erasmus University Rotterdam</a:t>
            </a:r>
            <a:endParaRPr lang="en-US" sz="1200" dirty="0"/>
          </a:p>
        </p:txBody>
      </p:sp>
      <p:sp>
        <p:nvSpPr>
          <p:cNvPr id="13" name="Text 11"/>
          <p:cNvSpPr/>
          <p:nvPr/>
        </p:nvSpPr>
        <p:spPr>
          <a:xfrm>
            <a:off x="4892040" y="2039112"/>
            <a:ext cx="3840480" cy="228600"/>
          </a:xfrm>
          <a:prstGeom prst="rect">
            <a:avLst/>
          </a:prstGeom>
          <a:noFill/>
          <a:ln/>
        </p:spPr>
        <p:txBody>
          <a:bodyPr wrap="square" lIns="0" tIns="0" rIns="0" bIns="0" rtlCol="0" anchor="ctr"/>
          <a:lstStyle/>
          <a:p>
            <a:pPr indent="0" marL="0">
              <a:buNone/>
            </a:pPr>
            <a:r>
              <a:rPr lang="en-US" sz="900" i="1" dirty="0">
                <a:solidFill>
                  <a:srgbClr val="10B981"/>
                </a:solidFill>
                <a:latin typeface="Calibri" pitchFamily="34" charset="0"/>
                <a:ea typeface="Calibri" pitchFamily="34" charset="-122"/>
                <a:cs typeface="Calibri" pitchFamily="34" charset="-120"/>
              </a:rPr>
              <a:t>MSc Urban Management  ·  Sep 2023 – Sep 2024</a:t>
            </a:r>
            <a:endParaRPr lang="en-US" sz="900" dirty="0"/>
          </a:p>
        </p:txBody>
      </p:sp>
      <p:sp>
        <p:nvSpPr>
          <p:cNvPr id="14" name="Text 12"/>
          <p:cNvSpPr/>
          <p:nvPr/>
        </p:nvSpPr>
        <p:spPr>
          <a:xfrm>
            <a:off x="4892040" y="2295144"/>
            <a:ext cx="3840480" cy="777240"/>
          </a:xfrm>
          <a:prstGeom prst="rect">
            <a:avLst/>
          </a:prstGeom>
          <a:noFill/>
          <a:ln/>
        </p:spPr>
        <p:txBody>
          <a:bodyPr wrap="square" lIns="0" tIns="0" rIns="0" bIns="0" rtlCol="0" anchor="t"/>
          <a:lstStyle/>
          <a:p>
            <a:pPr indent="0" marL="0">
              <a:buNone/>
            </a:pPr>
            <a:r>
              <a:rPr lang="en-US" sz="900" dirty="0">
                <a:solidFill>
                  <a:srgbClr val="CBD5E1"/>
                </a:solidFill>
                <a:latin typeface="Calibri" pitchFamily="34" charset="0"/>
                <a:ea typeface="Calibri" pitchFamily="34" charset="-122"/>
                <a:cs typeface="Calibri" pitchFamily="34" charset="-120"/>
              </a:rPr>
              <a:t>Specialisation in Urban Environment, Sustainability and Climate Change. Built the academic foundation for climate-financial risk quantification and the Dutch ecosystem network.</a:t>
            </a:r>
            <a:endParaRPr lang="en-US" sz="900" dirty="0"/>
          </a:p>
        </p:txBody>
      </p:sp>
      <p:sp>
        <p:nvSpPr>
          <p:cNvPr id="15" name="Shape 13"/>
          <p:cNvSpPr/>
          <p:nvPr/>
        </p:nvSpPr>
        <p:spPr>
          <a:xfrm>
            <a:off x="274320" y="3291840"/>
            <a:ext cx="4114800" cy="146304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74320" y="3291840"/>
            <a:ext cx="54864" cy="1463040"/>
          </a:xfrm>
          <a:prstGeom prst="rect">
            <a:avLst/>
          </a:prstGeom>
          <a:solidFill>
            <a:srgbClr val="059669"/>
          </a:solidFill>
          <a:ln w="12700">
            <a:solidFill>
              <a:srgbClr val="059669"/>
            </a:solidFill>
            <a:prstDash val="solid"/>
          </a:ln>
        </p:spPr>
      </p:sp>
      <p:sp>
        <p:nvSpPr>
          <p:cNvPr id="17" name="Text 15"/>
          <p:cNvSpPr/>
          <p:nvPr/>
        </p:nvSpPr>
        <p:spPr>
          <a:xfrm>
            <a:off x="457200" y="33832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The Ramco Cements Limited</a:t>
            </a:r>
            <a:endParaRPr lang="en-US" sz="1200" dirty="0"/>
          </a:p>
        </p:txBody>
      </p:sp>
      <p:sp>
        <p:nvSpPr>
          <p:cNvPr id="18" name="Text 16"/>
          <p:cNvSpPr/>
          <p:nvPr/>
        </p:nvSpPr>
        <p:spPr>
          <a:xfrm>
            <a:off x="457200" y="3639312"/>
            <a:ext cx="3840480" cy="228600"/>
          </a:xfrm>
          <a:prstGeom prst="rect">
            <a:avLst/>
          </a:prstGeom>
          <a:noFill/>
          <a:ln/>
        </p:spPr>
        <p:txBody>
          <a:bodyPr wrap="square" lIns="0" tIns="0" rIns="0" bIns="0" rtlCol="0" anchor="ctr"/>
          <a:lstStyle/>
          <a:p>
            <a:pPr indent="0" marL="0">
              <a:buNone/>
            </a:pPr>
            <a:r>
              <a:rPr lang="en-US" sz="900" i="1" dirty="0">
                <a:solidFill>
                  <a:srgbClr val="10B981"/>
                </a:solidFill>
                <a:latin typeface="Calibri" pitchFamily="34" charset="0"/>
                <a:ea typeface="Calibri" pitchFamily="34" charset="-122"/>
                <a:cs typeface="Calibri" pitchFamily="34" charset="-120"/>
              </a:rPr>
              <a:t>Graduate Engineer Trainee  ·  Dec 2020 – May 2023</a:t>
            </a:r>
            <a:endParaRPr lang="en-US" sz="900" dirty="0"/>
          </a:p>
        </p:txBody>
      </p:sp>
      <p:sp>
        <p:nvSpPr>
          <p:cNvPr id="19" name="Text 17"/>
          <p:cNvSpPr/>
          <p:nvPr/>
        </p:nvSpPr>
        <p:spPr>
          <a:xfrm>
            <a:off x="457200" y="3895344"/>
            <a:ext cx="3840480" cy="777240"/>
          </a:xfrm>
          <a:prstGeom prst="rect">
            <a:avLst/>
          </a:prstGeom>
          <a:noFill/>
          <a:ln/>
        </p:spPr>
        <p:txBody>
          <a:bodyPr wrap="square" lIns="0" tIns="0" rIns="0" bIns="0" rtlCol="0" anchor="t"/>
          <a:lstStyle/>
          <a:p>
            <a:pPr indent="0" marL="0">
              <a:buNone/>
            </a:pPr>
            <a:r>
              <a:rPr lang="en-US" sz="900" dirty="0">
                <a:solidFill>
                  <a:srgbClr val="CBD5E1"/>
                </a:solidFill>
                <a:latin typeface="Calibri" pitchFamily="34" charset="0"/>
                <a:ea typeface="Calibri" pitchFamily="34" charset="-122"/>
                <a:cs typeface="Calibri" pitchFamily="34" charset="-120"/>
              </a:rPr>
              <a:t>Architected Scope 1–3 GHG inventories across 4 manufacturing facilities. 450,000 tCO2e quantified annually with 95% third-party verification accuracy, zero non-conformances. Led $50M capital allocation case for alternative fuels.</a:t>
            </a:r>
            <a:endParaRPr lang="en-US" sz="900" dirty="0"/>
          </a:p>
        </p:txBody>
      </p:sp>
      <p:sp>
        <p:nvSpPr>
          <p:cNvPr id="20" name="Shape 18"/>
          <p:cNvSpPr/>
          <p:nvPr/>
        </p:nvSpPr>
        <p:spPr>
          <a:xfrm>
            <a:off x="4709160" y="3291840"/>
            <a:ext cx="4114800" cy="146304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709160" y="3291840"/>
            <a:ext cx="54864" cy="1463040"/>
          </a:xfrm>
          <a:prstGeom prst="rect">
            <a:avLst/>
          </a:prstGeom>
          <a:solidFill>
            <a:srgbClr val="059669"/>
          </a:solidFill>
          <a:ln w="12700">
            <a:solidFill>
              <a:srgbClr val="059669"/>
            </a:solidFill>
            <a:prstDash val="solid"/>
          </a:ln>
        </p:spPr>
      </p:sp>
      <p:sp>
        <p:nvSpPr>
          <p:cNvPr id="22" name="Text 20"/>
          <p:cNvSpPr/>
          <p:nvPr/>
        </p:nvSpPr>
        <p:spPr>
          <a:xfrm>
            <a:off x="4892040" y="33832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Habitat Forum INHAF</a:t>
            </a:r>
            <a:endParaRPr lang="en-US" sz="1200" dirty="0"/>
          </a:p>
        </p:txBody>
      </p:sp>
      <p:sp>
        <p:nvSpPr>
          <p:cNvPr id="23" name="Text 21"/>
          <p:cNvSpPr/>
          <p:nvPr/>
        </p:nvSpPr>
        <p:spPr>
          <a:xfrm>
            <a:off x="4892040" y="3639312"/>
            <a:ext cx="3840480" cy="228600"/>
          </a:xfrm>
          <a:prstGeom prst="rect">
            <a:avLst/>
          </a:prstGeom>
          <a:noFill/>
          <a:ln/>
        </p:spPr>
        <p:txBody>
          <a:bodyPr wrap="square" lIns="0" tIns="0" rIns="0" bIns="0" rtlCol="0" anchor="ctr"/>
          <a:lstStyle/>
          <a:p>
            <a:pPr indent="0" marL="0">
              <a:buNone/>
            </a:pPr>
            <a:r>
              <a:rPr lang="en-US" sz="900" i="1" dirty="0">
                <a:solidFill>
                  <a:srgbClr val="10B981"/>
                </a:solidFill>
                <a:latin typeface="Calibri" pitchFamily="34" charset="0"/>
                <a:ea typeface="Calibri" pitchFamily="34" charset="-122"/>
                <a:cs typeface="Calibri" pitchFamily="34" charset="-120"/>
              </a:rPr>
              <a:t>Project Lead, Climate Change  ·  Oct 2025 – Present</a:t>
            </a:r>
            <a:endParaRPr lang="en-US" sz="900" dirty="0"/>
          </a:p>
        </p:txBody>
      </p:sp>
      <p:sp>
        <p:nvSpPr>
          <p:cNvPr id="24" name="Text 22"/>
          <p:cNvSpPr/>
          <p:nvPr/>
        </p:nvSpPr>
        <p:spPr>
          <a:xfrm>
            <a:off x="4892040" y="3895344"/>
            <a:ext cx="3840480" cy="777240"/>
          </a:xfrm>
          <a:prstGeom prst="rect">
            <a:avLst/>
          </a:prstGeom>
          <a:noFill/>
          <a:ln/>
        </p:spPr>
        <p:txBody>
          <a:bodyPr wrap="square" lIns="0" tIns="0" rIns="0" bIns="0" rtlCol="0" anchor="t"/>
          <a:lstStyle/>
          <a:p>
            <a:pPr indent="0" marL="0">
              <a:buNone/>
            </a:pPr>
            <a:r>
              <a:rPr lang="en-US" sz="900" dirty="0">
                <a:solidFill>
                  <a:srgbClr val="CBD5E1"/>
                </a:solidFill>
                <a:latin typeface="Calibri" pitchFamily="34" charset="0"/>
                <a:ea typeface="Calibri" pitchFamily="34" charset="-122"/>
                <a:cs typeface="Calibri" pitchFamily="34" charset="-120"/>
              </a:rPr>
              <a:t>Built climate risk model translating hazard exposure to financial stress indicators across 5 urban sectors. Contributed to €8M in municipal climate adaptation funding.</a:t>
            </a:r>
            <a:endParaRPr lang="en-US" sz="900" dirty="0"/>
          </a:p>
        </p:txBody>
      </p:sp>
      <p:sp>
        <p:nvSpPr>
          <p:cNvPr id="25" name="Text 23"/>
          <p:cNvSpPr/>
          <p:nvPr/>
        </p:nvSpPr>
        <p:spPr>
          <a:xfrm>
            <a:off x="457200" y="4892040"/>
            <a:ext cx="8229600" cy="182880"/>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climrisk.io  ·  shri@climrisk.io  ·  +31 647 140 567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628"/>
          </a:solidFill>
          <a:ln w="12700">
            <a:solidFill>
              <a:srgbClr val="0B1628"/>
            </a:solidFill>
            <a:prstDash val="solid"/>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WHY THE NETHERLANDS</a:t>
            </a:r>
            <a:endParaRPr lang="en-US" sz="1100" dirty="0"/>
          </a:p>
        </p:txBody>
      </p:sp>
      <p:sp>
        <p:nvSpPr>
          <p:cNvPr id="4" name="Text 2"/>
          <p:cNvSpPr/>
          <p:nvPr/>
        </p:nvSpPr>
        <p:spPr>
          <a:xfrm>
            <a:off x="457200" y="868680"/>
            <a:ext cx="8229600" cy="457200"/>
          </a:xfrm>
          <a:prstGeom prst="rect">
            <a:avLst/>
          </a:prstGeom>
          <a:noFill/>
          <a:ln/>
        </p:spPr>
        <p:txBody>
          <a:bodyPr wrap="square" lIns="0" tIns="0" rIns="0" bIns="0" rtlCol="0" anchor="ctr"/>
          <a:lstStyle/>
          <a:p>
            <a:pPr indent="0" marL="0">
              <a:buNone/>
            </a:pPr>
            <a:r>
              <a:rPr lang="en-US" sz="1400" i="1" dirty="0">
                <a:solidFill>
                  <a:srgbClr val="1E293B"/>
                </a:solidFill>
                <a:latin typeface="Georgia" pitchFamily="34" charset="0"/>
                <a:ea typeface="Georgia" pitchFamily="34" charset="-122"/>
                <a:cs typeface="Georgia" pitchFamily="34" charset="-120"/>
              </a:rPr>
              <a:t>This is not a default choice. The Netherlands is where the market, the science and my network converge.</a:t>
            </a:r>
            <a:endParaRPr lang="en-US" sz="1400" dirty="0"/>
          </a:p>
        </p:txBody>
      </p:sp>
      <p:sp>
        <p:nvSpPr>
          <p:cNvPr id="5" name="Shape 3"/>
          <p:cNvSpPr/>
          <p:nvPr/>
        </p:nvSpPr>
        <p:spPr>
          <a:xfrm>
            <a:off x="320040" y="1508760"/>
            <a:ext cx="4114800" cy="1508760"/>
          </a:xfrm>
          <a:prstGeom prst="rect">
            <a:avLst/>
          </a:prstGeom>
          <a:solidFill>
            <a:srgbClr val="F1F5F9"/>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508760"/>
            <a:ext cx="4114800" cy="45720"/>
          </a:xfrm>
          <a:prstGeom prst="rect">
            <a:avLst/>
          </a:prstGeom>
          <a:solidFill>
            <a:srgbClr val="059669"/>
          </a:solidFill>
          <a:ln w="12700">
            <a:solidFill>
              <a:srgbClr val="059669"/>
            </a:solidFill>
            <a:prstDash val="solid"/>
          </a:ln>
        </p:spPr>
      </p:sp>
      <p:sp>
        <p:nvSpPr>
          <p:cNvPr id="7" name="Text 5"/>
          <p:cNvSpPr/>
          <p:nvPr/>
        </p:nvSpPr>
        <p:spPr>
          <a:xfrm>
            <a:off x="457200" y="1618488"/>
            <a:ext cx="3840480" cy="347472"/>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The Client Base</a:t>
            </a:r>
            <a:endParaRPr lang="en-US" sz="1300" dirty="0"/>
          </a:p>
        </p:txBody>
      </p:sp>
      <p:sp>
        <p:nvSpPr>
          <p:cNvPr id="8" name="Text 6"/>
          <p:cNvSpPr/>
          <p:nvPr/>
        </p:nvSpPr>
        <p:spPr>
          <a:xfrm>
            <a:off x="457200" y="1965960"/>
            <a:ext cx="3840480" cy="100584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ING, Shell, LyondellBasell, DSM-Firmenich, Heineken, BASF European operations. All face mandatory CSRD filings. All need the numbers CRI produces. Rotterdam port, chemicals and energy clusters carry some of the highest physical climate exposure in Europe.</a:t>
            </a:r>
            <a:endParaRPr lang="en-US" sz="950" dirty="0"/>
          </a:p>
        </p:txBody>
      </p:sp>
      <p:sp>
        <p:nvSpPr>
          <p:cNvPr id="9" name="Shape 7"/>
          <p:cNvSpPr/>
          <p:nvPr/>
        </p:nvSpPr>
        <p:spPr>
          <a:xfrm>
            <a:off x="4754880" y="1508760"/>
            <a:ext cx="4114800" cy="1508760"/>
          </a:xfrm>
          <a:prstGeom prst="rect">
            <a:avLst/>
          </a:prstGeom>
          <a:solidFill>
            <a:srgbClr val="F1F5F9"/>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754880" y="1508760"/>
            <a:ext cx="4114800" cy="45720"/>
          </a:xfrm>
          <a:prstGeom prst="rect">
            <a:avLst/>
          </a:prstGeom>
          <a:solidFill>
            <a:srgbClr val="059669"/>
          </a:solidFill>
          <a:ln w="12700">
            <a:solidFill>
              <a:srgbClr val="059669"/>
            </a:solidFill>
            <a:prstDash val="solid"/>
          </a:ln>
        </p:spPr>
      </p:sp>
      <p:sp>
        <p:nvSpPr>
          <p:cNvPr id="11" name="Text 9"/>
          <p:cNvSpPr/>
          <p:nvPr/>
        </p:nvSpPr>
        <p:spPr>
          <a:xfrm>
            <a:off x="4892040" y="1618488"/>
            <a:ext cx="3840480" cy="347472"/>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Personal Connection</a:t>
            </a:r>
            <a:endParaRPr lang="en-US" sz="1300" dirty="0"/>
          </a:p>
        </p:txBody>
      </p:sp>
      <p:sp>
        <p:nvSpPr>
          <p:cNvPr id="12" name="Text 10"/>
          <p:cNvSpPr/>
          <p:nvPr/>
        </p:nvSpPr>
        <p:spPr>
          <a:xfrm>
            <a:off x="4892040" y="1965960"/>
            <a:ext cx="3840480" cy="100584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MSc at Erasmus University Rotterdam. Worked in Rotterdam at Flink after graduating. Dutch phone number still active (+31 647 140 567). ClimRisk B.V. incorporated here: KVK 95420134, BTW NL004902017B42.</a:t>
            </a:r>
            <a:endParaRPr lang="en-US" sz="950" dirty="0"/>
          </a:p>
        </p:txBody>
      </p:sp>
      <p:sp>
        <p:nvSpPr>
          <p:cNvPr id="13" name="Shape 11"/>
          <p:cNvSpPr/>
          <p:nvPr/>
        </p:nvSpPr>
        <p:spPr>
          <a:xfrm>
            <a:off x="320040" y="3172968"/>
            <a:ext cx="4114800" cy="1508760"/>
          </a:xfrm>
          <a:prstGeom prst="rect">
            <a:avLst/>
          </a:prstGeom>
          <a:solidFill>
            <a:srgbClr val="F1F5F9"/>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0040" y="3172968"/>
            <a:ext cx="4114800" cy="45720"/>
          </a:xfrm>
          <a:prstGeom prst="rect">
            <a:avLst/>
          </a:prstGeom>
          <a:solidFill>
            <a:srgbClr val="059669"/>
          </a:solidFill>
          <a:ln w="12700">
            <a:solidFill>
              <a:srgbClr val="059669"/>
            </a:solidFill>
            <a:prstDash val="solid"/>
          </a:ln>
        </p:spPr>
      </p:sp>
      <p:sp>
        <p:nvSpPr>
          <p:cNvPr id="15" name="Text 13"/>
          <p:cNvSpPr/>
          <p:nvPr/>
        </p:nvSpPr>
        <p:spPr>
          <a:xfrm>
            <a:off x="457200" y="3282696"/>
            <a:ext cx="3840480" cy="347472"/>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Research Ecosystem</a:t>
            </a:r>
            <a:endParaRPr lang="en-US" sz="1300" dirty="0"/>
          </a:p>
        </p:txBody>
      </p:sp>
      <p:sp>
        <p:nvSpPr>
          <p:cNvPr id="16" name="Text 14"/>
          <p:cNvSpPr/>
          <p:nvPr/>
        </p:nvSpPr>
        <p:spPr>
          <a:xfrm>
            <a:off x="457200" y="3630168"/>
            <a:ext cx="3840480" cy="100584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TU Delft Climate Institute and Deltares are global leaders in flood risk and physical climate modelling — the exact domain CRI's physical hazard layer draws on. These are natural validation partners.</a:t>
            </a:r>
            <a:endParaRPr lang="en-US" sz="950" dirty="0"/>
          </a:p>
        </p:txBody>
      </p:sp>
      <p:sp>
        <p:nvSpPr>
          <p:cNvPr id="17" name="Shape 15"/>
          <p:cNvSpPr/>
          <p:nvPr/>
        </p:nvSpPr>
        <p:spPr>
          <a:xfrm>
            <a:off x="4754880" y="3172968"/>
            <a:ext cx="4114800" cy="1508760"/>
          </a:xfrm>
          <a:prstGeom prst="rect">
            <a:avLst/>
          </a:prstGeom>
          <a:solidFill>
            <a:srgbClr val="F1F5F9"/>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754880" y="3172968"/>
            <a:ext cx="4114800" cy="45720"/>
          </a:xfrm>
          <a:prstGeom prst="rect">
            <a:avLst/>
          </a:prstGeom>
          <a:solidFill>
            <a:srgbClr val="059669"/>
          </a:solidFill>
          <a:ln w="12700">
            <a:solidFill>
              <a:srgbClr val="059669"/>
            </a:solidFill>
            <a:prstDash val="solid"/>
          </a:ln>
        </p:spPr>
      </p:sp>
      <p:sp>
        <p:nvSpPr>
          <p:cNvPr id="19" name="Text 17"/>
          <p:cNvSpPr/>
          <p:nvPr/>
        </p:nvSpPr>
        <p:spPr>
          <a:xfrm>
            <a:off x="4892040" y="3282696"/>
            <a:ext cx="3840480" cy="347472"/>
          </a:xfrm>
          <a:prstGeom prst="rect">
            <a:avLst/>
          </a:prstGeom>
          <a:noFill/>
          <a:ln/>
        </p:spPr>
        <p:txBody>
          <a:bodyPr wrap="square" lIns="0" tIns="0" rIns="0" bIns="0" rtlCol="0" anchor="ctr"/>
          <a:lstStyle/>
          <a:p>
            <a:pPr indent="0" marL="0">
              <a:buNone/>
            </a:pPr>
            <a:r>
              <a:rPr lang="en-US" sz="1300" b="1" dirty="0">
                <a:solidFill>
                  <a:srgbClr val="0B1628"/>
                </a:solidFill>
                <a:latin typeface="Georgia" pitchFamily="34" charset="0"/>
                <a:ea typeface="Georgia" pitchFamily="34" charset="-122"/>
                <a:cs typeface="Georgia" pitchFamily="34" charset="-120"/>
              </a:rPr>
              <a:t>Consultancy Market</a:t>
            </a:r>
            <a:endParaRPr lang="en-US" sz="1300" dirty="0"/>
          </a:p>
        </p:txBody>
      </p:sp>
      <p:sp>
        <p:nvSpPr>
          <p:cNvPr id="20" name="Text 18"/>
          <p:cNvSpPr/>
          <p:nvPr/>
        </p:nvSpPr>
        <p:spPr>
          <a:xfrm>
            <a:off x="4892040" y="3630168"/>
            <a:ext cx="3840480" cy="100584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The Netherlands has 800+ sustainability consultancies. Most advise on CSRD and TCFD without a quantitative modelling engine. CRI is designed to sit behind an advisory practice as a white-label platform.</a:t>
            </a:r>
            <a:endParaRPr lang="en-US" sz="950" dirty="0"/>
          </a:p>
        </p:txBody>
      </p:sp>
      <p:sp>
        <p:nvSpPr>
          <p:cNvPr id="21" name="Text 19"/>
          <p:cNvSpPr/>
          <p:nvPr/>
        </p:nvSpPr>
        <p:spPr>
          <a:xfrm>
            <a:off x="8046720" y="4937760"/>
            <a:ext cx="9144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climrisk.io</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628"/>
        </a:solidFill>
      </p:bgPr>
    </p:bg>
    <p:spTree>
      <p:nvGrpSpPr>
        <p:cNvPr id="1" name=""/>
        <p:cNvGrpSpPr/>
        <p:nvPr/>
      </p:nvGrpSpPr>
      <p:grpSpPr>
        <a:xfrm>
          <a:off x="0" y="0"/>
          <a:ext cx="0" cy="0"/>
          <a:chOff x="0" y="0"/>
          <a:chExt cx="0" cy="0"/>
        </a:xfrm>
      </p:grpSpPr>
      <p:sp>
        <p:nvSpPr>
          <p:cNvPr id="2" name="Text 0"/>
          <p:cNvSpPr/>
          <p:nvPr/>
        </p:nvSpPr>
        <p:spPr>
          <a:xfrm>
            <a:off x="457200" y="201168"/>
            <a:ext cx="8229600" cy="32004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457200" y="530352"/>
            <a:ext cx="8229600" cy="6858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€150,000</a:t>
            </a:r>
            <a:pPr indent="0" marL="0">
              <a:buNone/>
            </a:pPr>
            <a:r>
              <a:rPr lang="en-US" sz="3800" dirty="0">
                <a:solidFill>
                  <a:srgbClr val="94A3B8"/>
                </a:solidFill>
                <a:latin typeface="Georgia" pitchFamily="34" charset="0"/>
                <a:ea typeface="Georgia" pitchFamily="34" charset="-122"/>
                <a:cs typeface="Georgia" pitchFamily="34" charset="-120"/>
              </a:rPr>
              <a:t xml:space="preserve">  seed</a:t>
            </a:r>
            <a:endParaRPr lang="en-US" sz="3800" dirty="0"/>
          </a:p>
        </p:txBody>
      </p:sp>
      <p:sp>
        <p:nvSpPr>
          <p:cNvPr id="4" name="Text 2"/>
          <p:cNvSpPr/>
          <p:nvPr/>
        </p:nvSpPr>
        <p:spPr>
          <a:xfrm>
            <a:off x="457200" y="1188720"/>
            <a:ext cx="8229600" cy="320040"/>
          </a:xfrm>
          <a:prstGeom prst="rect">
            <a:avLst/>
          </a:prstGeom>
          <a:noFill/>
          <a:ln/>
        </p:spPr>
        <p:txBody>
          <a:bodyPr wrap="square" lIns="0" tIns="0" rIns="0" bIns="0" rtlCol="0" anchor="ctr"/>
          <a:lstStyle/>
          <a:p>
            <a:pPr indent="0" marL="0">
              <a:buNone/>
            </a:pPr>
            <a:r>
              <a:rPr lang="en-US" sz="1100" i="1" dirty="0">
                <a:solidFill>
                  <a:srgbClr val="10B981"/>
                </a:solidFill>
                <a:latin typeface="Calibri" pitchFamily="34" charset="0"/>
                <a:ea typeface="Calibri" pitchFamily="34" charset="-122"/>
                <a:cs typeface="Calibri" pitchFamily="34" charset="-120"/>
              </a:rPr>
              <a:t>Production-grade platform. Founder based in Rotterdam. First contracts signed by month 12.</a:t>
            </a:r>
            <a:endParaRPr lang="en-US" sz="1100" dirty="0"/>
          </a:p>
        </p:txBody>
      </p:sp>
      <p:sp>
        <p:nvSpPr>
          <p:cNvPr id="5" name="Text 3"/>
          <p:cNvSpPr/>
          <p:nvPr/>
        </p:nvSpPr>
        <p:spPr>
          <a:xfrm>
            <a:off x="457200" y="1627632"/>
            <a:ext cx="3931920" cy="320040"/>
          </a:xfrm>
          <a:prstGeom prst="rect">
            <a:avLst/>
          </a:prstGeom>
          <a:noFill/>
          <a:ln/>
        </p:spPr>
        <p:txBody>
          <a:bodyPr wrap="square" lIns="0" tIns="0" rIns="0" bIns="0" rtlCol="0" anchor="ctr"/>
          <a:lstStyle/>
          <a:p>
            <a:pPr indent="0" marL="0">
              <a:buNone/>
            </a:pPr>
            <a:r>
              <a:rPr lang="en-US" sz="1300" b="1" dirty="0">
                <a:solidFill>
                  <a:srgbClr val="94A3B8"/>
                </a:solidFill>
                <a:latin typeface="Georgia" pitchFamily="34" charset="0"/>
                <a:ea typeface="Georgia" pitchFamily="34" charset="-122"/>
                <a:cs typeface="Georgia" pitchFamily="34" charset="-120"/>
              </a:rPr>
              <a:t>Use of Funds</a:t>
            </a:r>
            <a:endParaRPr lang="en-US" sz="1300" dirty="0"/>
          </a:p>
        </p:txBody>
      </p:sp>
      <p:sp>
        <p:nvSpPr>
          <p:cNvPr id="6" name="Shape 4"/>
          <p:cNvSpPr/>
          <p:nvPr/>
        </p:nvSpPr>
        <p:spPr>
          <a:xfrm>
            <a:off x="457200" y="2029968"/>
            <a:ext cx="1005840" cy="566928"/>
          </a:xfrm>
          <a:prstGeom prst="rect">
            <a:avLst/>
          </a:prstGeom>
          <a:solidFill>
            <a:srgbClr val="059669"/>
          </a:solidFill>
          <a:ln w="12700">
            <a:solidFill>
              <a:srgbClr val="059669"/>
            </a:solidFill>
            <a:prstDash val="solid"/>
          </a:ln>
        </p:spPr>
      </p:sp>
      <p:sp>
        <p:nvSpPr>
          <p:cNvPr id="7" name="Text 5"/>
          <p:cNvSpPr/>
          <p:nvPr/>
        </p:nvSpPr>
        <p:spPr>
          <a:xfrm>
            <a:off x="457200" y="2039112"/>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€50,000</a:t>
            </a:r>
            <a:endParaRPr lang="en-US" sz="1300" dirty="0"/>
          </a:p>
        </p:txBody>
      </p:sp>
      <p:sp>
        <p:nvSpPr>
          <p:cNvPr id="8" name="Text 6"/>
          <p:cNvSpPr/>
          <p:nvPr/>
        </p:nvSpPr>
        <p:spPr>
          <a:xfrm>
            <a:off x="457200" y="2359152"/>
            <a:ext cx="1005840" cy="219456"/>
          </a:xfrm>
          <a:prstGeom prst="rect">
            <a:avLst/>
          </a:prstGeom>
          <a:noFill/>
          <a:ln/>
        </p:spPr>
        <p:txBody>
          <a:bodyPr wrap="square" lIns="0" tIns="0" rIns="0" bIns="0" rtlCol="0" anchor="ctr"/>
          <a:lstStyle/>
          <a:p>
            <a:pPr algn="ctr" indent="0" marL="0">
              <a:buNone/>
            </a:pPr>
            <a:r>
              <a:rPr lang="en-US" sz="900" dirty="0">
                <a:solidFill>
                  <a:srgbClr val="AAAAAA"/>
                </a:solidFill>
                <a:latin typeface="Calibri" pitchFamily="34" charset="0"/>
                <a:ea typeface="Calibri" pitchFamily="34" charset="-122"/>
                <a:cs typeface="Calibri" pitchFamily="34" charset="-120"/>
              </a:rPr>
              <a:t>33%</a:t>
            </a:r>
            <a:endParaRPr lang="en-US" sz="900" dirty="0"/>
          </a:p>
        </p:txBody>
      </p:sp>
      <p:sp>
        <p:nvSpPr>
          <p:cNvPr id="9" name="Text 7"/>
          <p:cNvSpPr/>
          <p:nvPr/>
        </p:nvSpPr>
        <p:spPr>
          <a:xfrm>
            <a:off x="1572768" y="2048256"/>
            <a:ext cx="2651760" cy="237744"/>
          </a:xfrm>
          <a:prstGeom prst="rect">
            <a:avLst/>
          </a:prstGeom>
          <a:noFill/>
          <a:ln/>
        </p:spPr>
        <p:txBody>
          <a:bodyPr wrap="square" lIns="0" tIns="0" rIns="0" bIns="0"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Data licences and infrastructure</a:t>
            </a:r>
            <a:endParaRPr lang="en-US" sz="1050" dirty="0"/>
          </a:p>
        </p:txBody>
      </p:sp>
      <p:sp>
        <p:nvSpPr>
          <p:cNvPr id="10" name="Text 8"/>
          <p:cNvSpPr/>
          <p:nvPr/>
        </p:nvSpPr>
        <p:spPr>
          <a:xfrm>
            <a:off x="1572768" y="2276856"/>
            <a:ext cx="26517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WRI Aqueduct pro tier, physical hazard data stack, NGFS transition scenario feeds, GDPR-compliant pipeline, and production uptime SLA.</a:t>
            </a:r>
            <a:endParaRPr lang="en-US" sz="850" dirty="0"/>
          </a:p>
        </p:txBody>
      </p:sp>
      <p:sp>
        <p:nvSpPr>
          <p:cNvPr id="11" name="Shape 9"/>
          <p:cNvSpPr/>
          <p:nvPr/>
        </p:nvSpPr>
        <p:spPr>
          <a:xfrm>
            <a:off x="457200" y="2761488"/>
            <a:ext cx="1005840" cy="566928"/>
          </a:xfrm>
          <a:prstGeom prst="rect">
            <a:avLst/>
          </a:prstGeom>
          <a:solidFill>
            <a:srgbClr val="0891B2"/>
          </a:solidFill>
          <a:ln w="12700">
            <a:solidFill>
              <a:srgbClr val="0891B2"/>
            </a:solidFill>
            <a:prstDash val="solid"/>
          </a:ln>
        </p:spPr>
      </p:sp>
      <p:sp>
        <p:nvSpPr>
          <p:cNvPr id="12" name="Text 10"/>
          <p:cNvSpPr/>
          <p:nvPr/>
        </p:nvSpPr>
        <p:spPr>
          <a:xfrm>
            <a:off x="457200" y="2770632"/>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€60,000</a:t>
            </a:r>
            <a:endParaRPr lang="en-US" sz="1300" dirty="0"/>
          </a:p>
        </p:txBody>
      </p:sp>
      <p:sp>
        <p:nvSpPr>
          <p:cNvPr id="13" name="Text 11"/>
          <p:cNvSpPr/>
          <p:nvPr/>
        </p:nvSpPr>
        <p:spPr>
          <a:xfrm>
            <a:off x="457200" y="3090672"/>
            <a:ext cx="1005840" cy="219456"/>
          </a:xfrm>
          <a:prstGeom prst="rect">
            <a:avLst/>
          </a:prstGeom>
          <a:noFill/>
          <a:ln/>
        </p:spPr>
        <p:txBody>
          <a:bodyPr wrap="square" lIns="0" tIns="0" rIns="0" bIns="0" rtlCol="0" anchor="ctr"/>
          <a:lstStyle/>
          <a:p>
            <a:pPr algn="ctr" indent="0" marL="0">
              <a:buNone/>
            </a:pPr>
            <a:r>
              <a:rPr lang="en-US" sz="900" dirty="0">
                <a:solidFill>
                  <a:srgbClr val="AAAAAA"/>
                </a:solidFill>
                <a:latin typeface="Calibri" pitchFamily="34" charset="0"/>
                <a:ea typeface="Calibri" pitchFamily="34" charset="-122"/>
                <a:cs typeface="Calibri" pitchFamily="34" charset="-120"/>
              </a:rPr>
              <a:t>40%</a:t>
            </a:r>
            <a:endParaRPr lang="en-US" sz="900" dirty="0"/>
          </a:p>
        </p:txBody>
      </p:sp>
      <p:sp>
        <p:nvSpPr>
          <p:cNvPr id="14" name="Text 12"/>
          <p:cNvSpPr/>
          <p:nvPr/>
        </p:nvSpPr>
        <p:spPr>
          <a:xfrm>
            <a:off x="1572768" y="2779776"/>
            <a:ext cx="2651760" cy="237744"/>
          </a:xfrm>
          <a:prstGeom prst="rect">
            <a:avLst/>
          </a:prstGeom>
          <a:noFill/>
          <a:ln/>
        </p:spPr>
        <p:txBody>
          <a:bodyPr wrap="square" lIns="0" tIns="0" rIns="0" bIns="0"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Founder living and relocation</a:t>
            </a:r>
            <a:endParaRPr lang="en-US" sz="1050" dirty="0"/>
          </a:p>
        </p:txBody>
      </p:sp>
      <p:sp>
        <p:nvSpPr>
          <p:cNvPr id="15" name="Text 13"/>
          <p:cNvSpPr/>
          <p:nvPr/>
        </p:nvSpPr>
        <p:spPr>
          <a:xfrm>
            <a:off x="1572768" y="3008376"/>
            <a:ext cx="26517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Rotterdam base: 18 months living at €3,000 per month, plus one-off relocation and startup visa costs. Founder full-time in the Netherlands from funding date.</a:t>
            </a:r>
            <a:endParaRPr lang="en-US" sz="850" dirty="0"/>
          </a:p>
        </p:txBody>
      </p:sp>
      <p:sp>
        <p:nvSpPr>
          <p:cNvPr id="16" name="Shape 14"/>
          <p:cNvSpPr/>
          <p:nvPr/>
        </p:nvSpPr>
        <p:spPr>
          <a:xfrm>
            <a:off x="457200" y="3493008"/>
            <a:ext cx="1005840" cy="566928"/>
          </a:xfrm>
          <a:prstGeom prst="rect">
            <a:avLst/>
          </a:prstGeom>
          <a:solidFill>
            <a:srgbClr val="7C3AED"/>
          </a:solidFill>
          <a:ln w="12700">
            <a:solidFill>
              <a:srgbClr val="7C3AED"/>
            </a:solidFill>
            <a:prstDash val="solid"/>
          </a:ln>
        </p:spPr>
      </p:sp>
      <p:sp>
        <p:nvSpPr>
          <p:cNvPr id="17" name="Text 15"/>
          <p:cNvSpPr/>
          <p:nvPr/>
        </p:nvSpPr>
        <p:spPr>
          <a:xfrm>
            <a:off x="457200" y="3502152"/>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€40,000</a:t>
            </a:r>
            <a:endParaRPr lang="en-US" sz="1300" dirty="0"/>
          </a:p>
        </p:txBody>
      </p:sp>
      <p:sp>
        <p:nvSpPr>
          <p:cNvPr id="18" name="Text 16"/>
          <p:cNvSpPr/>
          <p:nvPr/>
        </p:nvSpPr>
        <p:spPr>
          <a:xfrm>
            <a:off x="457200" y="3822192"/>
            <a:ext cx="1005840" cy="219456"/>
          </a:xfrm>
          <a:prstGeom prst="rect">
            <a:avLst/>
          </a:prstGeom>
          <a:noFill/>
          <a:ln/>
        </p:spPr>
        <p:txBody>
          <a:bodyPr wrap="square" lIns="0" tIns="0" rIns="0" bIns="0" rtlCol="0" anchor="ctr"/>
          <a:lstStyle/>
          <a:p>
            <a:pPr algn="ctr" indent="0" marL="0">
              <a:buNone/>
            </a:pPr>
            <a:r>
              <a:rPr lang="en-US" sz="900" dirty="0">
                <a:solidFill>
                  <a:srgbClr val="AAAAAA"/>
                </a:solidFill>
                <a:latin typeface="Calibri" pitchFamily="34" charset="0"/>
                <a:ea typeface="Calibri" pitchFamily="34" charset="-122"/>
                <a:cs typeface="Calibri" pitchFamily="34" charset="-120"/>
              </a:rPr>
              <a:t>27%</a:t>
            </a:r>
            <a:endParaRPr lang="en-US" sz="900" dirty="0"/>
          </a:p>
        </p:txBody>
      </p:sp>
      <p:sp>
        <p:nvSpPr>
          <p:cNvPr id="19" name="Text 17"/>
          <p:cNvSpPr/>
          <p:nvPr/>
        </p:nvSpPr>
        <p:spPr>
          <a:xfrm>
            <a:off x="1572768" y="3511296"/>
            <a:ext cx="2651760" cy="237744"/>
          </a:xfrm>
          <a:prstGeom prst="rect">
            <a:avLst/>
          </a:prstGeom>
          <a:noFill/>
          <a:ln/>
        </p:spPr>
        <p:txBody>
          <a:bodyPr wrap="square" lIns="0" tIns="0" rIns="0" bIns="0"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Sales, architecture and legal</a:t>
            </a:r>
            <a:endParaRPr lang="en-US" sz="1050" dirty="0"/>
          </a:p>
        </p:txBody>
      </p:sp>
      <p:sp>
        <p:nvSpPr>
          <p:cNvPr id="20" name="Text 18"/>
          <p:cNvSpPr/>
          <p:nvPr/>
        </p:nvSpPr>
        <p:spPr>
          <a:xfrm>
            <a:off x="1572768" y="3739896"/>
            <a:ext cx="26517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Outbound to EU corporates and asset managers. Secure API build-out, penetration testing, and IP protection. Conference presence and pilot client onboarding.</a:t>
            </a:r>
            <a:endParaRPr lang="en-US" sz="850" dirty="0"/>
          </a:p>
        </p:txBody>
      </p:sp>
      <p:sp>
        <p:nvSpPr>
          <p:cNvPr id="26" name="Text 24"/>
          <p:cNvSpPr/>
          <p:nvPr/>
        </p:nvSpPr>
        <p:spPr>
          <a:xfrm>
            <a:off x="4846320" y="1627632"/>
            <a:ext cx="3977640" cy="320040"/>
          </a:xfrm>
          <a:prstGeom prst="rect">
            <a:avLst/>
          </a:prstGeom>
          <a:noFill/>
          <a:ln/>
        </p:spPr>
        <p:txBody>
          <a:bodyPr wrap="square" lIns="0" tIns="0" rIns="0" bIns="0" rtlCol="0" anchor="ctr"/>
          <a:lstStyle/>
          <a:p>
            <a:pPr indent="0" marL="0">
              <a:buNone/>
            </a:pPr>
            <a:r>
              <a:rPr lang="en-US" sz="1300" b="1" dirty="0">
                <a:solidFill>
                  <a:srgbClr val="94A3B8"/>
                </a:solidFill>
                <a:latin typeface="Georgia" pitchFamily="34" charset="0"/>
                <a:ea typeface="Georgia" pitchFamily="34" charset="-122"/>
                <a:cs typeface="Georgia" pitchFamily="34" charset="-120"/>
              </a:rPr>
              <a:t>What €150k Achieves by Month 12</a:t>
            </a:r>
            <a:endParaRPr lang="en-US" sz="1300" dirty="0"/>
          </a:p>
        </p:txBody>
      </p:sp>
      <p:sp>
        <p:nvSpPr>
          <p:cNvPr id="27" name="Shape 25"/>
          <p:cNvSpPr/>
          <p:nvPr/>
        </p:nvSpPr>
        <p:spPr>
          <a:xfrm>
            <a:off x="4846320" y="2029968"/>
            <a:ext cx="3977640" cy="160020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5029200" y="2121408"/>
            <a:ext cx="3611880" cy="1417320"/>
          </a:xfrm>
          <a:prstGeom prst="rect">
            <a:avLst/>
          </a:prstGeom>
          <a:noFill/>
          <a:ln/>
        </p:spPr>
        <p:txBody>
          <a:bodyPr wrap="square" lIns="0" tIns="0" rIns="0" bIns="0" rtlCol="0" anchor="t"/>
          <a:lstStyle/>
          <a:p>
            <a:pPr indent="0" marL="0">
              <a:buNone/>
            </a:pPr>
            <a:r>
              <a:rPr lang="en-US" sz="950" b="1" dirty="0">
                <a:solidFill>
                  <a:srgbClr val="10B981"/>
                </a:solidFill>
                <a:latin typeface="Calibri" pitchFamily="34" charset="0"/>
                <a:ea typeface="Calibri" pitchFamily="34" charset="-122"/>
                <a:cs typeface="Calibri" pitchFamily="34" charset="-120"/>
              </a:rPr>
              <a:t>3 paying clients</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First contracts signed. CRI score and action plan delivered to each client.
</a:t>
            </a:r>
            <a:pPr indent="0" marL="0">
              <a:buNone/>
            </a:pPr>
            <a:r>
              <a:rPr lang="en-US" sz="950" b="1" dirty="0">
                <a:solidFill>
                  <a:srgbClr val="10B981"/>
                </a:solidFill>
                <a:latin typeface="Calibri" pitchFamily="34" charset="0"/>
                <a:ea typeface="Calibri" pitchFamily="34" charset="-122"/>
                <a:cs typeface="Calibri" pitchFamily="34" charset="-120"/>
              </a:rPr>
              <a:t>White-label API in negotiation</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Consultancy embeds CRI engine behind their sustainability advisory practice.
</a:t>
            </a:r>
            <a:pPr indent="0" marL="0">
              <a:buNone/>
            </a:pPr>
            <a:r>
              <a:rPr lang="en-US" sz="950" b="1" dirty="0">
                <a:solidFill>
                  <a:srgbClr val="10B981"/>
                </a:solidFill>
                <a:latin typeface="Calibri" pitchFamily="34" charset="0"/>
                <a:ea typeface="Calibri" pitchFamily="34" charset="-122"/>
                <a:cs typeface="Calibri" pitchFamily="34" charset="-120"/>
              </a:rPr>
              <a:t>Series A positioned</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ARR target of €36,000 by month 12 to anchor the Series A conversation.</a:t>
            </a:r>
            <a:endParaRPr lang="en-US" sz="950" dirty="0"/>
          </a:p>
        </p:txBody>
      </p:sp>
      <p:sp>
        <p:nvSpPr>
          <p:cNvPr id="29" name="Text 27"/>
          <p:cNvSpPr/>
          <p:nvPr/>
        </p:nvSpPr>
        <p:spPr>
          <a:xfrm>
            <a:off x="4846320" y="3730752"/>
            <a:ext cx="3977640" cy="292608"/>
          </a:xfrm>
          <a:prstGeom prst="rect">
            <a:avLst/>
          </a:prstGeom>
          <a:noFill/>
          <a:ln/>
        </p:spPr>
        <p:txBody>
          <a:bodyPr wrap="square" lIns="0" tIns="0" rIns="0" bIns="0" rtlCol="0" anchor="ctr"/>
          <a:lstStyle/>
          <a:p>
            <a:pPr indent="0" marL="0">
              <a:buNone/>
            </a:pPr>
            <a:r>
              <a:rPr lang="en-US" sz="1300" b="1" dirty="0">
                <a:solidFill>
                  <a:srgbClr val="94A3B8"/>
                </a:solidFill>
                <a:latin typeface="Georgia" pitchFamily="34" charset="0"/>
                <a:ea typeface="Georgia" pitchFamily="34" charset="-122"/>
                <a:cs typeface="Georgia" pitchFamily="34" charset="-120"/>
              </a:rPr>
              <a:t>Beyond Funding</a:t>
            </a:r>
            <a:endParaRPr lang="en-US" sz="1300" dirty="0"/>
          </a:p>
        </p:txBody>
      </p:sp>
      <p:sp>
        <p:nvSpPr>
          <p:cNvPr id="30" name="Shape 28"/>
          <p:cNvSpPr/>
          <p:nvPr/>
        </p:nvSpPr>
        <p:spPr>
          <a:xfrm>
            <a:off x="4846320" y="4041648"/>
            <a:ext cx="3977640" cy="914400"/>
          </a:xfrm>
          <a:prstGeom prst="rect">
            <a:avLst/>
          </a:prstGeom>
          <a:solidFill>
            <a:srgbClr val="11224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31" name="Text 29"/>
          <p:cNvSpPr/>
          <p:nvPr/>
        </p:nvSpPr>
        <p:spPr>
          <a:xfrm>
            <a:off x="5029200" y="4114800"/>
            <a:ext cx="3611880" cy="777240"/>
          </a:xfrm>
          <a:prstGeom prst="rect">
            <a:avLst/>
          </a:prstGeom>
          <a:noFill/>
          <a:ln/>
        </p:spPr>
        <p:txBody>
          <a:bodyPr wrap="square" lIns="0" tIns="0" rIns="0" bIns="0" rtlCol="0" anchor="t"/>
          <a:lstStyle/>
          <a:p>
            <a:pPr indent="0" marL="0">
              <a:buNone/>
            </a:pPr>
            <a:r>
              <a:rPr lang="en-US" sz="950" b="1" dirty="0">
                <a:solidFill>
                  <a:srgbClr val="10B981"/>
                </a:solidFill>
                <a:latin typeface="Calibri" pitchFamily="34" charset="0"/>
                <a:ea typeface="Calibri" pitchFamily="34" charset="-122"/>
                <a:cs typeface="Calibri" pitchFamily="34" charset="-120"/>
              </a:rPr>
              <a:t xml:space="preserve">Client introductions  </a:t>
            </a:r>
            <a:pPr indent="0" marL="0">
              <a:buNone/>
            </a:pPr>
            <a:r>
              <a:rPr lang="en-US" sz="950" dirty="0">
                <a:solidFill>
                  <a:srgbClr val="CBD5E1"/>
                </a:solidFill>
                <a:latin typeface="Calibri" pitchFamily="34" charset="0"/>
                <a:ea typeface="Calibri" pitchFamily="34" charset="-122"/>
                <a:cs typeface="Calibri" pitchFamily="34" charset="-120"/>
              </a:rPr>
              <a:t>Portfolio companies with direct physical or transition risk exposure.
</a:t>
            </a:r>
            <a:pPr indent="0" marL="0">
              <a:buNone/>
            </a:pPr>
            <a:r>
              <a:rPr lang="en-US" sz="950" b="1" dirty="0">
                <a:solidFill>
                  <a:srgbClr val="10B981"/>
                </a:solidFill>
                <a:latin typeface="Calibri" pitchFamily="34" charset="0"/>
                <a:ea typeface="Calibri" pitchFamily="34" charset="-122"/>
                <a:cs typeface="Calibri" pitchFamily="34" charset="-120"/>
              </a:rPr>
              <a:t xml:space="preserve">Consultancy connections  </a:t>
            </a:r>
            <a:pPr indent="0" marL="0">
              <a:buNone/>
            </a:pPr>
            <a:r>
              <a:rPr lang="en-US" sz="950" dirty="0">
                <a:solidFill>
                  <a:srgbClr val="CBD5E1"/>
                </a:solidFill>
                <a:latin typeface="Calibri" pitchFamily="34" charset="0"/>
                <a:ea typeface="Calibri" pitchFamily="34" charset="-122"/>
                <a:cs typeface="Calibri" pitchFamily="34" charset="-120"/>
              </a:rPr>
              <a:t>White-label CRI engine for sustainability advisory practices.
</a:t>
            </a:r>
            <a:pPr indent="0" marL="0">
              <a:buNone/>
            </a:pPr>
            <a:r>
              <a:rPr lang="en-US" sz="950" b="1" dirty="0">
                <a:solidFill>
                  <a:srgbClr val="10B981"/>
                </a:solidFill>
                <a:latin typeface="Calibri" pitchFamily="34" charset="0"/>
                <a:ea typeface="Calibri" pitchFamily="34" charset="-122"/>
                <a:cs typeface="Calibri" pitchFamily="34" charset="-120"/>
              </a:rPr>
              <a:t xml:space="preserve">Research access  </a:t>
            </a:r>
            <a:pPr indent="0" marL="0">
              <a:buNone/>
            </a:pPr>
            <a:r>
              <a:rPr lang="en-US" sz="950" dirty="0">
                <a:solidFill>
                  <a:srgbClr val="CBD5E1"/>
                </a:solidFill>
                <a:latin typeface="Calibri" pitchFamily="34" charset="0"/>
                <a:ea typeface="Calibri" pitchFamily="34" charset="-122"/>
                <a:cs typeface="Calibri" pitchFamily="34" charset="-120"/>
              </a:rPr>
              <a:t>TU Delft Climate Institute or Deltares for model validation.</a:t>
            </a:r>
            <a:endParaRPr lang="en-US" sz="950" dirty="0"/>
          </a:p>
        </p:txBody>
      </p:sp>
      <p:sp>
        <p:nvSpPr>
          <p:cNvPr id="32" name="Text 30"/>
          <p:cNvSpPr/>
          <p:nvPr/>
        </p:nvSpPr>
        <p:spPr>
          <a:xfrm>
            <a:off x="457200" y="4892040"/>
            <a:ext cx="8229600" cy="182880"/>
          </a:xfrm>
          <a:prstGeom prst="rect">
            <a:avLst/>
          </a:prstGeom>
          <a:noFill/>
          <a:ln/>
        </p:spPr>
        <p:txBody>
          <a:bodyPr wrap="square" rtlCol="0" anchor="ctr"/>
          <a:lstStyle/>
          <a:p>
            <a:pPr indent="0" marL="0">
              <a:buNone/>
            </a:pPr>
            <a:r>
              <a:rPr lang="en-US" sz="800" i="1" dirty="0">
                <a:solidFill>
                  <a:srgbClr val="475569"/>
                </a:solidFill>
                <a:latin typeface="Calibri" pitchFamily="34" charset="0"/>
                <a:ea typeface="Calibri" pitchFamily="34" charset="-122"/>
                <a:cs typeface="Calibri" pitchFamily="34" charset="-120"/>
              </a:rPr>
              <a:t>No prior funding received  ·  KVK 95420134  ·  BTW NL004902017B42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62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59669"/>
          </a:solidFill>
          <a:ln w="12700">
            <a:solidFill>
              <a:srgbClr val="059669"/>
            </a:solidFill>
            <a:prstDash val="solid"/>
          </a:ln>
        </p:spPr>
      </p:sp>
      <p:sp>
        <p:nvSpPr>
          <p:cNvPr id="3" name="Text 1"/>
          <p:cNvSpPr/>
          <p:nvPr/>
        </p:nvSpPr>
        <p:spPr>
          <a:xfrm>
            <a:off x="457200" y="1097280"/>
            <a:ext cx="8229600" cy="822960"/>
          </a:xfrm>
          <a:prstGeom prst="rect">
            <a:avLst/>
          </a:prstGeom>
          <a:noFill/>
          <a:ln/>
        </p:spPr>
        <p:txBody>
          <a:bodyPr wrap="square" lIns="0" tIns="0" rIns="0" bIns="0" rtlCol="0" anchor="ctr"/>
          <a:lstStyle/>
          <a:p>
            <a:pPr indent="0" marL="0">
              <a:buNone/>
            </a:pPr>
            <a:r>
              <a:rPr lang="en-US" sz="5800" b="1" dirty="0">
                <a:solidFill>
                  <a:srgbClr val="FFFFFF"/>
                </a:solidFill>
                <a:latin typeface="Georgia" pitchFamily="34" charset="0"/>
                <a:ea typeface="Georgia" pitchFamily="34" charset="-122"/>
                <a:cs typeface="Georgia" pitchFamily="34" charset="-120"/>
              </a:rPr>
              <a:t>Clim</a:t>
            </a:r>
            <a:pPr indent="0" marL="0">
              <a:buNone/>
            </a:pPr>
            <a:r>
              <a:rPr lang="en-US" sz="5800" b="1" dirty="0">
                <a:solidFill>
                  <a:srgbClr val="059669"/>
                </a:solidFill>
                <a:latin typeface="Georgia" pitchFamily="34" charset="0"/>
                <a:ea typeface="Georgia" pitchFamily="34" charset="-122"/>
                <a:cs typeface="Georgia" pitchFamily="34" charset="-120"/>
              </a:rPr>
              <a:t>Risk</a:t>
            </a:r>
            <a:endParaRPr lang="en-US" sz="5800" dirty="0"/>
          </a:p>
        </p:txBody>
      </p:sp>
      <p:sp>
        <p:nvSpPr>
          <p:cNvPr id="4" name="Text 2"/>
          <p:cNvSpPr/>
          <p:nvPr/>
        </p:nvSpPr>
        <p:spPr>
          <a:xfrm>
            <a:off x="457200" y="1965960"/>
            <a:ext cx="6400800" cy="457200"/>
          </a:xfrm>
          <a:prstGeom prst="rect">
            <a:avLst/>
          </a:prstGeom>
          <a:noFill/>
          <a:ln/>
        </p:spPr>
        <p:txBody>
          <a:bodyPr wrap="square" lIns="0" tIns="0" rIns="0" bIns="0" rtlCol="0" anchor="ctr"/>
          <a:lstStyle/>
          <a:p>
            <a:pPr indent="0" marL="0">
              <a:buNone/>
            </a:pPr>
            <a:r>
              <a:rPr lang="en-US" sz="1800" i="1" dirty="0">
                <a:solidFill>
                  <a:srgbClr val="94A3B8"/>
                </a:solidFill>
                <a:latin typeface="Georgia" pitchFamily="34" charset="0"/>
                <a:ea typeface="Georgia" pitchFamily="34" charset="-122"/>
                <a:cs typeface="Georgia" pitchFamily="34" charset="-120"/>
              </a:rPr>
              <a:t>Turning climate science into capital decisions.</a:t>
            </a:r>
            <a:endParaRPr lang="en-US" sz="1800" dirty="0"/>
          </a:p>
        </p:txBody>
      </p:sp>
      <p:sp>
        <p:nvSpPr>
          <p:cNvPr id="5" name="Shape 3"/>
          <p:cNvSpPr/>
          <p:nvPr/>
        </p:nvSpPr>
        <p:spPr>
          <a:xfrm>
            <a:off x="457200" y="2560320"/>
            <a:ext cx="4572000" cy="0"/>
          </a:xfrm>
          <a:prstGeom prst="line">
            <a:avLst/>
          </a:prstGeom>
          <a:noFill/>
          <a:ln w="19050">
            <a:solidFill>
              <a:srgbClr val="059669"/>
            </a:solidFill>
            <a:prstDash val="solid"/>
          </a:ln>
        </p:spPr>
      </p:sp>
      <p:sp>
        <p:nvSpPr>
          <p:cNvPr id="6" name="Text 4"/>
          <p:cNvSpPr/>
          <p:nvPr/>
        </p:nvSpPr>
        <p:spPr>
          <a:xfrm>
            <a:off x="457200" y="2743200"/>
            <a:ext cx="7315200" cy="34747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 xml:space="preserve">Email  </a:t>
            </a:r>
            <a:pPr indent="0" marL="0">
              <a:buNone/>
            </a:pPr>
            <a:r>
              <a:rPr lang="en-US" sz="1200" b="1" dirty="0">
                <a:solidFill>
                  <a:srgbClr val="FFFFFF"/>
                </a:solidFill>
                <a:latin typeface="Calibri" pitchFamily="34" charset="0"/>
                <a:ea typeface="Calibri" pitchFamily="34" charset="-122"/>
                <a:cs typeface="Calibri" pitchFamily="34" charset="-120"/>
              </a:rPr>
              <a:t>shri@climrisk.io</a:t>
            </a:r>
            <a:endParaRPr lang="en-US" sz="1200" dirty="0"/>
          </a:p>
        </p:txBody>
      </p:sp>
      <p:sp>
        <p:nvSpPr>
          <p:cNvPr id="7" name="Text 5"/>
          <p:cNvSpPr/>
          <p:nvPr/>
        </p:nvSpPr>
        <p:spPr>
          <a:xfrm>
            <a:off x="457200" y="3127248"/>
            <a:ext cx="7315200" cy="34747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 xml:space="preserve">Phone / WhatsApp  </a:t>
            </a:r>
            <a:pPr indent="0" marL="0">
              <a:buNone/>
            </a:pPr>
            <a:r>
              <a:rPr lang="en-US" sz="1200" b="1" dirty="0">
                <a:solidFill>
                  <a:srgbClr val="FFFFFF"/>
                </a:solidFill>
                <a:latin typeface="Calibri" pitchFamily="34" charset="0"/>
                <a:ea typeface="Calibri" pitchFamily="34" charset="-122"/>
                <a:cs typeface="Calibri" pitchFamily="34" charset="-120"/>
              </a:rPr>
              <a:t>+31 647 140 567</a:t>
            </a:r>
            <a:endParaRPr lang="en-US" sz="1200" dirty="0"/>
          </a:p>
        </p:txBody>
      </p:sp>
      <p:sp>
        <p:nvSpPr>
          <p:cNvPr id="8" name="Text 6"/>
          <p:cNvSpPr/>
          <p:nvPr/>
        </p:nvSpPr>
        <p:spPr>
          <a:xfrm>
            <a:off x="457200" y="3511296"/>
            <a:ext cx="7315200" cy="34747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 xml:space="preserve">Platform  </a:t>
            </a:r>
            <a:pPr indent="0" marL="0">
              <a:buNone/>
            </a:pPr>
            <a:r>
              <a:rPr lang="en-US" sz="1200" b="1" dirty="0">
                <a:solidFill>
                  <a:srgbClr val="FFFFFF"/>
                </a:solidFill>
                <a:latin typeface="Calibri" pitchFamily="34" charset="0"/>
                <a:ea typeface="Calibri" pitchFamily="34" charset="-122"/>
                <a:cs typeface="Calibri" pitchFamily="34" charset="-120"/>
              </a:rPr>
              <a:t>climrisk.io</a:t>
            </a:r>
            <a:endParaRPr lang="en-US" sz="1200" dirty="0"/>
          </a:p>
        </p:txBody>
      </p:sp>
      <p:sp>
        <p:nvSpPr>
          <p:cNvPr id="9" name="Text 7"/>
          <p:cNvSpPr/>
          <p:nvPr/>
        </p:nvSpPr>
        <p:spPr>
          <a:xfrm>
            <a:off x="457200" y="3895344"/>
            <a:ext cx="7315200" cy="34747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 xml:space="preserve">Demo  </a:t>
            </a:r>
            <a:pPr indent="0" marL="0">
              <a:buNone/>
            </a:pPr>
            <a:r>
              <a:rPr lang="en-US" sz="1200" b="1" dirty="0">
                <a:solidFill>
                  <a:srgbClr val="FFFFFF"/>
                </a:solidFill>
                <a:latin typeface="Calibri" pitchFamily="34" charset="0"/>
                <a:ea typeface="Calibri" pitchFamily="34" charset="-122"/>
                <a:cs typeface="Calibri" pitchFamily="34" charset="-120"/>
              </a:rPr>
              <a:t>climrisk.github.io/CRI_Demo.html</a:t>
            </a:r>
            <a:endParaRPr lang="en-US" sz="1200" dirty="0"/>
          </a:p>
        </p:txBody>
      </p:sp>
      <p:sp>
        <p:nvSpPr>
          <p:cNvPr id="10" name="Text 8"/>
          <p:cNvSpPr/>
          <p:nvPr/>
        </p:nvSpPr>
        <p:spPr>
          <a:xfrm>
            <a:off x="457200" y="4279392"/>
            <a:ext cx="7315200" cy="34747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 xml:space="preserve">KVK  </a:t>
            </a:r>
            <a:pPr indent="0" marL="0">
              <a:buNone/>
            </a:pPr>
            <a:r>
              <a:rPr lang="en-US" sz="1200" b="1" dirty="0">
                <a:solidFill>
                  <a:srgbClr val="FFFFFF"/>
                </a:solidFill>
                <a:latin typeface="Calibri" pitchFamily="34" charset="0"/>
                <a:ea typeface="Calibri" pitchFamily="34" charset="-122"/>
                <a:cs typeface="Calibri" pitchFamily="34" charset="-120"/>
              </a:rPr>
              <a:t>95420134  ·  BTW NL004902017B42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ClimRisk — Investor Pitch</dc:title>
  <dc:subject>PptxGenJS Presentation</dc:subject>
  <dc:creator>Shrinivash Dhamodhara Kannan</dc:creator>
  <cp:lastModifiedBy>Shrinivash Dhamodhara Kannan</cp:lastModifiedBy>
  <cp:revision>1</cp:revision>
  <dcterms:created xsi:type="dcterms:W3CDTF">2026-05-06T07:47:29Z</dcterms:created>
  <dcterms:modified xsi:type="dcterms:W3CDTF">2026-05-06T07:47:29Z</dcterms:modified>
</cp:coreProperties>
</file>