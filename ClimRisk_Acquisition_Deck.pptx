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8"/>
        </a:solidFill>
      </p:bgPr>
    </p:bg>
    <p:spTree>
      <p:nvGrpSpPr>
        <p:cNvPr id="1" name=""/>
        <p:cNvGrpSpPr/>
        <p:nvPr/>
      </p:nvGrpSpPr>
      <p:grpSpPr>
        <a:xfrm>
          <a:off x="0" y="0"/>
          <a:ext cx="0" cy="0"/>
          <a:chOff x="0" y="0"/>
          <a:chExt cx="0" cy="0"/>
        </a:xfrm>
      </p:grpSpPr>
      <p:sp>
        <p:nvSpPr>
          <p:cNvPr id="2" name="Text 0"/>
          <p:cNvSpPr/>
          <p:nvPr/>
        </p:nvSpPr>
        <p:spPr>
          <a:xfrm>
            <a:off x="274320" y="164592"/>
            <a:ext cx="5486400" cy="228600"/>
          </a:xfrm>
          <a:prstGeom prst="rect">
            <a:avLst/>
          </a:prstGeom>
          <a:noFill/>
          <a:ln/>
        </p:spPr>
        <p:txBody>
          <a:bodyPr wrap="square" rtlCol="0" anchor="ctr"/>
          <a:lstStyle/>
          <a:p>
            <a:pPr indent="0" marL="0">
              <a:buNone/>
            </a:pPr>
            <a:r>
              <a:rPr lang="en-US" sz="1000" dirty="0">
                <a:solidFill>
                  <a:srgbClr val="1D9E75"/>
                </a:solidFill>
                <a:latin typeface="Calibri" pitchFamily="34" charset="0"/>
                <a:ea typeface="Calibri" pitchFamily="34" charset="-122"/>
                <a:cs typeface="Calibri" pitchFamily="34" charset="-120"/>
              </a:rPr>
              <a:t>CONFIDENTIAL — For Authorised Recipients Only</a:t>
            </a:r>
            <a:endParaRPr lang="en-US" sz="1000" dirty="0"/>
          </a:p>
        </p:txBody>
      </p:sp>
      <p:sp>
        <p:nvSpPr>
          <p:cNvPr id="3" name="Text 1"/>
          <p:cNvSpPr/>
          <p:nvPr/>
        </p:nvSpPr>
        <p:spPr>
          <a:xfrm>
            <a:off x="457200" y="1645920"/>
            <a:ext cx="5943600" cy="10058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ClimRisk</a:t>
            </a:r>
            <a:endParaRPr lang="en-US" sz="5200" dirty="0"/>
          </a:p>
        </p:txBody>
      </p:sp>
      <p:sp>
        <p:nvSpPr>
          <p:cNvPr id="4" name="Text 2"/>
          <p:cNvSpPr/>
          <p:nvPr/>
        </p:nvSpPr>
        <p:spPr>
          <a:xfrm>
            <a:off x="457200" y="2743200"/>
            <a:ext cx="5943600" cy="457200"/>
          </a:xfrm>
          <a:prstGeom prst="rect">
            <a:avLst/>
          </a:prstGeom>
          <a:noFill/>
          <a:ln/>
        </p:spPr>
        <p:txBody>
          <a:bodyPr wrap="square" rtlCol="0" anchor="ctr"/>
          <a:lstStyle/>
          <a:p>
            <a:pPr indent="0" marL="0">
              <a:buNone/>
            </a:pPr>
            <a:r>
              <a:rPr lang="en-US" sz="2200" dirty="0">
                <a:solidFill>
                  <a:srgbClr val="1D9E75"/>
                </a:solidFill>
                <a:latin typeface="Calibri" pitchFamily="34" charset="0"/>
                <a:ea typeface="Calibri" pitchFamily="34" charset="-122"/>
                <a:cs typeface="Calibri" pitchFamily="34" charset="-120"/>
              </a:rPr>
              <a:t>Strategic Acquisition Opportunity</a:t>
            </a:r>
            <a:endParaRPr lang="en-US" sz="2200" dirty="0"/>
          </a:p>
        </p:txBody>
      </p:sp>
      <p:sp>
        <p:nvSpPr>
          <p:cNvPr id="5" name="Text 3"/>
          <p:cNvSpPr/>
          <p:nvPr/>
        </p:nvSpPr>
        <p:spPr>
          <a:xfrm>
            <a:off x="457200" y="3291840"/>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Climate Risk Intelligence Platform</a:t>
            </a:r>
            <a:endParaRPr lang="en-US" sz="1400" dirty="0"/>
          </a:p>
        </p:txBody>
      </p:sp>
      <p:sp>
        <p:nvSpPr>
          <p:cNvPr id="6" name="Text 4"/>
          <p:cNvSpPr/>
          <p:nvPr/>
        </p:nvSpPr>
        <p:spPr>
          <a:xfrm>
            <a:off x="274320" y="6400800"/>
            <a:ext cx="1161288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ClimRisk B.V.  ·  Amsterdam  ·  2026</a:t>
            </a:r>
            <a:endParaRPr lang="en-US" sz="1100" dirty="0"/>
          </a:p>
        </p:txBody>
      </p:sp>
      <p:sp>
        <p:nvSpPr>
          <p:cNvPr id="7" name="Shape 5"/>
          <p:cNvSpPr/>
          <p:nvPr/>
        </p:nvSpPr>
        <p:spPr>
          <a:xfrm>
            <a:off x="6858000" y="365760"/>
            <a:ext cx="5029200" cy="1828800"/>
          </a:xfrm>
          <a:prstGeom prst="rect">
            <a:avLst/>
          </a:prstGeom>
          <a:solidFill>
            <a:srgbClr val="1D9E75"/>
          </a:solidFill>
          <a:ln w="12700">
            <a:solidFill>
              <a:srgbClr val="1D9E75"/>
            </a:solidFill>
            <a:prstDash val="solid"/>
          </a:ln>
        </p:spPr>
      </p:sp>
      <p:sp>
        <p:nvSpPr>
          <p:cNvPr id="8" name="Shape 6"/>
          <p:cNvSpPr/>
          <p:nvPr/>
        </p:nvSpPr>
        <p:spPr>
          <a:xfrm>
            <a:off x="6858000" y="2377440"/>
            <a:ext cx="3474720" cy="1645920"/>
          </a:xfrm>
          <a:prstGeom prst="rect">
            <a:avLst/>
          </a:prstGeom>
          <a:solidFill>
            <a:srgbClr val="0D4F3C"/>
          </a:solidFill>
          <a:ln w="12700">
            <a:solidFill>
              <a:srgbClr val="0D4F3C"/>
            </a:solidFill>
            <a:prstDash val="solid"/>
          </a:ln>
        </p:spPr>
      </p:sp>
      <p:sp>
        <p:nvSpPr>
          <p:cNvPr id="9" name="Shape 7"/>
          <p:cNvSpPr/>
          <p:nvPr/>
        </p:nvSpPr>
        <p:spPr>
          <a:xfrm>
            <a:off x="6858000" y="4206240"/>
            <a:ext cx="5029200" cy="2286000"/>
          </a:xfrm>
          <a:prstGeom prst="rect">
            <a:avLst/>
          </a:prstGeom>
          <a:solidFill>
            <a:srgbClr val="28B485"/>
          </a:solidFill>
          <a:ln w="12700">
            <a:solidFill>
              <a:srgbClr val="28B48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228600"/>
            <a:ext cx="11612880" cy="640080"/>
          </a:xfrm>
          <a:prstGeom prst="rect">
            <a:avLst/>
          </a:prstGeom>
          <a:noFill/>
          <a:ln/>
        </p:spPr>
        <p:txBody>
          <a:bodyPr wrap="square" rtlCol="0" anchor="t"/>
          <a:lstStyle/>
          <a:p>
            <a:pPr indent="0" marL="0">
              <a:buNone/>
            </a:pPr>
            <a:r>
              <a:rPr lang="en-US" sz="3200" b="1" dirty="0">
                <a:solidFill>
                  <a:srgbClr val="0B1F38"/>
                </a:solidFill>
                <a:latin typeface="Calibri" pitchFamily="34" charset="0"/>
                <a:ea typeface="Calibri" pitchFamily="34" charset="-122"/>
                <a:cs typeface="Calibri" pitchFamily="34" charset="-120"/>
              </a:rPr>
              <a:t>The Opportunity in Three Numbers</a:t>
            </a:r>
            <a:endParaRPr lang="en-US" sz="3200" dirty="0"/>
          </a:p>
        </p:txBody>
      </p:sp>
      <p:sp>
        <p:nvSpPr>
          <p:cNvPr id="3" name="Shape 1"/>
          <p:cNvSpPr/>
          <p:nvPr/>
        </p:nvSpPr>
        <p:spPr>
          <a:xfrm>
            <a:off x="365760" y="1005840"/>
            <a:ext cx="2560320" cy="2011680"/>
          </a:xfrm>
          <a:prstGeom prst="roundRect">
            <a:avLst>
              <a:gd name="adj" fmla="val 4545"/>
            </a:avLst>
          </a:prstGeom>
          <a:solidFill>
            <a:srgbClr val="F0F4F8"/>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4" name="Text 2"/>
          <p:cNvSpPr/>
          <p:nvPr/>
        </p:nvSpPr>
        <p:spPr>
          <a:xfrm>
            <a:off x="457200" y="1143000"/>
            <a:ext cx="2377440" cy="822960"/>
          </a:xfrm>
          <a:prstGeom prst="rect">
            <a:avLst/>
          </a:prstGeom>
          <a:noFill/>
          <a:ln/>
        </p:spPr>
        <p:txBody>
          <a:bodyPr wrap="square" rtlCol="0" anchor="ctr"/>
          <a:lstStyle/>
          <a:p>
            <a:pPr algn="ctr" indent="0" marL="0">
              <a:buNone/>
            </a:pPr>
            <a:r>
              <a:rPr lang="en-US" sz="3600" b="1" dirty="0">
                <a:solidFill>
                  <a:srgbClr val="1D9E75"/>
                </a:solidFill>
                <a:latin typeface="Calibri" pitchFamily="34" charset="0"/>
                <a:ea typeface="Calibri" pitchFamily="34" charset="-122"/>
                <a:cs typeface="Calibri" pitchFamily="34" charset="-120"/>
              </a:rPr>
              <a:t>EUR 50T+</a:t>
            </a:r>
            <a:endParaRPr lang="en-US" sz="3600" dirty="0"/>
          </a:p>
        </p:txBody>
      </p:sp>
      <p:sp>
        <p:nvSpPr>
          <p:cNvPr id="5" name="Text 3"/>
          <p:cNvSpPr/>
          <p:nvPr/>
        </p:nvSpPr>
        <p:spPr>
          <a:xfrm>
            <a:off x="457200" y="2011680"/>
            <a:ext cx="2377440" cy="868680"/>
          </a:xfrm>
          <a:prstGeom prst="rect">
            <a:avLst/>
          </a:prstGeom>
          <a:noFill/>
          <a:ln/>
        </p:spPr>
        <p:txBody>
          <a:bodyPr wrap="square"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Global assets requiring CSRD and IFRS S2 climate disclosure</a:t>
            </a:r>
            <a:endParaRPr lang="en-US" sz="1100" dirty="0"/>
          </a:p>
        </p:txBody>
      </p:sp>
      <p:sp>
        <p:nvSpPr>
          <p:cNvPr id="6" name="Shape 4"/>
          <p:cNvSpPr/>
          <p:nvPr/>
        </p:nvSpPr>
        <p:spPr>
          <a:xfrm>
            <a:off x="3291840" y="1005840"/>
            <a:ext cx="2560320" cy="2011680"/>
          </a:xfrm>
          <a:prstGeom prst="roundRect">
            <a:avLst>
              <a:gd name="adj" fmla="val 4545"/>
            </a:avLst>
          </a:prstGeom>
          <a:solidFill>
            <a:srgbClr val="F0F4F8"/>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7" name="Text 5"/>
          <p:cNvSpPr/>
          <p:nvPr/>
        </p:nvSpPr>
        <p:spPr>
          <a:xfrm>
            <a:off x="3383280" y="1143000"/>
            <a:ext cx="2377440" cy="822960"/>
          </a:xfrm>
          <a:prstGeom prst="rect">
            <a:avLst/>
          </a:prstGeom>
          <a:noFill/>
          <a:ln/>
        </p:spPr>
        <p:txBody>
          <a:bodyPr wrap="square" rtlCol="0" anchor="ctr"/>
          <a:lstStyle/>
          <a:p>
            <a:pPr algn="ctr" indent="0" marL="0">
              <a:buNone/>
            </a:pPr>
            <a:r>
              <a:rPr lang="en-US" sz="3600" b="1" dirty="0">
                <a:solidFill>
                  <a:srgbClr val="1D9E75"/>
                </a:solidFill>
                <a:latin typeface="Calibri" pitchFamily="34" charset="0"/>
                <a:ea typeface="Calibri" pitchFamily="34" charset="-122"/>
                <a:cs typeface="Calibri" pitchFamily="34" charset="-120"/>
              </a:rPr>
              <a:t>50,000+</a:t>
            </a:r>
            <a:endParaRPr lang="en-US" sz="3600" dirty="0"/>
          </a:p>
        </p:txBody>
      </p:sp>
      <p:sp>
        <p:nvSpPr>
          <p:cNvPr id="8" name="Text 6"/>
          <p:cNvSpPr/>
          <p:nvPr/>
        </p:nvSpPr>
        <p:spPr>
          <a:xfrm>
            <a:off x="3383280" y="2011680"/>
            <a:ext cx="2377440" cy="868680"/>
          </a:xfrm>
          <a:prstGeom prst="rect">
            <a:avLst/>
          </a:prstGeom>
          <a:noFill/>
          <a:ln/>
        </p:spPr>
        <p:txBody>
          <a:bodyPr wrap="square"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EU companies subject to mandatory climate risk reporting</a:t>
            </a:r>
            <a:endParaRPr lang="en-US" sz="1100" dirty="0"/>
          </a:p>
        </p:txBody>
      </p:sp>
      <p:sp>
        <p:nvSpPr>
          <p:cNvPr id="9" name="Shape 7"/>
          <p:cNvSpPr/>
          <p:nvPr/>
        </p:nvSpPr>
        <p:spPr>
          <a:xfrm>
            <a:off x="6217920" y="1005840"/>
            <a:ext cx="2560320" cy="2011680"/>
          </a:xfrm>
          <a:prstGeom prst="roundRect">
            <a:avLst>
              <a:gd name="adj" fmla="val 4545"/>
            </a:avLst>
          </a:prstGeom>
          <a:solidFill>
            <a:srgbClr val="F0F4F8"/>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10" name="Text 8"/>
          <p:cNvSpPr/>
          <p:nvPr/>
        </p:nvSpPr>
        <p:spPr>
          <a:xfrm>
            <a:off x="6309360" y="1143000"/>
            <a:ext cx="2377440" cy="822960"/>
          </a:xfrm>
          <a:prstGeom prst="rect">
            <a:avLst/>
          </a:prstGeom>
          <a:noFill/>
          <a:ln/>
        </p:spPr>
        <p:txBody>
          <a:bodyPr wrap="square" rtlCol="0" anchor="ctr"/>
          <a:lstStyle/>
          <a:p>
            <a:pPr algn="ctr" indent="0" marL="0">
              <a:buNone/>
            </a:pPr>
            <a:r>
              <a:rPr lang="en-US" sz="3600" b="1" dirty="0">
                <a:solidFill>
                  <a:srgbClr val="1D9E75"/>
                </a:solidFill>
                <a:latin typeface="Calibri" pitchFamily="34" charset="0"/>
                <a:ea typeface="Calibri" pitchFamily="34" charset="-122"/>
                <a:cs typeface="Calibri" pitchFamily="34" charset="-120"/>
              </a:rPr>
              <a:t>25</a:t>
            </a:r>
            <a:endParaRPr lang="en-US" sz="3600" dirty="0"/>
          </a:p>
        </p:txBody>
      </p:sp>
      <p:sp>
        <p:nvSpPr>
          <p:cNvPr id="11" name="Text 9"/>
          <p:cNvSpPr/>
          <p:nvPr/>
        </p:nvSpPr>
        <p:spPr>
          <a:xfrm>
            <a:off x="6309360" y="2011680"/>
            <a:ext cx="2377440" cy="868680"/>
          </a:xfrm>
          <a:prstGeom prst="rect">
            <a:avLst/>
          </a:prstGeom>
          <a:noFill/>
          <a:ln/>
        </p:spPr>
        <p:txBody>
          <a:bodyPr wrap="square"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IPCC AR6 physical hazard categories modelled and GPS resolved</a:t>
            </a:r>
            <a:endParaRPr lang="en-US" sz="1100" dirty="0"/>
          </a:p>
        </p:txBody>
      </p:sp>
      <p:sp>
        <p:nvSpPr>
          <p:cNvPr id="12" name="Text 10"/>
          <p:cNvSpPr/>
          <p:nvPr/>
        </p:nvSpPr>
        <p:spPr>
          <a:xfrm>
            <a:off x="365760" y="3200400"/>
            <a:ext cx="11155680" cy="1097280"/>
          </a:xfrm>
          <a:prstGeom prst="rect">
            <a:avLst/>
          </a:prstGeom>
          <a:noFill/>
          <a:ln/>
        </p:spPr>
        <p:txBody>
          <a:bodyPr wrap="square" rtlCol="0" anchor="t"/>
          <a:lstStyle/>
          <a:p>
            <a:pPr algn="l" indent="0" marL="0">
              <a:buNone/>
            </a:pPr>
            <a:r>
              <a:rPr lang="en-US" sz="1300" dirty="0">
                <a:solidFill>
                  <a:srgbClr val="0B1F38"/>
                </a:solidFill>
                <a:latin typeface="Calibri" pitchFamily="34" charset="0"/>
                <a:ea typeface="Calibri" pitchFamily="34" charset="-122"/>
                <a:cs typeface="Calibri" pitchFamily="34" charset="-120"/>
              </a:rPr>
              <a:t>ClimRisk has built the methodology infrastructure that enterprise buyers in every target sector need and cannot build faster than they can acquire it. The engine covers physical risk, transition risk, CBAM liability, MACC abatement finance, and double materiality in a single analytical layer.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594360"/>
          </a:xfrm>
          <a:prstGeom prst="rect">
            <a:avLst/>
          </a:prstGeom>
          <a:noFill/>
          <a:ln/>
        </p:spPr>
        <p:txBody>
          <a:bodyPr wrap="square" rtlCol="0" anchor="t"/>
          <a:lstStyle/>
          <a:p>
            <a:pPr indent="0" marL="0">
              <a:buNone/>
            </a:pPr>
            <a:r>
              <a:rPr lang="en-US" sz="2600" b="1" dirty="0">
                <a:solidFill>
                  <a:srgbClr val="0B1F38"/>
                </a:solidFill>
                <a:latin typeface="Calibri" pitchFamily="34" charset="0"/>
                <a:ea typeface="Calibri" pitchFamily="34" charset="-122"/>
                <a:cs typeface="Calibri" pitchFamily="34" charset="-120"/>
              </a:rPr>
              <a:t>Disclosure Is Now Mandatory. The Market Has No Choice.</a:t>
            </a:r>
            <a:endParaRPr lang="en-US" sz="2600" dirty="0"/>
          </a:p>
        </p:txBody>
      </p:sp>
      <p:sp>
        <p:nvSpPr>
          <p:cNvPr id="3" name="Shape 1"/>
          <p:cNvSpPr/>
          <p:nvPr/>
        </p:nvSpPr>
        <p:spPr>
          <a:xfrm>
            <a:off x="457200" y="2240280"/>
            <a:ext cx="11247120" cy="73152"/>
          </a:xfrm>
          <a:prstGeom prst="rect">
            <a:avLst/>
          </a:prstGeom>
          <a:solidFill>
            <a:srgbClr val="1D9E75"/>
          </a:solidFill>
          <a:ln w="12700">
            <a:solidFill>
              <a:srgbClr val="1D9E75"/>
            </a:solidFill>
            <a:prstDash val="solid"/>
          </a:ln>
        </p:spPr>
      </p:sp>
      <p:sp>
        <p:nvSpPr>
          <p:cNvPr id="4" name="Shape 2"/>
          <p:cNvSpPr/>
          <p:nvPr/>
        </p:nvSpPr>
        <p:spPr>
          <a:xfrm>
            <a:off x="612648" y="2148840"/>
            <a:ext cx="228600" cy="228600"/>
          </a:xfrm>
          <a:prstGeom prst="ellipse">
            <a:avLst/>
          </a:prstGeom>
          <a:solidFill>
            <a:srgbClr val="1D9E75"/>
          </a:solidFill>
          <a:ln w="12700">
            <a:solidFill>
              <a:srgbClr val="1D9E75"/>
            </a:solidFill>
            <a:prstDash val="solid"/>
          </a:ln>
        </p:spPr>
      </p:sp>
      <p:sp>
        <p:nvSpPr>
          <p:cNvPr id="5" name="Text 3"/>
          <p:cNvSpPr/>
          <p:nvPr/>
        </p:nvSpPr>
        <p:spPr>
          <a:xfrm>
            <a:off x="365760" y="1417320"/>
            <a:ext cx="777240" cy="228600"/>
          </a:xfrm>
          <a:prstGeom prst="rect">
            <a:avLst/>
          </a:prstGeom>
          <a:noFill/>
          <a:ln/>
        </p:spPr>
        <p:txBody>
          <a:bodyPr wrap="square" rtlCol="0" anchor="ctr"/>
          <a:lstStyle/>
          <a:p>
            <a:pPr algn="ctr" indent="0" marL="0">
              <a:buNone/>
            </a:pPr>
            <a:r>
              <a:rPr lang="en-US" sz="1100" b="1" dirty="0">
                <a:solidFill>
                  <a:srgbClr val="0B1F38"/>
                </a:solidFill>
                <a:latin typeface="Calibri" pitchFamily="34" charset="0"/>
                <a:ea typeface="Calibri" pitchFamily="34" charset="-122"/>
                <a:cs typeface="Calibri" pitchFamily="34" charset="-120"/>
              </a:rPr>
              <a:t>2023</a:t>
            </a:r>
            <a:endParaRPr lang="en-US" sz="1100" dirty="0"/>
          </a:p>
        </p:txBody>
      </p:sp>
      <p:sp>
        <p:nvSpPr>
          <p:cNvPr id="6" name="Text 4"/>
          <p:cNvSpPr/>
          <p:nvPr/>
        </p:nvSpPr>
        <p:spPr>
          <a:xfrm>
            <a:off x="137160" y="1664208"/>
            <a:ext cx="1280160" cy="320040"/>
          </a:xfrm>
          <a:prstGeom prst="rect">
            <a:avLst/>
          </a:prstGeom>
          <a:noFill/>
          <a:ln/>
        </p:spPr>
        <p:txBody>
          <a:bodyPr wrap="square" rtlCol="0" anchor="ctr"/>
          <a:lstStyle/>
          <a:p>
            <a:pPr algn="ctr" indent="0" marL="0">
              <a:buNone/>
            </a:pPr>
            <a:r>
              <a:rPr lang="en-US" sz="1000" b="1" dirty="0">
                <a:solidFill>
                  <a:srgbClr val="0B1F38"/>
                </a:solidFill>
                <a:latin typeface="Calibri" pitchFamily="34" charset="0"/>
                <a:ea typeface="Calibri" pitchFamily="34" charset="-122"/>
                <a:cs typeface="Calibri" pitchFamily="34" charset="-120"/>
              </a:rPr>
              <a:t>CSRD activated</a:t>
            </a:r>
            <a:endParaRPr lang="en-US" sz="1000" dirty="0"/>
          </a:p>
        </p:txBody>
      </p:sp>
      <p:sp>
        <p:nvSpPr>
          <p:cNvPr id="7" name="Text 5"/>
          <p:cNvSpPr/>
          <p:nvPr/>
        </p:nvSpPr>
        <p:spPr>
          <a:xfrm>
            <a:off x="137160" y="2395728"/>
            <a:ext cx="12801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PIEs in scope</a:t>
            </a:r>
            <a:endParaRPr lang="en-US" sz="1000" dirty="0"/>
          </a:p>
        </p:txBody>
      </p:sp>
      <p:sp>
        <p:nvSpPr>
          <p:cNvPr id="8" name="Shape 6"/>
          <p:cNvSpPr/>
          <p:nvPr/>
        </p:nvSpPr>
        <p:spPr>
          <a:xfrm>
            <a:off x="2441448" y="2148840"/>
            <a:ext cx="228600" cy="228600"/>
          </a:xfrm>
          <a:prstGeom prst="ellipse">
            <a:avLst/>
          </a:prstGeom>
          <a:solidFill>
            <a:srgbClr val="1D9E75"/>
          </a:solidFill>
          <a:ln w="12700">
            <a:solidFill>
              <a:srgbClr val="1D9E75"/>
            </a:solidFill>
            <a:prstDash val="solid"/>
          </a:ln>
        </p:spPr>
      </p:sp>
      <p:sp>
        <p:nvSpPr>
          <p:cNvPr id="9" name="Text 7"/>
          <p:cNvSpPr/>
          <p:nvPr/>
        </p:nvSpPr>
        <p:spPr>
          <a:xfrm>
            <a:off x="2194560" y="1417320"/>
            <a:ext cx="777240" cy="228600"/>
          </a:xfrm>
          <a:prstGeom prst="rect">
            <a:avLst/>
          </a:prstGeom>
          <a:noFill/>
          <a:ln/>
        </p:spPr>
        <p:txBody>
          <a:bodyPr wrap="square" rtlCol="0" anchor="ctr"/>
          <a:lstStyle/>
          <a:p>
            <a:pPr algn="ctr" indent="0" marL="0">
              <a:buNone/>
            </a:pPr>
            <a:r>
              <a:rPr lang="en-US" sz="1100" b="1" dirty="0">
                <a:solidFill>
                  <a:srgbClr val="0B1F38"/>
                </a:solidFill>
                <a:latin typeface="Calibri" pitchFamily="34" charset="0"/>
                <a:ea typeface="Calibri" pitchFamily="34" charset="-122"/>
                <a:cs typeface="Calibri" pitchFamily="34" charset="-120"/>
              </a:rPr>
              <a:t>2024</a:t>
            </a:r>
            <a:endParaRPr lang="en-US" sz="1100" dirty="0"/>
          </a:p>
        </p:txBody>
      </p:sp>
      <p:sp>
        <p:nvSpPr>
          <p:cNvPr id="10" name="Text 8"/>
          <p:cNvSpPr/>
          <p:nvPr/>
        </p:nvSpPr>
        <p:spPr>
          <a:xfrm>
            <a:off x="1965960" y="1664208"/>
            <a:ext cx="1280160" cy="320040"/>
          </a:xfrm>
          <a:prstGeom prst="rect">
            <a:avLst/>
          </a:prstGeom>
          <a:noFill/>
          <a:ln/>
        </p:spPr>
        <p:txBody>
          <a:bodyPr wrap="square" rtlCol="0" anchor="ctr"/>
          <a:lstStyle/>
          <a:p>
            <a:pPr algn="ctr" indent="0" marL="0">
              <a:buNone/>
            </a:pPr>
            <a:r>
              <a:rPr lang="en-US" sz="1000" b="1" dirty="0">
                <a:solidFill>
                  <a:srgbClr val="0B1F38"/>
                </a:solidFill>
                <a:latin typeface="Calibri" pitchFamily="34" charset="0"/>
                <a:ea typeface="Calibri" pitchFamily="34" charset="-122"/>
                <a:cs typeface="Calibri" pitchFamily="34" charset="-120"/>
              </a:rPr>
              <a:t>IFRS S2 effective</a:t>
            </a:r>
            <a:endParaRPr lang="en-US" sz="1000" dirty="0"/>
          </a:p>
        </p:txBody>
      </p:sp>
      <p:sp>
        <p:nvSpPr>
          <p:cNvPr id="11" name="Text 9"/>
          <p:cNvSpPr/>
          <p:nvPr/>
        </p:nvSpPr>
        <p:spPr>
          <a:xfrm>
            <a:off x="1965960" y="2395728"/>
            <a:ext cx="12801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140 jurisdictions</a:t>
            </a:r>
            <a:endParaRPr lang="en-US" sz="1000" dirty="0"/>
          </a:p>
        </p:txBody>
      </p:sp>
      <p:sp>
        <p:nvSpPr>
          <p:cNvPr id="12" name="Shape 10"/>
          <p:cNvSpPr/>
          <p:nvPr/>
        </p:nvSpPr>
        <p:spPr>
          <a:xfrm>
            <a:off x="4270248" y="2148840"/>
            <a:ext cx="228600" cy="228600"/>
          </a:xfrm>
          <a:prstGeom prst="ellipse">
            <a:avLst/>
          </a:prstGeom>
          <a:solidFill>
            <a:srgbClr val="1D9E75"/>
          </a:solidFill>
          <a:ln w="12700">
            <a:solidFill>
              <a:srgbClr val="1D9E75"/>
            </a:solidFill>
            <a:prstDash val="solid"/>
          </a:ln>
        </p:spPr>
      </p:sp>
      <p:sp>
        <p:nvSpPr>
          <p:cNvPr id="13" name="Text 11"/>
          <p:cNvSpPr/>
          <p:nvPr/>
        </p:nvSpPr>
        <p:spPr>
          <a:xfrm>
            <a:off x="4023360" y="1417320"/>
            <a:ext cx="777240" cy="228600"/>
          </a:xfrm>
          <a:prstGeom prst="rect">
            <a:avLst/>
          </a:prstGeom>
          <a:noFill/>
          <a:ln/>
        </p:spPr>
        <p:txBody>
          <a:bodyPr wrap="square" rtlCol="0" anchor="ctr"/>
          <a:lstStyle/>
          <a:p>
            <a:pPr algn="ctr" indent="0" marL="0">
              <a:buNone/>
            </a:pPr>
            <a:r>
              <a:rPr lang="en-US" sz="1100" b="1" dirty="0">
                <a:solidFill>
                  <a:srgbClr val="0B1F38"/>
                </a:solidFill>
                <a:latin typeface="Calibri" pitchFamily="34" charset="0"/>
                <a:ea typeface="Calibri" pitchFamily="34" charset="-122"/>
                <a:cs typeface="Calibri" pitchFamily="34" charset="-120"/>
              </a:rPr>
              <a:t>2025</a:t>
            </a:r>
            <a:endParaRPr lang="en-US" sz="1100" dirty="0"/>
          </a:p>
        </p:txBody>
      </p:sp>
      <p:sp>
        <p:nvSpPr>
          <p:cNvPr id="14" name="Text 12"/>
          <p:cNvSpPr/>
          <p:nvPr/>
        </p:nvSpPr>
        <p:spPr>
          <a:xfrm>
            <a:off x="3794760" y="1664208"/>
            <a:ext cx="1280160" cy="320040"/>
          </a:xfrm>
          <a:prstGeom prst="rect">
            <a:avLst/>
          </a:prstGeom>
          <a:noFill/>
          <a:ln/>
        </p:spPr>
        <p:txBody>
          <a:bodyPr wrap="square" rtlCol="0" anchor="ctr"/>
          <a:lstStyle/>
          <a:p>
            <a:pPr algn="ctr" indent="0" marL="0">
              <a:buNone/>
            </a:pPr>
            <a:r>
              <a:rPr lang="en-US" sz="1000" b="1" dirty="0">
                <a:solidFill>
                  <a:srgbClr val="0B1F38"/>
                </a:solidFill>
                <a:latin typeface="Calibri" pitchFamily="34" charset="0"/>
                <a:ea typeface="Calibri" pitchFamily="34" charset="-122"/>
                <a:cs typeface="Calibri" pitchFamily="34" charset="-120"/>
              </a:rPr>
              <a:t>CSRD Phase 2</a:t>
            </a:r>
            <a:endParaRPr lang="en-US" sz="1000" dirty="0"/>
          </a:p>
        </p:txBody>
      </p:sp>
      <p:sp>
        <p:nvSpPr>
          <p:cNvPr id="15" name="Text 13"/>
          <p:cNvSpPr/>
          <p:nvPr/>
        </p:nvSpPr>
        <p:spPr>
          <a:xfrm>
            <a:off x="3794760" y="2395728"/>
            <a:ext cx="12801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Large companies</a:t>
            </a:r>
            <a:endParaRPr lang="en-US" sz="1000" dirty="0"/>
          </a:p>
        </p:txBody>
      </p:sp>
      <p:sp>
        <p:nvSpPr>
          <p:cNvPr id="16" name="Shape 14"/>
          <p:cNvSpPr/>
          <p:nvPr/>
        </p:nvSpPr>
        <p:spPr>
          <a:xfrm>
            <a:off x="6099048" y="2148840"/>
            <a:ext cx="228600" cy="228600"/>
          </a:xfrm>
          <a:prstGeom prst="ellipse">
            <a:avLst/>
          </a:prstGeom>
          <a:solidFill>
            <a:srgbClr val="1D9E75"/>
          </a:solidFill>
          <a:ln w="12700">
            <a:solidFill>
              <a:srgbClr val="1D9E75"/>
            </a:solidFill>
            <a:prstDash val="solid"/>
          </a:ln>
        </p:spPr>
      </p:sp>
      <p:sp>
        <p:nvSpPr>
          <p:cNvPr id="17" name="Text 15"/>
          <p:cNvSpPr/>
          <p:nvPr/>
        </p:nvSpPr>
        <p:spPr>
          <a:xfrm>
            <a:off x="5852160" y="1417320"/>
            <a:ext cx="777240" cy="228600"/>
          </a:xfrm>
          <a:prstGeom prst="rect">
            <a:avLst/>
          </a:prstGeom>
          <a:noFill/>
          <a:ln/>
        </p:spPr>
        <p:txBody>
          <a:bodyPr wrap="square" rtlCol="0" anchor="ctr"/>
          <a:lstStyle/>
          <a:p>
            <a:pPr algn="ctr" indent="0" marL="0">
              <a:buNone/>
            </a:pPr>
            <a:r>
              <a:rPr lang="en-US" sz="1100" b="1" dirty="0">
                <a:solidFill>
                  <a:srgbClr val="0B1F38"/>
                </a:solidFill>
                <a:latin typeface="Calibri" pitchFamily="34" charset="0"/>
                <a:ea typeface="Calibri" pitchFamily="34" charset="-122"/>
                <a:cs typeface="Calibri" pitchFamily="34" charset="-120"/>
              </a:rPr>
              <a:t>2026</a:t>
            </a:r>
            <a:endParaRPr lang="en-US" sz="1100" dirty="0"/>
          </a:p>
        </p:txBody>
      </p:sp>
      <p:sp>
        <p:nvSpPr>
          <p:cNvPr id="18" name="Text 16"/>
          <p:cNvSpPr/>
          <p:nvPr/>
        </p:nvSpPr>
        <p:spPr>
          <a:xfrm>
            <a:off x="5623560" y="1664208"/>
            <a:ext cx="1280160" cy="320040"/>
          </a:xfrm>
          <a:prstGeom prst="rect">
            <a:avLst/>
          </a:prstGeom>
          <a:noFill/>
          <a:ln/>
        </p:spPr>
        <p:txBody>
          <a:bodyPr wrap="square" rtlCol="0" anchor="ctr"/>
          <a:lstStyle/>
          <a:p>
            <a:pPr algn="ctr" indent="0" marL="0">
              <a:buNone/>
            </a:pPr>
            <a:r>
              <a:rPr lang="en-US" sz="1000" b="1" dirty="0">
                <a:solidFill>
                  <a:srgbClr val="0B1F38"/>
                </a:solidFill>
                <a:latin typeface="Calibri" pitchFamily="34" charset="0"/>
                <a:ea typeface="Calibri" pitchFamily="34" charset="-122"/>
                <a:cs typeface="Calibri" pitchFamily="34" charset="-120"/>
              </a:rPr>
              <a:t>CBAM full obligation</a:t>
            </a:r>
            <a:endParaRPr lang="en-US" sz="1000" dirty="0"/>
          </a:p>
        </p:txBody>
      </p:sp>
      <p:sp>
        <p:nvSpPr>
          <p:cNvPr id="19" name="Text 17"/>
          <p:cNvSpPr/>
          <p:nvPr/>
        </p:nvSpPr>
        <p:spPr>
          <a:xfrm>
            <a:off x="5623560" y="2395728"/>
            <a:ext cx="12801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BRSR Core India</a:t>
            </a:r>
            <a:endParaRPr lang="en-US" sz="1000" dirty="0"/>
          </a:p>
        </p:txBody>
      </p:sp>
      <p:sp>
        <p:nvSpPr>
          <p:cNvPr id="20" name="Shape 18"/>
          <p:cNvSpPr/>
          <p:nvPr/>
        </p:nvSpPr>
        <p:spPr>
          <a:xfrm>
            <a:off x="8567928" y="2148840"/>
            <a:ext cx="228600" cy="228600"/>
          </a:xfrm>
          <a:prstGeom prst="ellipse">
            <a:avLst/>
          </a:prstGeom>
          <a:solidFill>
            <a:srgbClr val="1D9E75"/>
          </a:solidFill>
          <a:ln w="12700">
            <a:solidFill>
              <a:srgbClr val="1D9E75"/>
            </a:solidFill>
            <a:prstDash val="solid"/>
          </a:ln>
        </p:spPr>
      </p:sp>
      <p:sp>
        <p:nvSpPr>
          <p:cNvPr id="21" name="Text 19"/>
          <p:cNvSpPr/>
          <p:nvPr/>
        </p:nvSpPr>
        <p:spPr>
          <a:xfrm>
            <a:off x="8321040" y="1417320"/>
            <a:ext cx="777240" cy="228600"/>
          </a:xfrm>
          <a:prstGeom prst="rect">
            <a:avLst/>
          </a:prstGeom>
          <a:noFill/>
          <a:ln/>
        </p:spPr>
        <p:txBody>
          <a:bodyPr wrap="square" rtlCol="0" anchor="ctr"/>
          <a:lstStyle/>
          <a:p>
            <a:pPr algn="ctr" indent="0" marL="0">
              <a:buNone/>
            </a:pPr>
            <a:r>
              <a:rPr lang="en-US" sz="1100" b="1" dirty="0">
                <a:solidFill>
                  <a:srgbClr val="0B1F38"/>
                </a:solidFill>
                <a:latin typeface="Calibri" pitchFamily="34" charset="0"/>
                <a:ea typeface="Calibri" pitchFamily="34" charset="-122"/>
                <a:cs typeface="Calibri" pitchFamily="34" charset="-120"/>
              </a:rPr>
              <a:t>2027</a:t>
            </a:r>
            <a:endParaRPr lang="en-US" sz="1100" dirty="0"/>
          </a:p>
        </p:txBody>
      </p:sp>
      <p:sp>
        <p:nvSpPr>
          <p:cNvPr id="22" name="Text 20"/>
          <p:cNvSpPr/>
          <p:nvPr/>
        </p:nvSpPr>
        <p:spPr>
          <a:xfrm>
            <a:off x="8092440" y="1664208"/>
            <a:ext cx="1280160" cy="320040"/>
          </a:xfrm>
          <a:prstGeom prst="rect">
            <a:avLst/>
          </a:prstGeom>
          <a:noFill/>
          <a:ln/>
        </p:spPr>
        <p:txBody>
          <a:bodyPr wrap="square" rtlCol="0" anchor="ctr"/>
          <a:lstStyle/>
          <a:p>
            <a:pPr algn="ctr" indent="0" marL="0">
              <a:buNone/>
            </a:pPr>
            <a:r>
              <a:rPr lang="en-US" sz="1000" b="1" dirty="0">
                <a:solidFill>
                  <a:srgbClr val="0B1F38"/>
                </a:solidFill>
                <a:latin typeface="Calibri" pitchFamily="34" charset="0"/>
                <a:ea typeface="Calibri" pitchFamily="34" charset="-122"/>
                <a:cs typeface="Calibri" pitchFamily="34" charset="-120"/>
              </a:rPr>
              <a:t>CSRD Phase 3</a:t>
            </a:r>
            <a:endParaRPr lang="en-US" sz="1000" dirty="0"/>
          </a:p>
        </p:txBody>
      </p:sp>
      <p:sp>
        <p:nvSpPr>
          <p:cNvPr id="23" name="Text 21"/>
          <p:cNvSpPr/>
          <p:nvPr/>
        </p:nvSpPr>
        <p:spPr>
          <a:xfrm>
            <a:off x="8092440" y="2395728"/>
            <a:ext cx="128016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SMEs, NGFS stress testing</a:t>
            </a:r>
            <a:endParaRPr lang="en-US" sz="1000" dirty="0"/>
          </a:p>
        </p:txBody>
      </p:sp>
      <p:sp>
        <p:nvSpPr>
          <p:cNvPr id="24" name="Shape 22"/>
          <p:cNvSpPr/>
          <p:nvPr/>
        </p:nvSpPr>
        <p:spPr>
          <a:xfrm>
            <a:off x="274320" y="2971800"/>
            <a:ext cx="5760720" cy="1828800"/>
          </a:xfrm>
          <a:prstGeom prst="rect">
            <a:avLst/>
          </a:prstGeom>
          <a:solidFill>
            <a:srgbClr val="F0F4F8"/>
          </a:solidFill>
          <a:ln w="12700">
            <a:solidFill>
              <a:srgbClr val="F0F4F8"/>
            </a:solidFill>
            <a:prstDash val="solid"/>
          </a:ln>
        </p:spPr>
      </p:sp>
      <p:sp>
        <p:nvSpPr>
          <p:cNvPr id="25" name="Text 23"/>
          <p:cNvSpPr/>
          <p:nvPr/>
        </p:nvSpPr>
        <p:spPr>
          <a:xfrm>
            <a:off x="411480" y="3063240"/>
            <a:ext cx="5486400" cy="1645920"/>
          </a:xfrm>
          <a:prstGeom prst="rect">
            <a:avLst/>
          </a:prstGeom>
          <a:noFill/>
          <a:ln/>
        </p:spPr>
        <p:txBody>
          <a:bodyPr wrap="square" rtlCol="0" anchor="t"/>
          <a:lstStyle/>
          <a:p>
            <a:pPr indent="0" marL="0">
              <a:buNone/>
            </a:pPr>
            <a:r>
              <a:rPr lang="en-US" sz="1300" b="1" dirty="0">
                <a:solidFill>
                  <a:srgbClr val="0B1F38"/>
                </a:solidFill>
                <a:latin typeface="Calibri" pitchFamily="34" charset="0"/>
                <a:ea typeface="Calibri" pitchFamily="34" charset="-122"/>
                <a:cs typeface="Calibri" pitchFamily="34" charset="-120"/>
              </a:rPr>
              <a:t>The audit problem
</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Climate disclosures are now audited like financial filings. Estimates are no longer acceptable. Companies need verifiable independent methodology with a documented audit trail.</a:t>
            </a:r>
            <a:endParaRPr lang="en-US" sz="1300" dirty="0"/>
          </a:p>
        </p:txBody>
      </p:sp>
      <p:sp>
        <p:nvSpPr>
          <p:cNvPr id="26" name="Shape 24"/>
          <p:cNvSpPr/>
          <p:nvPr/>
        </p:nvSpPr>
        <p:spPr>
          <a:xfrm>
            <a:off x="6309360" y="2971800"/>
            <a:ext cx="5760720" cy="1828800"/>
          </a:xfrm>
          <a:prstGeom prst="rect">
            <a:avLst/>
          </a:prstGeom>
          <a:solidFill>
            <a:srgbClr val="F0F4F8"/>
          </a:solidFill>
          <a:ln w="12700">
            <a:solidFill>
              <a:srgbClr val="F0F4F8"/>
            </a:solidFill>
            <a:prstDash val="solid"/>
          </a:ln>
        </p:spPr>
      </p:sp>
      <p:sp>
        <p:nvSpPr>
          <p:cNvPr id="27" name="Text 25"/>
          <p:cNvSpPr/>
          <p:nvPr/>
        </p:nvSpPr>
        <p:spPr>
          <a:xfrm>
            <a:off x="6446520" y="3063240"/>
            <a:ext cx="5486400" cy="1645920"/>
          </a:xfrm>
          <a:prstGeom prst="rect">
            <a:avLst/>
          </a:prstGeom>
          <a:noFill/>
          <a:ln/>
        </p:spPr>
        <p:txBody>
          <a:bodyPr wrap="square" rtlCol="0" anchor="t"/>
          <a:lstStyle/>
          <a:p>
            <a:pPr indent="0" marL="0">
              <a:buNone/>
            </a:pPr>
            <a:r>
              <a:rPr lang="en-US" sz="1300" b="1" dirty="0">
                <a:solidFill>
                  <a:srgbClr val="0B1F38"/>
                </a:solidFill>
                <a:latin typeface="Calibri" pitchFamily="34" charset="0"/>
                <a:ea typeface="Calibri" pitchFamily="34" charset="-122"/>
                <a:cs typeface="Calibri" pitchFamily="34" charset="-120"/>
              </a:rPr>
              <a:t>The build problem
</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Building equivalent methodology internally takes 18 to 24 months and 4 to 6 senior hires. Acquisition delivers the same capability in 90 days.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685800"/>
          </a:xfrm>
          <a:prstGeom prst="rect">
            <a:avLst/>
          </a:prstGeom>
          <a:noFill/>
          <a:ln/>
        </p:spPr>
        <p:txBody>
          <a:bodyPr wrap="square" rtlCol="0" anchor="t"/>
          <a:lstStyle/>
          <a:p>
            <a:pPr indent="0" marL="0">
              <a:buNone/>
            </a:pPr>
            <a:r>
              <a:rPr lang="en-US" sz="2400" b="1" dirty="0">
                <a:solidFill>
                  <a:srgbClr val="0B1F38"/>
                </a:solidFill>
                <a:latin typeface="Calibri" pitchFamily="34" charset="0"/>
                <a:ea typeface="Calibri" pitchFamily="34" charset="-122"/>
                <a:cs typeface="Calibri" pitchFamily="34" charset="-120"/>
              </a:rPr>
              <a:t>One Analyst with ClimRisk Does the Work of an Eight Person Team</a:t>
            </a:r>
            <a:endParaRPr lang="en-US" sz="2400" dirty="0"/>
          </a:p>
        </p:txBody>
      </p:sp>
      <p:sp>
        <p:nvSpPr>
          <p:cNvPr id="3" name="Shape 1"/>
          <p:cNvSpPr/>
          <p:nvPr/>
        </p:nvSpPr>
        <p:spPr>
          <a:xfrm>
            <a:off x="274320" y="1005840"/>
            <a:ext cx="5486400" cy="5303520"/>
          </a:xfrm>
          <a:prstGeom prst="rect">
            <a:avLst/>
          </a:prstGeom>
          <a:solidFill>
            <a:srgbClr val="FFF1F2"/>
          </a:solidFill>
          <a:ln w="19050">
            <a:solidFill>
              <a:srgbClr val="DC2626"/>
            </a:solidFill>
            <a:prstDash val="solid"/>
          </a:ln>
        </p:spPr>
      </p:sp>
      <p:sp>
        <p:nvSpPr>
          <p:cNvPr id="4" name="Text 2"/>
          <p:cNvSpPr/>
          <p:nvPr/>
        </p:nvSpPr>
        <p:spPr>
          <a:xfrm>
            <a:off x="457200" y="1143000"/>
            <a:ext cx="5120640" cy="365760"/>
          </a:xfrm>
          <a:prstGeom prst="rect">
            <a:avLst/>
          </a:prstGeom>
          <a:noFill/>
          <a:ln/>
        </p:spPr>
        <p:txBody>
          <a:bodyPr wrap="square"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Without ClimRisk</a:t>
            </a:r>
            <a:endParaRPr lang="en-US" sz="1400" dirty="0"/>
          </a:p>
        </p:txBody>
      </p:sp>
      <p:sp>
        <p:nvSpPr>
          <p:cNvPr id="5" name="Text 3"/>
          <p:cNvSpPr/>
          <p:nvPr/>
        </p:nvSpPr>
        <p:spPr>
          <a:xfrm>
            <a:off x="457200" y="1600200"/>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3 to 6 weeks per company assessment</a:t>
            </a:r>
            <a:endParaRPr lang="en-US" sz="1100" dirty="0"/>
          </a:p>
        </p:txBody>
      </p:sp>
      <p:sp>
        <p:nvSpPr>
          <p:cNvPr id="6" name="Text 4"/>
          <p:cNvSpPr/>
          <p:nvPr/>
        </p:nvSpPr>
        <p:spPr>
          <a:xfrm>
            <a:off x="457200" y="2350008"/>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Four separate tools with no shared audit trail</a:t>
            </a:r>
            <a:endParaRPr lang="en-US" sz="1100" dirty="0"/>
          </a:p>
        </p:txBody>
      </p:sp>
      <p:sp>
        <p:nvSpPr>
          <p:cNvPr id="7" name="Text 5"/>
          <p:cNvSpPr/>
          <p:nvPr/>
        </p:nvSpPr>
        <p:spPr>
          <a:xfrm>
            <a:off x="457200" y="3099816"/>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Manual Scope 3 estimation at 40 percent uncertainty</a:t>
            </a:r>
            <a:endParaRPr lang="en-US" sz="1100" dirty="0"/>
          </a:p>
        </p:txBody>
      </p:sp>
      <p:sp>
        <p:nvSpPr>
          <p:cNvPr id="8" name="Text 6"/>
          <p:cNvSpPr/>
          <p:nvPr/>
        </p:nvSpPr>
        <p:spPr>
          <a:xfrm>
            <a:off x="457200" y="3849624"/>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No documented materiality threshold defense</a:t>
            </a:r>
            <a:endParaRPr lang="en-US" sz="1100" dirty="0"/>
          </a:p>
        </p:txBody>
      </p:sp>
      <p:sp>
        <p:nvSpPr>
          <p:cNvPr id="9" name="Text 7"/>
          <p:cNvSpPr/>
          <p:nvPr/>
        </p:nvSpPr>
        <p:spPr>
          <a:xfrm>
            <a:off x="457200" y="4599432"/>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CBAM liability unknown until invoice arrives</a:t>
            </a:r>
            <a:endParaRPr lang="en-US" sz="1100" dirty="0"/>
          </a:p>
        </p:txBody>
      </p:sp>
      <p:sp>
        <p:nvSpPr>
          <p:cNvPr id="10" name="Text 8"/>
          <p:cNvSpPr/>
          <p:nvPr/>
        </p:nvSpPr>
        <p:spPr>
          <a:xfrm>
            <a:off x="457200" y="5349240"/>
            <a:ext cx="5120640" cy="640080"/>
          </a:xfrm>
          <a:prstGeom prst="rect">
            <a:avLst/>
          </a:prstGeom>
          <a:noFill/>
          <a:ln/>
        </p:spPr>
        <p:txBody>
          <a:bodyPr wrap="square" rtlCol="0" anchor="ctr"/>
          <a:lstStyle/>
          <a:p>
            <a:pPr marL="342900" indent="-342900">
              <a:buSzPct val="100000"/>
              <a:buChar char="✗"/>
            </a:pPr>
            <a:r>
              <a:rPr lang="en-US" sz="1100" dirty="0">
                <a:solidFill>
                  <a:srgbClr val="DC2626"/>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MACC built in Excel over two weeks</a:t>
            </a:r>
            <a:endParaRPr lang="en-US" sz="1100" dirty="0"/>
          </a:p>
        </p:txBody>
      </p:sp>
      <p:sp>
        <p:nvSpPr>
          <p:cNvPr id="11" name="Shape 9"/>
          <p:cNvSpPr/>
          <p:nvPr/>
        </p:nvSpPr>
        <p:spPr>
          <a:xfrm>
            <a:off x="6400800" y="1005840"/>
            <a:ext cx="5486400" cy="5303520"/>
          </a:xfrm>
          <a:prstGeom prst="rect">
            <a:avLst/>
          </a:prstGeom>
          <a:solidFill>
            <a:srgbClr val="F0FDF4"/>
          </a:solidFill>
          <a:ln w="19050">
            <a:solidFill>
              <a:srgbClr val="1D9E75"/>
            </a:solidFill>
            <a:prstDash val="solid"/>
          </a:ln>
        </p:spPr>
      </p:sp>
      <p:sp>
        <p:nvSpPr>
          <p:cNvPr id="12" name="Text 10"/>
          <p:cNvSpPr/>
          <p:nvPr/>
        </p:nvSpPr>
        <p:spPr>
          <a:xfrm>
            <a:off x="6583680" y="1143000"/>
            <a:ext cx="5120640" cy="365760"/>
          </a:xfrm>
          <a:prstGeom prst="rect">
            <a:avLst/>
          </a:prstGeom>
          <a:noFill/>
          <a:ln/>
        </p:spPr>
        <p:txBody>
          <a:bodyPr wrap="square" rtlCol="0" anchor="ctr"/>
          <a:lstStyle/>
          <a:p>
            <a:pPr indent="0" marL="0">
              <a:buNone/>
            </a:pPr>
            <a:r>
              <a:rPr lang="en-US" sz="1400" b="1" dirty="0">
                <a:solidFill>
                  <a:srgbClr val="1D9E75"/>
                </a:solidFill>
                <a:latin typeface="Calibri" pitchFamily="34" charset="0"/>
                <a:ea typeface="Calibri" pitchFamily="34" charset="-122"/>
                <a:cs typeface="Calibri" pitchFamily="34" charset="-120"/>
              </a:rPr>
              <a:t>With ClimRisk</a:t>
            </a:r>
            <a:endParaRPr lang="en-US" sz="1400" dirty="0"/>
          </a:p>
        </p:txBody>
      </p:sp>
      <p:sp>
        <p:nvSpPr>
          <p:cNvPr id="13" name="Text 11"/>
          <p:cNvSpPr/>
          <p:nvPr/>
        </p:nvSpPr>
        <p:spPr>
          <a:xfrm>
            <a:off x="6583680" y="1600200"/>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Full assessment in 20 minutes</a:t>
            </a:r>
            <a:endParaRPr lang="en-US" sz="1100" dirty="0"/>
          </a:p>
        </p:txBody>
      </p:sp>
      <p:sp>
        <p:nvSpPr>
          <p:cNvPr id="14" name="Text 12"/>
          <p:cNvSpPr/>
          <p:nvPr/>
        </p:nvSpPr>
        <p:spPr>
          <a:xfrm>
            <a:off x="6583680" y="2350008"/>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25 hazards and 4 NGFS scenarios in one engine</a:t>
            </a:r>
            <a:endParaRPr lang="en-US" sz="1100" dirty="0"/>
          </a:p>
        </p:txBody>
      </p:sp>
      <p:sp>
        <p:nvSpPr>
          <p:cNvPr id="15" name="Text 13"/>
          <p:cNvSpPr/>
          <p:nvPr/>
        </p:nvSpPr>
        <p:spPr>
          <a:xfrm>
            <a:off x="6583680" y="3099816"/>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Scope 2 from energy source carbon intensity, physics calibrated</a:t>
            </a:r>
            <a:endParaRPr lang="en-US" sz="1100" dirty="0"/>
          </a:p>
        </p:txBody>
      </p:sp>
      <p:sp>
        <p:nvSpPr>
          <p:cNvPr id="16" name="Text 14"/>
          <p:cNvSpPr/>
          <p:nvPr/>
        </p:nvSpPr>
        <p:spPr>
          <a:xfrm>
            <a:off x="6583680" y="3849624"/>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Full materiality audit trail: CSRD and ESRS 1 compliant</a:t>
            </a:r>
            <a:endParaRPr lang="en-US" sz="1100" dirty="0"/>
          </a:p>
        </p:txBody>
      </p:sp>
      <p:sp>
        <p:nvSpPr>
          <p:cNvPr id="17" name="Text 15"/>
          <p:cNvSpPr/>
          <p:nvPr/>
        </p:nvSpPr>
        <p:spPr>
          <a:xfrm>
            <a:off x="6583680" y="4599432"/>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CBAM certificate cost calculated automatically</a:t>
            </a:r>
            <a:endParaRPr lang="en-US" sz="1100" dirty="0"/>
          </a:p>
        </p:txBody>
      </p:sp>
      <p:sp>
        <p:nvSpPr>
          <p:cNvPr id="18" name="Text 16"/>
          <p:cNvSpPr/>
          <p:nvPr/>
        </p:nvSpPr>
        <p:spPr>
          <a:xfrm>
            <a:off x="6583680" y="5349240"/>
            <a:ext cx="5120640" cy="640080"/>
          </a:xfrm>
          <a:prstGeom prst="rect">
            <a:avLst/>
          </a:prstGeom>
          <a:noFill/>
          <a:ln/>
        </p:spPr>
        <p:txBody>
          <a:bodyPr wrap="square" rtlCol="0" anchor="ctr"/>
          <a:lstStyle/>
          <a:p>
            <a:pPr marL="342900" indent="-342900">
              <a:buSzPct val="100000"/>
              <a:buChar char="✓"/>
            </a:pPr>
            <a:r>
              <a:rPr lang="en-US" sz="1100" dirty="0">
                <a:solidFill>
                  <a:srgbClr val="1D9E75"/>
                </a:solidFill>
                <a:latin typeface="Calibri" pitchFamily="34" charset="0"/>
                <a:ea typeface="Calibri" pitchFamily="34" charset="-122"/>
                <a:cs typeface="Calibri" pitchFamily="34" charset="-120"/>
              </a:rPr>
              <a:t>  </a:t>
            </a:r>
            <a:pPr indent="0" marL="0">
              <a:buNone/>
            </a:pPr>
            <a:r>
              <a:rPr lang="en-US" sz="1100" dirty="0">
                <a:solidFill>
                  <a:srgbClr val="0B1F38"/>
                </a:solidFill>
                <a:latin typeface="Calibri" pitchFamily="34" charset="0"/>
                <a:ea typeface="Calibri" pitchFamily="34" charset="-122"/>
                <a:cs typeface="Calibri" pitchFamily="34" charset="-120"/>
              </a:rPr>
              <a:t>MACC with SLL structuring table: instant output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8"/>
        </a:solidFill>
      </p:bgPr>
    </p:bg>
    <p:spTree>
      <p:nvGrpSpPr>
        <p:cNvPr id="1" name=""/>
        <p:cNvGrpSpPr/>
        <p:nvPr/>
      </p:nvGrpSpPr>
      <p:grpSpPr>
        <a:xfrm>
          <a:off x="0" y="0"/>
          <a:ext cx="0" cy="0"/>
          <a:chOff x="0" y="0"/>
          <a:chExt cx="0" cy="0"/>
        </a:xfrm>
      </p:grpSpPr>
      <p:sp>
        <p:nvSpPr>
          <p:cNvPr id="2" name="Text 0"/>
          <p:cNvSpPr/>
          <p:nvPr/>
        </p:nvSpPr>
        <p:spPr>
          <a:xfrm>
            <a:off x="274320" y="274320"/>
            <a:ext cx="118872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ClimRisk Intelligence Platform v0.4</a:t>
            </a:r>
            <a:endParaRPr lang="en-US" sz="3200" dirty="0"/>
          </a:p>
        </p:txBody>
      </p:sp>
      <p:sp>
        <p:nvSpPr>
          <p:cNvPr id="3" name="Text 1"/>
          <p:cNvSpPr/>
          <p:nvPr/>
        </p:nvSpPr>
        <p:spPr>
          <a:xfrm>
            <a:off x="274320" y="868680"/>
            <a:ext cx="11887200" cy="365760"/>
          </a:xfrm>
          <a:prstGeom prst="rect">
            <a:avLst/>
          </a:prstGeom>
          <a:noFill/>
          <a:ln/>
        </p:spPr>
        <p:txBody>
          <a:bodyPr wrap="square" rtlCol="0" anchor="ctr"/>
          <a:lstStyle/>
          <a:p>
            <a:pPr indent="0" marL="0">
              <a:buNone/>
            </a:pPr>
            <a:r>
              <a:rPr lang="en-US" sz="1600" dirty="0">
                <a:solidFill>
                  <a:srgbClr val="1D9E75"/>
                </a:solidFill>
                <a:latin typeface="Calibri" pitchFamily="34" charset="0"/>
                <a:ea typeface="Calibri" pitchFamily="34" charset="-122"/>
                <a:cs typeface="Calibri" pitchFamily="34" charset="-120"/>
              </a:rPr>
              <a:t>Six Analyst Pillars. One Platform.</a:t>
            </a:r>
            <a:endParaRPr lang="en-US" sz="1600" dirty="0"/>
          </a:p>
        </p:txBody>
      </p:sp>
      <p:sp>
        <p:nvSpPr>
          <p:cNvPr id="4" name="Shape 2"/>
          <p:cNvSpPr/>
          <p:nvPr/>
        </p:nvSpPr>
        <p:spPr>
          <a:xfrm>
            <a:off x="274320" y="1417320"/>
            <a:ext cx="3657600" cy="2011680"/>
          </a:xfrm>
          <a:prstGeom prst="rect">
            <a:avLst/>
          </a:prstGeom>
          <a:solidFill>
            <a:srgbClr val="162D45"/>
          </a:solidFill>
          <a:ln w="12700">
            <a:solidFill>
              <a:srgbClr val="162D45"/>
            </a:solidFill>
            <a:prstDash val="solid"/>
          </a:ln>
        </p:spPr>
      </p:sp>
      <p:sp>
        <p:nvSpPr>
          <p:cNvPr id="5" name="Shape 3"/>
          <p:cNvSpPr/>
          <p:nvPr/>
        </p:nvSpPr>
        <p:spPr>
          <a:xfrm>
            <a:off x="274320" y="1417320"/>
            <a:ext cx="64008" cy="2011680"/>
          </a:xfrm>
          <a:prstGeom prst="rect">
            <a:avLst/>
          </a:prstGeom>
          <a:solidFill>
            <a:srgbClr val="1D9E75"/>
          </a:solidFill>
          <a:ln w="12700">
            <a:solidFill>
              <a:srgbClr val="1D9E75"/>
            </a:solidFill>
            <a:prstDash val="solid"/>
          </a:ln>
        </p:spPr>
      </p:sp>
      <p:sp>
        <p:nvSpPr>
          <p:cNvPr id="6" name="Text 4"/>
          <p:cNvSpPr/>
          <p:nvPr/>
        </p:nvSpPr>
        <p:spPr>
          <a:xfrm>
            <a:off x="411480" y="158191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Physical Risk</a:t>
            </a:r>
            <a:endParaRPr lang="en-US" sz="1300" dirty="0"/>
          </a:p>
        </p:txBody>
      </p:sp>
      <p:sp>
        <p:nvSpPr>
          <p:cNvPr id="7" name="Text 5"/>
          <p:cNvSpPr/>
          <p:nvPr/>
        </p:nvSpPr>
        <p:spPr>
          <a:xfrm>
            <a:off x="411480" y="198424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25 IPCC AR6 hazards, GPS resolved, NGFS scenarios, damage functions</a:t>
            </a:r>
            <a:endParaRPr lang="en-US" sz="1100" dirty="0"/>
          </a:p>
        </p:txBody>
      </p:sp>
      <p:sp>
        <p:nvSpPr>
          <p:cNvPr id="8" name="Shape 6"/>
          <p:cNvSpPr/>
          <p:nvPr/>
        </p:nvSpPr>
        <p:spPr>
          <a:xfrm>
            <a:off x="4160520" y="1417320"/>
            <a:ext cx="3657600" cy="2011680"/>
          </a:xfrm>
          <a:prstGeom prst="rect">
            <a:avLst/>
          </a:prstGeom>
          <a:solidFill>
            <a:srgbClr val="162D45"/>
          </a:solidFill>
          <a:ln w="12700">
            <a:solidFill>
              <a:srgbClr val="162D45"/>
            </a:solidFill>
            <a:prstDash val="solid"/>
          </a:ln>
        </p:spPr>
      </p:sp>
      <p:sp>
        <p:nvSpPr>
          <p:cNvPr id="9" name="Shape 7"/>
          <p:cNvSpPr/>
          <p:nvPr/>
        </p:nvSpPr>
        <p:spPr>
          <a:xfrm>
            <a:off x="4160520" y="1417320"/>
            <a:ext cx="64008" cy="2011680"/>
          </a:xfrm>
          <a:prstGeom prst="rect">
            <a:avLst/>
          </a:prstGeom>
          <a:solidFill>
            <a:srgbClr val="1D9E75"/>
          </a:solidFill>
          <a:ln w="12700">
            <a:solidFill>
              <a:srgbClr val="1D9E75"/>
            </a:solidFill>
            <a:prstDash val="solid"/>
          </a:ln>
        </p:spPr>
      </p:sp>
      <p:sp>
        <p:nvSpPr>
          <p:cNvPr id="10" name="Text 8"/>
          <p:cNvSpPr/>
          <p:nvPr/>
        </p:nvSpPr>
        <p:spPr>
          <a:xfrm>
            <a:off x="4297680" y="158191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Transition Risk</a:t>
            </a:r>
            <a:endParaRPr lang="en-US" sz="1300" dirty="0"/>
          </a:p>
        </p:txBody>
      </p:sp>
      <p:sp>
        <p:nvSpPr>
          <p:cNvPr id="11" name="Text 9"/>
          <p:cNvSpPr/>
          <p:nvPr/>
        </p:nvSpPr>
        <p:spPr>
          <a:xfrm>
            <a:off x="4297680" y="198424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NGFS Phase 4 carbon pricing, WACC uplift, commodity demand shift</a:t>
            </a:r>
            <a:endParaRPr lang="en-US" sz="1100" dirty="0"/>
          </a:p>
        </p:txBody>
      </p:sp>
      <p:sp>
        <p:nvSpPr>
          <p:cNvPr id="12" name="Shape 10"/>
          <p:cNvSpPr/>
          <p:nvPr/>
        </p:nvSpPr>
        <p:spPr>
          <a:xfrm>
            <a:off x="8046720" y="1417320"/>
            <a:ext cx="3657600" cy="2011680"/>
          </a:xfrm>
          <a:prstGeom prst="rect">
            <a:avLst/>
          </a:prstGeom>
          <a:solidFill>
            <a:srgbClr val="162D45"/>
          </a:solidFill>
          <a:ln w="12700">
            <a:solidFill>
              <a:srgbClr val="162D45"/>
            </a:solidFill>
            <a:prstDash val="solid"/>
          </a:ln>
        </p:spPr>
      </p:sp>
      <p:sp>
        <p:nvSpPr>
          <p:cNvPr id="13" name="Shape 11"/>
          <p:cNvSpPr/>
          <p:nvPr/>
        </p:nvSpPr>
        <p:spPr>
          <a:xfrm>
            <a:off x="8046720" y="1417320"/>
            <a:ext cx="64008" cy="2011680"/>
          </a:xfrm>
          <a:prstGeom prst="rect">
            <a:avLst/>
          </a:prstGeom>
          <a:solidFill>
            <a:srgbClr val="1D9E75"/>
          </a:solidFill>
          <a:ln w="12700">
            <a:solidFill>
              <a:srgbClr val="1D9E75"/>
            </a:solidFill>
            <a:prstDash val="solid"/>
          </a:ln>
        </p:spPr>
      </p:sp>
      <p:sp>
        <p:nvSpPr>
          <p:cNvPr id="14" name="Text 12"/>
          <p:cNvSpPr/>
          <p:nvPr/>
        </p:nvSpPr>
        <p:spPr>
          <a:xfrm>
            <a:off x="8183880" y="158191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CBAM Liability</a:t>
            </a:r>
            <a:endParaRPr lang="en-US" sz="1300" dirty="0"/>
          </a:p>
        </p:txBody>
      </p:sp>
      <p:sp>
        <p:nvSpPr>
          <p:cNvPr id="15" name="Text 13"/>
          <p:cNvSpPr/>
          <p:nvPr/>
        </p:nvSpPr>
        <p:spPr>
          <a:xfrm>
            <a:off x="8183880" y="198424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Embedded carbon calculator, certificate cost, compliance checklist</a:t>
            </a:r>
            <a:endParaRPr lang="en-US" sz="1100" dirty="0"/>
          </a:p>
        </p:txBody>
      </p:sp>
      <p:sp>
        <p:nvSpPr>
          <p:cNvPr id="16" name="Shape 14"/>
          <p:cNvSpPr/>
          <p:nvPr/>
        </p:nvSpPr>
        <p:spPr>
          <a:xfrm>
            <a:off x="274320" y="3337560"/>
            <a:ext cx="3657600" cy="2011680"/>
          </a:xfrm>
          <a:prstGeom prst="rect">
            <a:avLst/>
          </a:prstGeom>
          <a:solidFill>
            <a:srgbClr val="162D45"/>
          </a:solidFill>
          <a:ln w="12700">
            <a:solidFill>
              <a:srgbClr val="162D45"/>
            </a:solidFill>
            <a:prstDash val="solid"/>
          </a:ln>
        </p:spPr>
      </p:sp>
      <p:sp>
        <p:nvSpPr>
          <p:cNvPr id="17" name="Shape 15"/>
          <p:cNvSpPr/>
          <p:nvPr/>
        </p:nvSpPr>
        <p:spPr>
          <a:xfrm>
            <a:off x="274320" y="3337560"/>
            <a:ext cx="64008" cy="2011680"/>
          </a:xfrm>
          <a:prstGeom prst="rect">
            <a:avLst/>
          </a:prstGeom>
          <a:solidFill>
            <a:srgbClr val="1D9E75"/>
          </a:solidFill>
          <a:ln w="12700">
            <a:solidFill>
              <a:srgbClr val="1D9E75"/>
            </a:solidFill>
            <a:prstDash val="solid"/>
          </a:ln>
        </p:spPr>
      </p:sp>
      <p:sp>
        <p:nvSpPr>
          <p:cNvPr id="18" name="Text 16"/>
          <p:cNvSpPr/>
          <p:nvPr/>
        </p:nvSpPr>
        <p:spPr>
          <a:xfrm>
            <a:off x="411480" y="350215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MACC Engine</a:t>
            </a:r>
            <a:endParaRPr lang="en-US" sz="1300" dirty="0"/>
          </a:p>
        </p:txBody>
      </p:sp>
      <p:sp>
        <p:nvSpPr>
          <p:cNvPr id="19" name="Text 17"/>
          <p:cNvSpPr/>
          <p:nvPr/>
        </p:nvSpPr>
        <p:spPr>
          <a:xfrm>
            <a:off x="411480" y="390448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Abatement levers by sector, SLL structuring, CFO memo output</a:t>
            </a:r>
            <a:endParaRPr lang="en-US" sz="1100" dirty="0"/>
          </a:p>
        </p:txBody>
      </p:sp>
      <p:sp>
        <p:nvSpPr>
          <p:cNvPr id="20" name="Shape 18"/>
          <p:cNvSpPr/>
          <p:nvPr/>
        </p:nvSpPr>
        <p:spPr>
          <a:xfrm>
            <a:off x="4160520" y="3337560"/>
            <a:ext cx="3657600" cy="2011680"/>
          </a:xfrm>
          <a:prstGeom prst="rect">
            <a:avLst/>
          </a:prstGeom>
          <a:solidFill>
            <a:srgbClr val="162D45"/>
          </a:solidFill>
          <a:ln w="12700">
            <a:solidFill>
              <a:srgbClr val="162D45"/>
            </a:solidFill>
            <a:prstDash val="solid"/>
          </a:ln>
        </p:spPr>
      </p:sp>
      <p:sp>
        <p:nvSpPr>
          <p:cNvPr id="21" name="Shape 19"/>
          <p:cNvSpPr/>
          <p:nvPr/>
        </p:nvSpPr>
        <p:spPr>
          <a:xfrm>
            <a:off x="4160520" y="3337560"/>
            <a:ext cx="64008" cy="2011680"/>
          </a:xfrm>
          <a:prstGeom prst="rect">
            <a:avLst/>
          </a:prstGeom>
          <a:solidFill>
            <a:srgbClr val="1D9E75"/>
          </a:solidFill>
          <a:ln w="12700">
            <a:solidFill>
              <a:srgbClr val="1D9E75"/>
            </a:solidFill>
            <a:prstDash val="solid"/>
          </a:ln>
        </p:spPr>
      </p:sp>
      <p:sp>
        <p:nvSpPr>
          <p:cNvPr id="22" name="Text 20"/>
          <p:cNvSpPr/>
          <p:nvPr/>
        </p:nvSpPr>
        <p:spPr>
          <a:xfrm>
            <a:off x="4297680" y="350215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Double Materiality</a:t>
            </a:r>
            <a:endParaRPr lang="en-US" sz="1300" dirty="0"/>
          </a:p>
        </p:txBody>
      </p:sp>
      <p:sp>
        <p:nvSpPr>
          <p:cNvPr id="23" name="Text 21"/>
          <p:cNvSpPr/>
          <p:nvPr/>
        </p:nvSpPr>
        <p:spPr>
          <a:xfrm>
            <a:off x="4297680" y="390448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Impact lens (inside out), financial lens (outside in), CSRD audit trail</a:t>
            </a:r>
            <a:endParaRPr lang="en-US" sz="1100" dirty="0"/>
          </a:p>
        </p:txBody>
      </p:sp>
      <p:sp>
        <p:nvSpPr>
          <p:cNvPr id="24" name="Shape 22"/>
          <p:cNvSpPr/>
          <p:nvPr/>
        </p:nvSpPr>
        <p:spPr>
          <a:xfrm>
            <a:off x="8046720" y="3337560"/>
            <a:ext cx="3657600" cy="2011680"/>
          </a:xfrm>
          <a:prstGeom prst="rect">
            <a:avLst/>
          </a:prstGeom>
          <a:solidFill>
            <a:srgbClr val="162D45"/>
          </a:solidFill>
          <a:ln w="12700">
            <a:solidFill>
              <a:srgbClr val="162D45"/>
            </a:solidFill>
            <a:prstDash val="solid"/>
          </a:ln>
        </p:spPr>
      </p:sp>
      <p:sp>
        <p:nvSpPr>
          <p:cNvPr id="25" name="Shape 23"/>
          <p:cNvSpPr/>
          <p:nvPr/>
        </p:nvSpPr>
        <p:spPr>
          <a:xfrm>
            <a:off x="8046720" y="3337560"/>
            <a:ext cx="64008" cy="2011680"/>
          </a:xfrm>
          <a:prstGeom prst="rect">
            <a:avLst/>
          </a:prstGeom>
          <a:solidFill>
            <a:srgbClr val="1D9E75"/>
          </a:solidFill>
          <a:ln w="12700">
            <a:solidFill>
              <a:srgbClr val="1D9E75"/>
            </a:solidFill>
            <a:prstDash val="solid"/>
          </a:ln>
        </p:spPr>
      </p:sp>
      <p:sp>
        <p:nvSpPr>
          <p:cNvPr id="26" name="Text 24"/>
          <p:cNvSpPr/>
          <p:nvPr/>
        </p:nvSpPr>
        <p:spPr>
          <a:xfrm>
            <a:off x="8183880" y="3502152"/>
            <a:ext cx="33832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Supply Chain</a:t>
            </a:r>
            <a:endParaRPr lang="en-US" sz="1300" dirty="0"/>
          </a:p>
        </p:txBody>
      </p:sp>
      <p:sp>
        <p:nvSpPr>
          <p:cNvPr id="27" name="Text 25"/>
          <p:cNvSpPr/>
          <p:nvPr/>
        </p:nvSpPr>
        <p:spPr>
          <a:xfrm>
            <a:off x="8183880" y="3904488"/>
            <a:ext cx="3383280" cy="1325880"/>
          </a:xfrm>
          <a:prstGeom prst="rect">
            <a:avLst/>
          </a:prstGeom>
          <a:noFill/>
          <a:ln/>
        </p:spPr>
        <p:txBody>
          <a:bodyPr wrap="square" rtlCol="0" anchor="t"/>
          <a:lstStyle/>
          <a:p>
            <a:pPr indent="0" marL="0">
              <a:buNone/>
            </a:pPr>
            <a:r>
              <a:rPr lang="en-US" sz="1100" dirty="0">
                <a:solidFill>
                  <a:srgbClr val="9CA3AF"/>
                </a:solidFill>
                <a:latin typeface="Calibri" pitchFamily="34" charset="0"/>
                <a:ea typeface="Calibri" pitchFamily="34" charset="-122"/>
                <a:cs typeface="Calibri" pitchFamily="34" charset="-120"/>
              </a:rPr>
              <a:t>Tier triage, CBAM true cost comparison, EPD engagement protocol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594360"/>
          </a:xfrm>
          <a:prstGeom prst="rect">
            <a:avLst/>
          </a:prstGeom>
          <a:noFill/>
          <a:ln/>
        </p:spPr>
        <p:txBody>
          <a:bodyPr wrap="square" rtlCol="0" anchor="t"/>
          <a:lstStyle/>
          <a:p>
            <a:pPr indent="0" marL="0">
              <a:buNone/>
            </a:pPr>
            <a:r>
              <a:rPr lang="en-US" sz="2400" b="1" dirty="0">
                <a:solidFill>
                  <a:srgbClr val="0B1F38"/>
                </a:solidFill>
                <a:latin typeface="Calibri" pitchFamily="34" charset="0"/>
                <a:ea typeface="Calibri" pitchFamily="34" charset="-122"/>
                <a:cs typeface="Calibri" pitchFamily="34" charset="-120"/>
              </a:rPr>
              <a:t>Four Layer Architecture. From Satellite Data to Board Report.</a:t>
            </a:r>
            <a:endParaRPr lang="en-US" sz="2400" dirty="0"/>
          </a:p>
        </p:txBody>
      </p:sp>
      <p:sp>
        <p:nvSpPr>
          <p:cNvPr id="3" name="Shape 1"/>
          <p:cNvSpPr/>
          <p:nvPr/>
        </p:nvSpPr>
        <p:spPr>
          <a:xfrm>
            <a:off x="274320" y="914400"/>
            <a:ext cx="2743200" cy="5120640"/>
          </a:xfrm>
          <a:prstGeom prst="rect">
            <a:avLst/>
          </a:prstGeom>
          <a:solidFill>
            <a:srgbClr val="1D9E75"/>
          </a:solidFill>
          <a:ln w="12700">
            <a:solidFill>
              <a:srgbClr val="1D9E75"/>
            </a:solidFill>
            <a:prstDash val="solid"/>
          </a:ln>
        </p:spPr>
      </p:sp>
      <p:sp>
        <p:nvSpPr>
          <p:cNvPr id="4" name="Text 2"/>
          <p:cNvSpPr/>
          <p:nvPr/>
        </p:nvSpPr>
        <p:spPr>
          <a:xfrm>
            <a:off x="365760" y="1051560"/>
            <a:ext cx="25603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Layer 1</a:t>
            </a:r>
            <a:endParaRPr lang="en-US" sz="1600" dirty="0"/>
          </a:p>
        </p:txBody>
      </p:sp>
      <p:sp>
        <p:nvSpPr>
          <p:cNvPr id="5" name="Text 3"/>
          <p:cNvSpPr/>
          <p:nvPr/>
        </p:nvSpPr>
        <p:spPr>
          <a:xfrm>
            <a:off x="365760" y="1463040"/>
            <a:ext cx="256032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Geospatial Hazard Data</a:t>
            </a:r>
            <a:endParaRPr lang="en-US" sz="1200" dirty="0"/>
          </a:p>
        </p:txBody>
      </p:sp>
      <p:sp>
        <p:nvSpPr>
          <p:cNvPr id="6" name="Text 4"/>
          <p:cNvSpPr/>
          <p:nvPr/>
        </p:nvSpPr>
        <p:spPr>
          <a:xfrm>
            <a:off x="365760" y="1920240"/>
            <a:ext cx="2560320" cy="3931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WRI Aqueduct 4.0, NASA NEX-GDDP-CMIP6, IPCC AR6 regional warming, 25 hazard categories</a:t>
            </a:r>
            <a:endParaRPr lang="en-US" sz="1000" dirty="0"/>
          </a:p>
        </p:txBody>
      </p:sp>
      <p:sp>
        <p:nvSpPr>
          <p:cNvPr id="7" name="Shape 5"/>
          <p:cNvSpPr/>
          <p:nvPr/>
        </p:nvSpPr>
        <p:spPr>
          <a:xfrm>
            <a:off x="3035808" y="3200400"/>
            <a:ext cx="320040" cy="320040"/>
          </a:xfrm>
          <a:prstGeom prst="rightArrow">
            <a:avLst/>
          </a:prstGeom>
          <a:solidFill>
            <a:srgbClr val="1D9E75"/>
          </a:solidFill>
          <a:ln w="12700">
            <a:solidFill>
              <a:srgbClr val="1D9E75"/>
            </a:solidFill>
            <a:prstDash val="solid"/>
          </a:ln>
        </p:spPr>
      </p:sp>
      <p:sp>
        <p:nvSpPr>
          <p:cNvPr id="8" name="Shape 6"/>
          <p:cNvSpPr/>
          <p:nvPr/>
        </p:nvSpPr>
        <p:spPr>
          <a:xfrm>
            <a:off x="3154680" y="914400"/>
            <a:ext cx="2743200" cy="5120640"/>
          </a:xfrm>
          <a:prstGeom prst="rect">
            <a:avLst/>
          </a:prstGeom>
          <a:solidFill>
            <a:srgbClr val="0D7A5F"/>
          </a:solidFill>
          <a:ln w="12700">
            <a:solidFill>
              <a:srgbClr val="0D7A5F"/>
            </a:solidFill>
            <a:prstDash val="solid"/>
          </a:ln>
        </p:spPr>
      </p:sp>
      <p:sp>
        <p:nvSpPr>
          <p:cNvPr id="9" name="Text 7"/>
          <p:cNvSpPr/>
          <p:nvPr/>
        </p:nvSpPr>
        <p:spPr>
          <a:xfrm>
            <a:off x="3246120" y="1051560"/>
            <a:ext cx="25603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Layer 2</a:t>
            </a:r>
            <a:endParaRPr lang="en-US" sz="1600" dirty="0"/>
          </a:p>
        </p:txBody>
      </p:sp>
      <p:sp>
        <p:nvSpPr>
          <p:cNvPr id="10" name="Text 8"/>
          <p:cNvSpPr/>
          <p:nvPr/>
        </p:nvSpPr>
        <p:spPr>
          <a:xfrm>
            <a:off x="3246120" y="1463040"/>
            <a:ext cx="256032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IPCC Calibration</a:t>
            </a:r>
            <a:endParaRPr lang="en-US" sz="1200" dirty="0"/>
          </a:p>
        </p:txBody>
      </p:sp>
      <p:sp>
        <p:nvSpPr>
          <p:cNvPr id="11" name="Text 9"/>
          <p:cNvSpPr/>
          <p:nvPr/>
        </p:nvSpPr>
        <p:spPr>
          <a:xfrm>
            <a:off x="3246120" y="1920240"/>
            <a:ext cx="2560320" cy="3931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Severity 0 to 5, SSP pathways, physical units per hazard, damage functions calibrated from real events</a:t>
            </a:r>
            <a:endParaRPr lang="en-US" sz="1000" dirty="0"/>
          </a:p>
        </p:txBody>
      </p:sp>
      <p:sp>
        <p:nvSpPr>
          <p:cNvPr id="12" name="Shape 10"/>
          <p:cNvSpPr/>
          <p:nvPr/>
        </p:nvSpPr>
        <p:spPr>
          <a:xfrm>
            <a:off x="5916168" y="3200400"/>
            <a:ext cx="320040" cy="320040"/>
          </a:xfrm>
          <a:prstGeom prst="rightArrow">
            <a:avLst/>
          </a:prstGeom>
          <a:solidFill>
            <a:srgbClr val="1D9E75"/>
          </a:solidFill>
          <a:ln w="12700">
            <a:solidFill>
              <a:srgbClr val="1D9E75"/>
            </a:solidFill>
            <a:prstDash val="solid"/>
          </a:ln>
        </p:spPr>
      </p:sp>
      <p:sp>
        <p:nvSpPr>
          <p:cNvPr id="13" name="Shape 11"/>
          <p:cNvSpPr/>
          <p:nvPr/>
        </p:nvSpPr>
        <p:spPr>
          <a:xfrm>
            <a:off x="6035040" y="914400"/>
            <a:ext cx="2743200" cy="5120640"/>
          </a:xfrm>
          <a:prstGeom prst="rect">
            <a:avLst/>
          </a:prstGeom>
          <a:solidFill>
            <a:srgbClr val="0B4D3A"/>
          </a:solidFill>
          <a:ln w="12700">
            <a:solidFill>
              <a:srgbClr val="0B4D3A"/>
            </a:solidFill>
            <a:prstDash val="solid"/>
          </a:ln>
        </p:spPr>
      </p:sp>
      <p:sp>
        <p:nvSpPr>
          <p:cNvPr id="14" name="Text 12"/>
          <p:cNvSpPr/>
          <p:nvPr/>
        </p:nvSpPr>
        <p:spPr>
          <a:xfrm>
            <a:off x="6126480" y="1051560"/>
            <a:ext cx="25603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Layer 3</a:t>
            </a:r>
            <a:endParaRPr lang="en-US" sz="1600" dirty="0"/>
          </a:p>
        </p:txBody>
      </p:sp>
      <p:sp>
        <p:nvSpPr>
          <p:cNvPr id="15" name="Text 13"/>
          <p:cNvSpPr/>
          <p:nvPr/>
        </p:nvSpPr>
        <p:spPr>
          <a:xfrm>
            <a:off x="6126480" y="1463040"/>
            <a:ext cx="256032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Financial Translation</a:t>
            </a:r>
            <a:endParaRPr lang="en-US" sz="1200" dirty="0"/>
          </a:p>
        </p:txBody>
      </p:sp>
      <p:sp>
        <p:nvSpPr>
          <p:cNvPr id="16" name="Text 14"/>
          <p:cNvSpPr/>
          <p:nvPr/>
        </p:nvSpPr>
        <p:spPr>
          <a:xfrm>
            <a:off x="6126480" y="1920240"/>
            <a:ext cx="2560320" cy="3931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Asset carrying value at risk, production loss, WACC uplift, carbon cost, NPV of inaction</a:t>
            </a:r>
            <a:endParaRPr lang="en-US" sz="1000" dirty="0"/>
          </a:p>
        </p:txBody>
      </p:sp>
      <p:sp>
        <p:nvSpPr>
          <p:cNvPr id="17" name="Shape 15"/>
          <p:cNvSpPr/>
          <p:nvPr/>
        </p:nvSpPr>
        <p:spPr>
          <a:xfrm>
            <a:off x="8796528" y="3200400"/>
            <a:ext cx="320040" cy="320040"/>
          </a:xfrm>
          <a:prstGeom prst="rightArrow">
            <a:avLst/>
          </a:prstGeom>
          <a:solidFill>
            <a:srgbClr val="1D9E75"/>
          </a:solidFill>
          <a:ln w="12700">
            <a:solidFill>
              <a:srgbClr val="1D9E75"/>
            </a:solidFill>
            <a:prstDash val="solid"/>
          </a:ln>
        </p:spPr>
      </p:sp>
      <p:sp>
        <p:nvSpPr>
          <p:cNvPr id="18" name="Shape 16"/>
          <p:cNvSpPr/>
          <p:nvPr/>
        </p:nvSpPr>
        <p:spPr>
          <a:xfrm>
            <a:off x="8915400" y="914400"/>
            <a:ext cx="2743200" cy="5120640"/>
          </a:xfrm>
          <a:prstGeom prst="rect">
            <a:avLst/>
          </a:prstGeom>
          <a:solidFill>
            <a:srgbClr val="0B1F38"/>
          </a:solidFill>
          <a:ln w="12700">
            <a:solidFill>
              <a:srgbClr val="0B1F38"/>
            </a:solidFill>
            <a:prstDash val="solid"/>
          </a:ln>
        </p:spPr>
      </p:sp>
      <p:sp>
        <p:nvSpPr>
          <p:cNvPr id="19" name="Text 17"/>
          <p:cNvSpPr/>
          <p:nvPr/>
        </p:nvSpPr>
        <p:spPr>
          <a:xfrm>
            <a:off x="9006840" y="1051560"/>
            <a:ext cx="25603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Layer 4</a:t>
            </a:r>
            <a:endParaRPr lang="en-US" sz="1600" dirty="0"/>
          </a:p>
        </p:txBody>
      </p:sp>
      <p:sp>
        <p:nvSpPr>
          <p:cNvPr id="20" name="Text 18"/>
          <p:cNvSpPr/>
          <p:nvPr/>
        </p:nvSpPr>
        <p:spPr>
          <a:xfrm>
            <a:off x="9006840" y="1463040"/>
            <a:ext cx="256032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Regulatory Output</a:t>
            </a:r>
            <a:endParaRPr lang="en-US" sz="1200" dirty="0"/>
          </a:p>
        </p:txBody>
      </p:sp>
      <p:sp>
        <p:nvSpPr>
          <p:cNvPr id="21" name="Text 19"/>
          <p:cNvSpPr/>
          <p:nvPr/>
        </p:nvSpPr>
        <p:spPr>
          <a:xfrm>
            <a:off x="9006840" y="1920240"/>
            <a:ext cx="2560320" cy="3931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CSRD ESRS E1, IFRS S2, TCFD, BRSR Core, audit ready documentation</a:t>
            </a:r>
            <a:endParaRPr lang="en-US" sz="1000" dirty="0"/>
          </a:p>
        </p:txBody>
      </p:sp>
      <p:sp>
        <p:nvSpPr>
          <p:cNvPr id="22" name="Text 20"/>
          <p:cNvSpPr/>
          <p:nvPr/>
        </p:nvSpPr>
        <p:spPr>
          <a:xfrm>
            <a:off x="274320" y="6263640"/>
            <a:ext cx="1161288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The engine is the only tool that runs all four layers in a single session with no external API dependency.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640080"/>
          </a:xfrm>
          <a:prstGeom prst="rect">
            <a:avLst/>
          </a:prstGeom>
          <a:noFill/>
          <a:ln/>
        </p:spPr>
        <p:txBody>
          <a:bodyPr wrap="square" rtlCol="0" anchor="t"/>
          <a:lstStyle/>
          <a:p>
            <a:pPr indent="0" marL="0">
              <a:buNone/>
            </a:pPr>
            <a:r>
              <a:rPr lang="en-US" sz="2600" b="1" dirty="0">
                <a:solidFill>
                  <a:srgbClr val="0B1F38"/>
                </a:solidFill>
                <a:latin typeface="Calibri" pitchFamily="34" charset="0"/>
                <a:ea typeface="Calibri" pitchFamily="34" charset="-122"/>
                <a:cs typeface="Calibri" pitchFamily="34" charset="-120"/>
              </a:rPr>
              <a:t>Acquisition Includes Four Distinct Asset Categories</a:t>
            </a:r>
            <a:endParaRPr lang="en-US" sz="2600" dirty="0"/>
          </a:p>
        </p:txBody>
      </p:sp>
      <p:sp>
        <p:nvSpPr>
          <p:cNvPr id="3" name="Shape 1"/>
          <p:cNvSpPr/>
          <p:nvPr/>
        </p:nvSpPr>
        <p:spPr>
          <a:xfrm>
            <a:off x="274320" y="1005840"/>
            <a:ext cx="5760720" cy="2148840"/>
          </a:xfrm>
          <a:prstGeom prst="rect">
            <a:avLst/>
          </a:prstGeom>
          <a:solidFill>
            <a:srgbClr val="FFFFFF"/>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4" name="Shape 2"/>
          <p:cNvSpPr/>
          <p:nvPr/>
        </p:nvSpPr>
        <p:spPr>
          <a:xfrm>
            <a:off x="274320" y="1005840"/>
            <a:ext cx="64008" cy="2148840"/>
          </a:xfrm>
          <a:prstGeom prst="rect">
            <a:avLst/>
          </a:prstGeom>
          <a:solidFill>
            <a:srgbClr val="1D9E75"/>
          </a:solidFill>
          <a:ln w="12700">
            <a:solidFill>
              <a:srgbClr val="1D9E75"/>
            </a:solidFill>
            <a:prstDash val="solid"/>
          </a:ln>
        </p:spPr>
      </p:sp>
      <p:sp>
        <p:nvSpPr>
          <p:cNvPr id="5" name="Text 3"/>
          <p:cNvSpPr/>
          <p:nvPr/>
        </p:nvSpPr>
        <p:spPr>
          <a:xfrm>
            <a:off x="457200" y="1143000"/>
            <a:ext cx="5394960" cy="365760"/>
          </a:xfrm>
          <a:prstGeom prst="rect">
            <a:avLst/>
          </a:prstGeom>
          <a:noFill/>
          <a:ln/>
        </p:spPr>
        <p:txBody>
          <a:bodyPr wrap="square" rtlCol="0" anchor="ctr"/>
          <a:lstStyle/>
          <a:p>
            <a:pPr indent="0" marL="0">
              <a:buNone/>
            </a:pPr>
            <a:r>
              <a:rPr lang="en-US" sz="1400" b="1" dirty="0">
                <a:solidFill>
                  <a:srgbClr val="0B1F38"/>
                </a:solidFill>
                <a:latin typeface="Calibri" pitchFamily="34" charset="0"/>
                <a:ea typeface="Calibri" pitchFamily="34" charset="-122"/>
                <a:cs typeface="Calibri" pitchFamily="34" charset="-120"/>
              </a:rPr>
              <a:t>Proprietary IP</a:t>
            </a:r>
            <a:endParaRPr lang="en-US" sz="1400" dirty="0"/>
          </a:p>
        </p:txBody>
      </p:sp>
      <p:sp>
        <p:nvSpPr>
          <p:cNvPr id="6" name="Text 4"/>
          <p:cNvSpPr/>
          <p:nvPr/>
        </p:nvSpPr>
        <p:spPr>
          <a:xfrm>
            <a:off x="457200" y="1600200"/>
            <a:ext cx="5394960" cy="13716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Four layer climate risk methodology, 25 IPCC AR6 calibrated damage functions, NGFS Phase 4 scenario parameters, CBAM embedded carbon calculator</a:t>
            </a:r>
            <a:endParaRPr lang="en-US" sz="1100" dirty="0"/>
          </a:p>
        </p:txBody>
      </p:sp>
      <p:sp>
        <p:nvSpPr>
          <p:cNvPr id="7" name="Shape 5"/>
          <p:cNvSpPr/>
          <p:nvPr/>
        </p:nvSpPr>
        <p:spPr>
          <a:xfrm>
            <a:off x="6400800" y="1005840"/>
            <a:ext cx="5760720" cy="2148840"/>
          </a:xfrm>
          <a:prstGeom prst="rect">
            <a:avLst/>
          </a:prstGeom>
          <a:solidFill>
            <a:srgbClr val="FFFFFF"/>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8" name="Shape 6"/>
          <p:cNvSpPr/>
          <p:nvPr/>
        </p:nvSpPr>
        <p:spPr>
          <a:xfrm>
            <a:off x="6400800" y="1005840"/>
            <a:ext cx="64008" cy="2148840"/>
          </a:xfrm>
          <a:prstGeom prst="rect">
            <a:avLst/>
          </a:prstGeom>
          <a:solidFill>
            <a:srgbClr val="1D9E75"/>
          </a:solidFill>
          <a:ln w="12700">
            <a:solidFill>
              <a:srgbClr val="1D9E75"/>
            </a:solidFill>
            <a:prstDash val="solid"/>
          </a:ln>
        </p:spPr>
      </p:sp>
      <p:sp>
        <p:nvSpPr>
          <p:cNvPr id="9" name="Text 7"/>
          <p:cNvSpPr/>
          <p:nvPr/>
        </p:nvSpPr>
        <p:spPr>
          <a:xfrm>
            <a:off x="6583680" y="1143000"/>
            <a:ext cx="5394960" cy="365760"/>
          </a:xfrm>
          <a:prstGeom prst="rect">
            <a:avLst/>
          </a:prstGeom>
          <a:noFill/>
          <a:ln/>
        </p:spPr>
        <p:txBody>
          <a:bodyPr wrap="square" rtlCol="0" anchor="ctr"/>
          <a:lstStyle/>
          <a:p>
            <a:pPr indent="0" marL="0">
              <a:buNone/>
            </a:pPr>
            <a:r>
              <a:rPr lang="en-US" sz="1400" b="1" dirty="0">
                <a:solidFill>
                  <a:srgbClr val="0B1F38"/>
                </a:solidFill>
                <a:latin typeface="Calibri" pitchFamily="34" charset="0"/>
                <a:ea typeface="Calibri" pitchFamily="34" charset="-122"/>
                <a:cs typeface="Calibri" pitchFamily="34" charset="-120"/>
              </a:rPr>
              <a:t>Production Codebase</a:t>
            </a:r>
            <a:endParaRPr lang="en-US" sz="1400" dirty="0"/>
          </a:p>
        </p:txBody>
      </p:sp>
      <p:sp>
        <p:nvSpPr>
          <p:cNvPr id="10" name="Text 8"/>
          <p:cNvSpPr/>
          <p:nvPr/>
        </p:nvSpPr>
        <p:spPr>
          <a:xfrm>
            <a:off x="6583680" y="1600200"/>
            <a:ext cx="5394960" cy="13716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17,000+ lines of production ready code, six analyst module panels, full CSRD and IFRS S2 regulatory mapping, Chart.js and Leaflet GIS integration</a:t>
            </a:r>
            <a:endParaRPr lang="en-US" sz="1100" dirty="0"/>
          </a:p>
        </p:txBody>
      </p:sp>
      <p:sp>
        <p:nvSpPr>
          <p:cNvPr id="11" name="Shape 9"/>
          <p:cNvSpPr/>
          <p:nvPr/>
        </p:nvSpPr>
        <p:spPr>
          <a:xfrm>
            <a:off x="274320" y="3337560"/>
            <a:ext cx="5760720" cy="2148840"/>
          </a:xfrm>
          <a:prstGeom prst="rect">
            <a:avLst/>
          </a:prstGeom>
          <a:solidFill>
            <a:srgbClr val="FFFFFF"/>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12" name="Shape 10"/>
          <p:cNvSpPr/>
          <p:nvPr/>
        </p:nvSpPr>
        <p:spPr>
          <a:xfrm>
            <a:off x="274320" y="3337560"/>
            <a:ext cx="64008" cy="2148840"/>
          </a:xfrm>
          <a:prstGeom prst="rect">
            <a:avLst/>
          </a:prstGeom>
          <a:solidFill>
            <a:srgbClr val="1D9E75"/>
          </a:solidFill>
          <a:ln w="12700">
            <a:solidFill>
              <a:srgbClr val="1D9E75"/>
            </a:solidFill>
            <a:prstDash val="solid"/>
          </a:ln>
        </p:spPr>
      </p:sp>
      <p:sp>
        <p:nvSpPr>
          <p:cNvPr id="13" name="Text 11"/>
          <p:cNvSpPr/>
          <p:nvPr/>
        </p:nvSpPr>
        <p:spPr>
          <a:xfrm>
            <a:off x="457200" y="3474720"/>
            <a:ext cx="5394960" cy="365760"/>
          </a:xfrm>
          <a:prstGeom prst="rect">
            <a:avLst/>
          </a:prstGeom>
          <a:noFill/>
          <a:ln/>
        </p:spPr>
        <p:txBody>
          <a:bodyPr wrap="square" rtlCol="0" anchor="ctr"/>
          <a:lstStyle/>
          <a:p>
            <a:pPr indent="0" marL="0">
              <a:buNone/>
            </a:pPr>
            <a:r>
              <a:rPr lang="en-US" sz="1400" b="1" dirty="0">
                <a:solidFill>
                  <a:srgbClr val="0B1F38"/>
                </a:solidFill>
                <a:latin typeface="Calibri" pitchFamily="34" charset="0"/>
                <a:ea typeface="Calibri" pitchFamily="34" charset="-122"/>
                <a:cs typeface="Calibri" pitchFamily="34" charset="-120"/>
              </a:rPr>
              <a:t>Regulatory Frameworks</a:t>
            </a:r>
            <a:endParaRPr lang="en-US" sz="1400" dirty="0"/>
          </a:p>
        </p:txBody>
      </p:sp>
      <p:sp>
        <p:nvSpPr>
          <p:cNvPr id="14" name="Text 12"/>
          <p:cNvSpPr/>
          <p:nvPr/>
        </p:nvSpPr>
        <p:spPr>
          <a:xfrm>
            <a:off x="457200" y="3931920"/>
            <a:ext cx="5394960" cy="13716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CSRD ESRS E1 data point tables, IFRS S2 disclosure templates, TCFD narrative export, BRSR Core metrics, PCAF financed emissions calculator</a:t>
            </a:r>
            <a:endParaRPr lang="en-US" sz="1100" dirty="0"/>
          </a:p>
        </p:txBody>
      </p:sp>
      <p:sp>
        <p:nvSpPr>
          <p:cNvPr id="15" name="Shape 13"/>
          <p:cNvSpPr/>
          <p:nvPr/>
        </p:nvSpPr>
        <p:spPr>
          <a:xfrm>
            <a:off x="6400800" y="3337560"/>
            <a:ext cx="5760720" cy="2148840"/>
          </a:xfrm>
          <a:prstGeom prst="rect">
            <a:avLst/>
          </a:prstGeom>
          <a:solidFill>
            <a:srgbClr val="FFFFFF"/>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16" name="Shape 14"/>
          <p:cNvSpPr/>
          <p:nvPr/>
        </p:nvSpPr>
        <p:spPr>
          <a:xfrm>
            <a:off x="6400800" y="3337560"/>
            <a:ext cx="64008" cy="2148840"/>
          </a:xfrm>
          <a:prstGeom prst="rect">
            <a:avLst/>
          </a:prstGeom>
          <a:solidFill>
            <a:srgbClr val="1D9E75"/>
          </a:solidFill>
          <a:ln w="12700">
            <a:solidFill>
              <a:srgbClr val="1D9E75"/>
            </a:solidFill>
            <a:prstDash val="solid"/>
          </a:ln>
        </p:spPr>
      </p:sp>
      <p:sp>
        <p:nvSpPr>
          <p:cNvPr id="17" name="Text 15"/>
          <p:cNvSpPr/>
          <p:nvPr/>
        </p:nvSpPr>
        <p:spPr>
          <a:xfrm>
            <a:off x="6583680" y="3474720"/>
            <a:ext cx="5394960" cy="365760"/>
          </a:xfrm>
          <a:prstGeom prst="rect">
            <a:avLst/>
          </a:prstGeom>
          <a:noFill/>
          <a:ln/>
        </p:spPr>
        <p:txBody>
          <a:bodyPr wrap="square" rtlCol="0" anchor="ctr"/>
          <a:lstStyle/>
          <a:p>
            <a:pPr indent="0" marL="0">
              <a:buNone/>
            </a:pPr>
            <a:r>
              <a:rPr lang="en-US" sz="1400" b="1" dirty="0">
                <a:solidFill>
                  <a:srgbClr val="0B1F38"/>
                </a:solidFill>
                <a:latin typeface="Calibri" pitchFamily="34" charset="0"/>
                <a:ea typeface="Calibri" pitchFamily="34" charset="-122"/>
                <a:cs typeface="Calibri" pitchFamily="34" charset="-120"/>
              </a:rPr>
              <a:t>Founder Transition</a:t>
            </a:r>
            <a:endParaRPr lang="en-US" sz="1400" dirty="0"/>
          </a:p>
        </p:txBody>
      </p:sp>
      <p:sp>
        <p:nvSpPr>
          <p:cNvPr id="18" name="Text 16"/>
          <p:cNvSpPr/>
          <p:nvPr/>
        </p:nvSpPr>
        <p:spPr>
          <a:xfrm>
            <a:off x="6583680" y="3931920"/>
            <a:ext cx="5394960" cy="13716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Founder available for 12-month integration period, full methodology documentation (30 page DOCX), client relationship transfer, ongoing advisory available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640080"/>
          </a:xfrm>
          <a:prstGeom prst="rect">
            <a:avLst/>
          </a:prstGeom>
          <a:noFill/>
          <a:ln/>
        </p:spPr>
        <p:txBody>
          <a:bodyPr wrap="square" rtlCol="0" anchor="t"/>
          <a:lstStyle/>
          <a:p>
            <a:pPr indent="0" marL="0">
              <a:buNone/>
            </a:pPr>
            <a:r>
              <a:rPr lang="en-US" sz="2800" b="1" dirty="0">
                <a:solidFill>
                  <a:srgbClr val="0B1F38"/>
                </a:solidFill>
                <a:latin typeface="Calibri" pitchFamily="34" charset="0"/>
                <a:ea typeface="Calibri" pitchFamily="34" charset="-122"/>
                <a:cs typeface="Calibri" pitchFamily="34" charset="-120"/>
              </a:rPr>
              <a:t>The Market Has Already Priced This Category</a:t>
            </a:r>
            <a:endParaRPr lang="en-US" sz="2800" dirty="0"/>
          </a:p>
        </p:txBody>
      </p:sp>
      <p:sp>
        <p:nvSpPr>
          <p:cNvPr id="3" name="Shape 1"/>
          <p:cNvSpPr/>
          <p:nvPr/>
        </p:nvSpPr>
        <p:spPr>
          <a:xfrm>
            <a:off x="274320" y="1005840"/>
            <a:ext cx="1828800" cy="658368"/>
          </a:xfrm>
          <a:prstGeom prst="rect">
            <a:avLst/>
          </a:prstGeom>
          <a:solidFill>
            <a:srgbClr val="0B1F38"/>
          </a:solidFill>
          <a:ln w="12700">
            <a:solidFill>
              <a:srgbClr val="0B1F38"/>
            </a:solidFill>
            <a:prstDash val="solid"/>
          </a:ln>
        </p:spPr>
      </p:sp>
      <p:sp>
        <p:nvSpPr>
          <p:cNvPr id="4" name="Text 2"/>
          <p:cNvSpPr/>
          <p:nvPr/>
        </p:nvSpPr>
        <p:spPr>
          <a:xfrm>
            <a:off x="320040" y="1078992"/>
            <a:ext cx="1737360" cy="51206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Company</a:t>
            </a:r>
            <a:endParaRPr lang="en-US" sz="1100" dirty="0"/>
          </a:p>
        </p:txBody>
      </p:sp>
      <p:sp>
        <p:nvSpPr>
          <p:cNvPr id="5" name="Shape 3"/>
          <p:cNvSpPr/>
          <p:nvPr/>
        </p:nvSpPr>
        <p:spPr>
          <a:xfrm>
            <a:off x="2103120" y="1005840"/>
            <a:ext cx="1828800" cy="658368"/>
          </a:xfrm>
          <a:prstGeom prst="rect">
            <a:avLst/>
          </a:prstGeom>
          <a:solidFill>
            <a:srgbClr val="0B1F38"/>
          </a:solidFill>
          <a:ln w="12700">
            <a:solidFill>
              <a:srgbClr val="0B1F38"/>
            </a:solidFill>
            <a:prstDash val="solid"/>
          </a:ln>
        </p:spPr>
      </p:sp>
      <p:sp>
        <p:nvSpPr>
          <p:cNvPr id="6" name="Text 4"/>
          <p:cNvSpPr/>
          <p:nvPr/>
        </p:nvSpPr>
        <p:spPr>
          <a:xfrm>
            <a:off x="2148840" y="1078992"/>
            <a:ext cx="1737360" cy="51206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Acquirer</a:t>
            </a:r>
            <a:endParaRPr lang="en-US" sz="1100" dirty="0"/>
          </a:p>
        </p:txBody>
      </p:sp>
      <p:sp>
        <p:nvSpPr>
          <p:cNvPr id="7" name="Shape 5"/>
          <p:cNvSpPr/>
          <p:nvPr/>
        </p:nvSpPr>
        <p:spPr>
          <a:xfrm>
            <a:off x="3931920" y="1005840"/>
            <a:ext cx="685800" cy="658368"/>
          </a:xfrm>
          <a:prstGeom prst="rect">
            <a:avLst/>
          </a:prstGeom>
          <a:solidFill>
            <a:srgbClr val="0B1F38"/>
          </a:solidFill>
          <a:ln w="12700">
            <a:solidFill>
              <a:srgbClr val="0B1F38"/>
            </a:solidFill>
            <a:prstDash val="solid"/>
          </a:ln>
        </p:spPr>
      </p:sp>
      <p:sp>
        <p:nvSpPr>
          <p:cNvPr id="8" name="Text 6"/>
          <p:cNvSpPr/>
          <p:nvPr/>
        </p:nvSpPr>
        <p:spPr>
          <a:xfrm>
            <a:off x="3977640" y="1078992"/>
            <a:ext cx="594360" cy="51206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Year</a:t>
            </a:r>
            <a:endParaRPr lang="en-US" sz="1100" dirty="0"/>
          </a:p>
        </p:txBody>
      </p:sp>
      <p:sp>
        <p:nvSpPr>
          <p:cNvPr id="9" name="Shape 7"/>
          <p:cNvSpPr/>
          <p:nvPr/>
        </p:nvSpPr>
        <p:spPr>
          <a:xfrm>
            <a:off x="4617720" y="1005840"/>
            <a:ext cx="3017520" cy="658368"/>
          </a:xfrm>
          <a:prstGeom prst="rect">
            <a:avLst/>
          </a:prstGeom>
          <a:solidFill>
            <a:srgbClr val="0B1F38"/>
          </a:solidFill>
          <a:ln w="12700">
            <a:solidFill>
              <a:srgbClr val="0B1F38"/>
            </a:solidFill>
            <a:prstDash val="solid"/>
          </a:ln>
        </p:spPr>
      </p:sp>
      <p:sp>
        <p:nvSpPr>
          <p:cNvPr id="10" name="Text 8"/>
          <p:cNvSpPr/>
          <p:nvPr/>
        </p:nvSpPr>
        <p:spPr>
          <a:xfrm>
            <a:off x="4663440" y="1078992"/>
            <a:ext cx="2926080" cy="51206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 at Acquisition</a:t>
            </a:r>
            <a:endParaRPr lang="en-US" sz="1100" dirty="0"/>
          </a:p>
        </p:txBody>
      </p:sp>
      <p:sp>
        <p:nvSpPr>
          <p:cNvPr id="11" name="Shape 9"/>
          <p:cNvSpPr/>
          <p:nvPr/>
        </p:nvSpPr>
        <p:spPr>
          <a:xfrm>
            <a:off x="7635240" y="1005840"/>
            <a:ext cx="3063240" cy="658368"/>
          </a:xfrm>
          <a:prstGeom prst="rect">
            <a:avLst/>
          </a:prstGeom>
          <a:solidFill>
            <a:srgbClr val="0B1F38"/>
          </a:solidFill>
          <a:ln w="12700">
            <a:solidFill>
              <a:srgbClr val="0B1F38"/>
            </a:solidFill>
            <a:prstDash val="solid"/>
          </a:ln>
        </p:spPr>
      </p:sp>
      <p:sp>
        <p:nvSpPr>
          <p:cNvPr id="12" name="Text 10"/>
          <p:cNvSpPr/>
          <p:nvPr/>
        </p:nvSpPr>
        <p:spPr>
          <a:xfrm>
            <a:off x="7680960" y="1078992"/>
            <a:ext cx="2971800" cy="51206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Strategic Value</a:t>
            </a:r>
            <a:endParaRPr lang="en-US" sz="1100" dirty="0"/>
          </a:p>
        </p:txBody>
      </p:sp>
      <p:sp>
        <p:nvSpPr>
          <p:cNvPr id="13" name="Shape 11"/>
          <p:cNvSpPr/>
          <p:nvPr/>
        </p:nvSpPr>
        <p:spPr>
          <a:xfrm>
            <a:off x="274320" y="1664208"/>
            <a:ext cx="1828800" cy="658368"/>
          </a:xfrm>
          <a:prstGeom prst="rect">
            <a:avLst/>
          </a:prstGeom>
          <a:solidFill>
            <a:srgbClr val="FFFFFF"/>
          </a:solidFill>
          <a:ln w="6350">
            <a:solidFill>
              <a:srgbClr val="F0F4F8"/>
            </a:solidFill>
            <a:prstDash val="solid"/>
          </a:ln>
        </p:spPr>
      </p:sp>
      <p:sp>
        <p:nvSpPr>
          <p:cNvPr id="14" name="Text 12"/>
          <p:cNvSpPr/>
          <p:nvPr/>
        </p:nvSpPr>
        <p:spPr>
          <a:xfrm>
            <a:off x="320040" y="1709928"/>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Four Twenty Seven</a:t>
            </a:r>
            <a:endParaRPr lang="en-US" sz="1000" dirty="0"/>
          </a:p>
        </p:txBody>
      </p:sp>
      <p:sp>
        <p:nvSpPr>
          <p:cNvPr id="15" name="Shape 13"/>
          <p:cNvSpPr/>
          <p:nvPr/>
        </p:nvSpPr>
        <p:spPr>
          <a:xfrm>
            <a:off x="2103120" y="1664208"/>
            <a:ext cx="1828800" cy="658368"/>
          </a:xfrm>
          <a:prstGeom prst="rect">
            <a:avLst/>
          </a:prstGeom>
          <a:solidFill>
            <a:srgbClr val="FFFFFF"/>
          </a:solidFill>
          <a:ln w="6350">
            <a:solidFill>
              <a:srgbClr val="F0F4F8"/>
            </a:solidFill>
            <a:prstDash val="solid"/>
          </a:ln>
        </p:spPr>
      </p:sp>
      <p:sp>
        <p:nvSpPr>
          <p:cNvPr id="16" name="Text 14"/>
          <p:cNvSpPr/>
          <p:nvPr/>
        </p:nvSpPr>
        <p:spPr>
          <a:xfrm>
            <a:off x="2148840" y="1709928"/>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Moody's Analytics</a:t>
            </a:r>
            <a:endParaRPr lang="en-US" sz="1000" dirty="0"/>
          </a:p>
        </p:txBody>
      </p:sp>
      <p:sp>
        <p:nvSpPr>
          <p:cNvPr id="17" name="Shape 15"/>
          <p:cNvSpPr/>
          <p:nvPr/>
        </p:nvSpPr>
        <p:spPr>
          <a:xfrm>
            <a:off x="3931920" y="1664208"/>
            <a:ext cx="685800" cy="658368"/>
          </a:xfrm>
          <a:prstGeom prst="rect">
            <a:avLst/>
          </a:prstGeom>
          <a:solidFill>
            <a:srgbClr val="FFFFFF"/>
          </a:solidFill>
          <a:ln w="6350">
            <a:solidFill>
              <a:srgbClr val="F0F4F8"/>
            </a:solidFill>
            <a:prstDash val="solid"/>
          </a:ln>
        </p:spPr>
      </p:sp>
      <p:sp>
        <p:nvSpPr>
          <p:cNvPr id="18" name="Text 16"/>
          <p:cNvSpPr/>
          <p:nvPr/>
        </p:nvSpPr>
        <p:spPr>
          <a:xfrm>
            <a:off x="3977640" y="1709928"/>
            <a:ext cx="594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2019</a:t>
            </a:r>
            <a:endParaRPr lang="en-US" sz="1000" dirty="0"/>
          </a:p>
        </p:txBody>
      </p:sp>
      <p:sp>
        <p:nvSpPr>
          <p:cNvPr id="19" name="Shape 17"/>
          <p:cNvSpPr/>
          <p:nvPr/>
        </p:nvSpPr>
        <p:spPr>
          <a:xfrm>
            <a:off x="4617720" y="1664208"/>
            <a:ext cx="3017520" cy="658368"/>
          </a:xfrm>
          <a:prstGeom prst="rect">
            <a:avLst/>
          </a:prstGeom>
          <a:solidFill>
            <a:srgbClr val="FFFFFF"/>
          </a:solidFill>
          <a:ln w="6350">
            <a:solidFill>
              <a:srgbClr val="F0F4F8"/>
            </a:solidFill>
            <a:prstDash val="solid"/>
          </a:ln>
        </p:spPr>
      </p:sp>
      <p:sp>
        <p:nvSpPr>
          <p:cNvPr id="20" name="Text 18"/>
          <p:cNvSpPr/>
          <p:nvPr/>
        </p:nvSpPr>
        <p:spPr>
          <a:xfrm>
            <a:off x="4663440" y="1709928"/>
            <a:ext cx="292608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Early revenue, physical risk data</a:t>
            </a:r>
            <a:endParaRPr lang="en-US" sz="1000" dirty="0"/>
          </a:p>
        </p:txBody>
      </p:sp>
      <p:sp>
        <p:nvSpPr>
          <p:cNvPr id="21" name="Shape 19"/>
          <p:cNvSpPr/>
          <p:nvPr/>
        </p:nvSpPr>
        <p:spPr>
          <a:xfrm>
            <a:off x="7635240" y="1664208"/>
            <a:ext cx="3063240" cy="658368"/>
          </a:xfrm>
          <a:prstGeom prst="rect">
            <a:avLst/>
          </a:prstGeom>
          <a:solidFill>
            <a:srgbClr val="FFFFFF"/>
          </a:solidFill>
          <a:ln w="6350">
            <a:solidFill>
              <a:srgbClr val="F0F4F8"/>
            </a:solidFill>
            <a:prstDash val="solid"/>
          </a:ln>
        </p:spPr>
      </p:sp>
      <p:sp>
        <p:nvSpPr>
          <p:cNvPr id="22" name="Text 20"/>
          <p:cNvSpPr/>
          <p:nvPr/>
        </p:nvSpPr>
        <p:spPr>
          <a:xfrm>
            <a:off x="7680960" y="1709928"/>
            <a:ext cx="297180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Physical risk data for credit ratings</a:t>
            </a:r>
            <a:endParaRPr lang="en-US" sz="1000" dirty="0"/>
          </a:p>
        </p:txBody>
      </p:sp>
      <p:sp>
        <p:nvSpPr>
          <p:cNvPr id="23" name="Shape 21"/>
          <p:cNvSpPr/>
          <p:nvPr/>
        </p:nvSpPr>
        <p:spPr>
          <a:xfrm>
            <a:off x="274320" y="2322576"/>
            <a:ext cx="1828800" cy="658368"/>
          </a:xfrm>
          <a:prstGeom prst="rect">
            <a:avLst/>
          </a:prstGeom>
          <a:solidFill>
            <a:srgbClr val="F0F4F8"/>
          </a:solidFill>
          <a:ln w="6350">
            <a:solidFill>
              <a:srgbClr val="F0F4F8"/>
            </a:solidFill>
            <a:prstDash val="solid"/>
          </a:ln>
        </p:spPr>
      </p:sp>
      <p:sp>
        <p:nvSpPr>
          <p:cNvPr id="24" name="Text 22"/>
          <p:cNvSpPr/>
          <p:nvPr/>
        </p:nvSpPr>
        <p:spPr>
          <a:xfrm>
            <a:off x="320040" y="2368296"/>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Trucost</a:t>
            </a:r>
            <a:endParaRPr lang="en-US" sz="1000" dirty="0"/>
          </a:p>
        </p:txBody>
      </p:sp>
      <p:sp>
        <p:nvSpPr>
          <p:cNvPr id="25" name="Shape 23"/>
          <p:cNvSpPr/>
          <p:nvPr/>
        </p:nvSpPr>
        <p:spPr>
          <a:xfrm>
            <a:off x="2103120" y="2322576"/>
            <a:ext cx="1828800" cy="658368"/>
          </a:xfrm>
          <a:prstGeom prst="rect">
            <a:avLst/>
          </a:prstGeom>
          <a:solidFill>
            <a:srgbClr val="F0F4F8"/>
          </a:solidFill>
          <a:ln w="6350">
            <a:solidFill>
              <a:srgbClr val="F0F4F8"/>
            </a:solidFill>
            <a:prstDash val="solid"/>
          </a:ln>
        </p:spPr>
      </p:sp>
      <p:sp>
        <p:nvSpPr>
          <p:cNvPr id="26" name="Text 24"/>
          <p:cNvSpPr/>
          <p:nvPr/>
        </p:nvSpPr>
        <p:spPr>
          <a:xfrm>
            <a:off x="2148840" y="2368296"/>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S&amp;P Global</a:t>
            </a:r>
            <a:endParaRPr lang="en-US" sz="1000" dirty="0"/>
          </a:p>
        </p:txBody>
      </p:sp>
      <p:sp>
        <p:nvSpPr>
          <p:cNvPr id="27" name="Shape 25"/>
          <p:cNvSpPr/>
          <p:nvPr/>
        </p:nvSpPr>
        <p:spPr>
          <a:xfrm>
            <a:off x="3931920" y="2322576"/>
            <a:ext cx="685800" cy="658368"/>
          </a:xfrm>
          <a:prstGeom prst="rect">
            <a:avLst/>
          </a:prstGeom>
          <a:solidFill>
            <a:srgbClr val="F0F4F8"/>
          </a:solidFill>
          <a:ln w="6350">
            <a:solidFill>
              <a:srgbClr val="F0F4F8"/>
            </a:solidFill>
            <a:prstDash val="solid"/>
          </a:ln>
        </p:spPr>
      </p:sp>
      <p:sp>
        <p:nvSpPr>
          <p:cNvPr id="28" name="Text 26"/>
          <p:cNvSpPr/>
          <p:nvPr/>
        </p:nvSpPr>
        <p:spPr>
          <a:xfrm>
            <a:off x="3977640" y="2368296"/>
            <a:ext cx="594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2016</a:t>
            </a:r>
            <a:endParaRPr lang="en-US" sz="1000" dirty="0"/>
          </a:p>
        </p:txBody>
      </p:sp>
      <p:sp>
        <p:nvSpPr>
          <p:cNvPr id="29" name="Shape 27"/>
          <p:cNvSpPr/>
          <p:nvPr/>
        </p:nvSpPr>
        <p:spPr>
          <a:xfrm>
            <a:off x="4617720" y="2322576"/>
            <a:ext cx="3017520" cy="658368"/>
          </a:xfrm>
          <a:prstGeom prst="rect">
            <a:avLst/>
          </a:prstGeom>
          <a:solidFill>
            <a:srgbClr val="F0F4F8"/>
          </a:solidFill>
          <a:ln w="6350">
            <a:solidFill>
              <a:srgbClr val="F0F4F8"/>
            </a:solidFill>
            <a:prstDash val="solid"/>
          </a:ln>
        </p:spPr>
      </p:sp>
      <p:sp>
        <p:nvSpPr>
          <p:cNvPr id="30" name="Text 28"/>
          <p:cNvSpPr/>
          <p:nvPr/>
        </p:nvSpPr>
        <p:spPr>
          <a:xfrm>
            <a:off x="4663440" y="2368296"/>
            <a:ext cx="292608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Revenue positive, carbon analytics</a:t>
            </a:r>
            <a:endParaRPr lang="en-US" sz="1000" dirty="0"/>
          </a:p>
        </p:txBody>
      </p:sp>
      <p:sp>
        <p:nvSpPr>
          <p:cNvPr id="31" name="Shape 29"/>
          <p:cNvSpPr/>
          <p:nvPr/>
        </p:nvSpPr>
        <p:spPr>
          <a:xfrm>
            <a:off x="7635240" y="2322576"/>
            <a:ext cx="3063240" cy="658368"/>
          </a:xfrm>
          <a:prstGeom prst="rect">
            <a:avLst/>
          </a:prstGeom>
          <a:solidFill>
            <a:srgbClr val="F0F4F8"/>
          </a:solidFill>
          <a:ln w="6350">
            <a:solidFill>
              <a:srgbClr val="F0F4F8"/>
            </a:solidFill>
            <a:prstDash val="solid"/>
          </a:ln>
        </p:spPr>
      </p:sp>
      <p:sp>
        <p:nvSpPr>
          <p:cNvPr id="32" name="Text 30"/>
          <p:cNvSpPr/>
          <p:nvPr/>
        </p:nvSpPr>
        <p:spPr>
          <a:xfrm>
            <a:off x="7680960" y="2368296"/>
            <a:ext cx="297180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ESG data integration into indices</a:t>
            </a:r>
            <a:endParaRPr lang="en-US" sz="1000" dirty="0"/>
          </a:p>
        </p:txBody>
      </p:sp>
      <p:sp>
        <p:nvSpPr>
          <p:cNvPr id="33" name="Shape 31"/>
          <p:cNvSpPr/>
          <p:nvPr/>
        </p:nvSpPr>
        <p:spPr>
          <a:xfrm>
            <a:off x="274320" y="2980944"/>
            <a:ext cx="1828800" cy="658368"/>
          </a:xfrm>
          <a:prstGeom prst="rect">
            <a:avLst/>
          </a:prstGeom>
          <a:solidFill>
            <a:srgbClr val="FFFFFF"/>
          </a:solidFill>
          <a:ln w="6350">
            <a:solidFill>
              <a:srgbClr val="F0F4F8"/>
            </a:solidFill>
            <a:prstDash val="solid"/>
          </a:ln>
        </p:spPr>
      </p:sp>
      <p:sp>
        <p:nvSpPr>
          <p:cNvPr id="34" name="Text 32"/>
          <p:cNvSpPr/>
          <p:nvPr/>
        </p:nvSpPr>
        <p:spPr>
          <a:xfrm>
            <a:off x="320040" y="3026664"/>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Climate X</a:t>
            </a:r>
            <a:endParaRPr lang="en-US" sz="1000" dirty="0"/>
          </a:p>
        </p:txBody>
      </p:sp>
      <p:sp>
        <p:nvSpPr>
          <p:cNvPr id="35" name="Shape 33"/>
          <p:cNvSpPr/>
          <p:nvPr/>
        </p:nvSpPr>
        <p:spPr>
          <a:xfrm>
            <a:off x="2103120" y="2980944"/>
            <a:ext cx="1828800" cy="658368"/>
          </a:xfrm>
          <a:prstGeom prst="rect">
            <a:avLst/>
          </a:prstGeom>
          <a:solidFill>
            <a:srgbClr val="FFFFFF"/>
          </a:solidFill>
          <a:ln w="6350">
            <a:solidFill>
              <a:srgbClr val="F0F4F8"/>
            </a:solidFill>
            <a:prstDash val="solid"/>
          </a:ln>
        </p:spPr>
      </p:sp>
      <p:sp>
        <p:nvSpPr>
          <p:cNvPr id="36" name="Text 34"/>
          <p:cNvSpPr/>
          <p:nvPr/>
        </p:nvSpPr>
        <p:spPr>
          <a:xfrm>
            <a:off x="2148840" y="3026664"/>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Series A investors</a:t>
            </a:r>
            <a:endParaRPr lang="en-US" sz="1000" dirty="0"/>
          </a:p>
        </p:txBody>
      </p:sp>
      <p:sp>
        <p:nvSpPr>
          <p:cNvPr id="37" name="Shape 35"/>
          <p:cNvSpPr/>
          <p:nvPr/>
        </p:nvSpPr>
        <p:spPr>
          <a:xfrm>
            <a:off x="3931920" y="2980944"/>
            <a:ext cx="685800" cy="658368"/>
          </a:xfrm>
          <a:prstGeom prst="rect">
            <a:avLst/>
          </a:prstGeom>
          <a:solidFill>
            <a:srgbClr val="FFFFFF"/>
          </a:solidFill>
          <a:ln w="6350">
            <a:solidFill>
              <a:srgbClr val="F0F4F8"/>
            </a:solidFill>
            <a:prstDash val="solid"/>
          </a:ln>
        </p:spPr>
      </p:sp>
      <p:sp>
        <p:nvSpPr>
          <p:cNvPr id="38" name="Text 36"/>
          <p:cNvSpPr/>
          <p:nvPr/>
        </p:nvSpPr>
        <p:spPr>
          <a:xfrm>
            <a:off x="3977640" y="3026664"/>
            <a:ext cx="594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2022</a:t>
            </a:r>
            <a:endParaRPr lang="en-US" sz="1000" dirty="0"/>
          </a:p>
        </p:txBody>
      </p:sp>
      <p:sp>
        <p:nvSpPr>
          <p:cNvPr id="39" name="Shape 37"/>
          <p:cNvSpPr/>
          <p:nvPr/>
        </p:nvSpPr>
        <p:spPr>
          <a:xfrm>
            <a:off x="4617720" y="2980944"/>
            <a:ext cx="3017520" cy="658368"/>
          </a:xfrm>
          <a:prstGeom prst="rect">
            <a:avLst/>
          </a:prstGeom>
          <a:solidFill>
            <a:srgbClr val="FFFFFF"/>
          </a:solidFill>
          <a:ln w="6350">
            <a:solidFill>
              <a:srgbClr val="F0F4F8"/>
            </a:solidFill>
            <a:prstDash val="solid"/>
          </a:ln>
        </p:spPr>
      </p:sp>
      <p:sp>
        <p:nvSpPr>
          <p:cNvPr id="40" name="Text 38"/>
          <p:cNvSpPr/>
          <p:nvPr/>
        </p:nvSpPr>
        <p:spPr>
          <a:xfrm>
            <a:off x="4663440" y="3026664"/>
            <a:ext cx="292608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Pre revenue, climate analytics</a:t>
            </a:r>
            <a:endParaRPr lang="en-US" sz="1000" dirty="0"/>
          </a:p>
        </p:txBody>
      </p:sp>
      <p:sp>
        <p:nvSpPr>
          <p:cNvPr id="41" name="Shape 39"/>
          <p:cNvSpPr/>
          <p:nvPr/>
        </p:nvSpPr>
        <p:spPr>
          <a:xfrm>
            <a:off x="7635240" y="2980944"/>
            <a:ext cx="3063240" cy="658368"/>
          </a:xfrm>
          <a:prstGeom prst="rect">
            <a:avLst/>
          </a:prstGeom>
          <a:solidFill>
            <a:srgbClr val="FFFFFF"/>
          </a:solidFill>
          <a:ln w="6350">
            <a:solidFill>
              <a:srgbClr val="F0F4F8"/>
            </a:solidFill>
            <a:prstDash val="solid"/>
          </a:ln>
        </p:spPr>
      </p:sp>
      <p:sp>
        <p:nvSpPr>
          <p:cNvPr id="42" name="Text 40"/>
          <p:cNvSpPr/>
          <p:nvPr/>
        </p:nvSpPr>
        <p:spPr>
          <a:xfrm>
            <a:off x="7680960" y="3026664"/>
            <a:ext cx="297180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GBP 15M valuation</a:t>
            </a:r>
            <a:endParaRPr lang="en-US" sz="1000" dirty="0"/>
          </a:p>
        </p:txBody>
      </p:sp>
      <p:sp>
        <p:nvSpPr>
          <p:cNvPr id="43" name="Shape 41"/>
          <p:cNvSpPr/>
          <p:nvPr/>
        </p:nvSpPr>
        <p:spPr>
          <a:xfrm>
            <a:off x="274320" y="3639312"/>
            <a:ext cx="1828800" cy="658368"/>
          </a:xfrm>
          <a:prstGeom prst="rect">
            <a:avLst/>
          </a:prstGeom>
          <a:solidFill>
            <a:srgbClr val="F0F4F8"/>
          </a:solidFill>
          <a:ln w="6350">
            <a:solidFill>
              <a:srgbClr val="F0F4F8"/>
            </a:solidFill>
            <a:prstDash val="solid"/>
          </a:ln>
        </p:spPr>
      </p:sp>
      <p:sp>
        <p:nvSpPr>
          <p:cNvPr id="44" name="Text 42"/>
          <p:cNvSpPr/>
          <p:nvPr/>
        </p:nvSpPr>
        <p:spPr>
          <a:xfrm>
            <a:off x="320040" y="3685032"/>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Jupiter Intelligence</a:t>
            </a:r>
            <a:endParaRPr lang="en-US" sz="1000" dirty="0"/>
          </a:p>
        </p:txBody>
      </p:sp>
      <p:sp>
        <p:nvSpPr>
          <p:cNvPr id="45" name="Shape 43"/>
          <p:cNvSpPr/>
          <p:nvPr/>
        </p:nvSpPr>
        <p:spPr>
          <a:xfrm>
            <a:off x="2103120" y="3639312"/>
            <a:ext cx="1828800" cy="658368"/>
          </a:xfrm>
          <a:prstGeom prst="rect">
            <a:avLst/>
          </a:prstGeom>
          <a:solidFill>
            <a:srgbClr val="F0F4F8"/>
          </a:solidFill>
          <a:ln w="6350">
            <a:solidFill>
              <a:srgbClr val="F0F4F8"/>
            </a:solidFill>
            <a:prstDash val="solid"/>
          </a:ln>
        </p:spPr>
      </p:sp>
      <p:sp>
        <p:nvSpPr>
          <p:cNvPr id="46" name="Text 44"/>
          <p:cNvSpPr/>
          <p:nvPr/>
        </p:nvSpPr>
        <p:spPr>
          <a:xfrm>
            <a:off x="2148840" y="3685032"/>
            <a:ext cx="1737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Series C investors</a:t>
            </a:r>
            <a:endParaRPr lang="en-US" sz="1000" dirty="0"/>
          </a:p>
        </p:txBody>
      </p:sp>
      <p:sp>
        <p:nvSpPr>
          <p:cNvPr id="47" name="Shape 45"/>
          <p:cNvSpPr/>
          <p:nvPr/>
        </p:nvSpPr>
        <p:spPr>
          <a:xfrm>
            <a:off x="3931920" y="3639312"/>
            <a:ext cx="685800" cy="658368"/>
          </a:xfrm>
          <a:prstGeom prst="rect">
            <a:avLst/>
          </a:prstGeom>
          <a:solidFill>
            <a:srgbClr val="F0F4F8"/>
          </a:solidFill>
          <a:ln w="6350">
            <a:solidFill>
              <a:srgbClr val="F0F4F8"/>
            </a:solidFill>
            <a:prstDash val="solid"/>
          </a:ln>
        </p:spPr>
      </p:sp>
      <p:sp>
        <p:nvSpPr>
          <p:cNvPr id="48" name="Text 46"/>
          <p:cNvSpPr/>
          <p:nvPr/>
        </p:nvSpPr>
        <p:spPr>
          <a:xfrm>
            <a:off x="3977640" y="3685032"/>
            <a:ext cx="59436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2021</a:t>
            </a:r>
            <a:endParaRPr lang="en-US" sz="1000" dirty="0"/>
          </a:p>
        </p:txBody>
      </p:sp>
      <p:sp>
        <p:nvSpPr>
          <p:cNvPr id="49" name="Shape 47"/>
          <p:cNvSpPr/>
          <p:nvPr/>
        </p:nvSpPr>
        <p:spPr>
          <a:xfrm>
            <a:off x="4617720" y="3639312"/>
            <a:ext cx="3017520" cy="658368"/>
          </a:xfrm>
          <a:prstGeom prst="rect">
            <a:avLst/>
          </a:prstGeom>
          <a:solidFill>
            <a:srgbClr val="F0F4F8"/>
          </a:solidFill>
          <a:ln w="6350">
            <a:solidFill>
              <a:srgbClr val="F0F4F8"/>
            </a:solidFill>
            <a:prstDash val="solid"/>
          </a:ln>
        </p:spPr>
      </p:sp>
      <p:sp>
        <p:nvSpPr>
          <p:cNvPr id="50" name="Text 48"/>
          <p:cNvSpPr/>
          <p:nvPr/>
        </p:nvSpPr>
        <p:spPr>
          <a:xfrm>
            <a:off x="4663440" y="3685032"/>
            <a:ext cx="292608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Revenue stage, physical risk</a:t>
            </a:r>
            <a:endParaRPr lang="en-US" sz="1000" dirty="0"/>
          </a:p>
        </p:txBody>
      </p:sp>
      <p:sp>
        <p:nvSpPr>
          <p:cNvPr id="51" name="Shape 49"/>
          <p:cNvSpPr/>
          <p:nvPr/>
        </p:nvSpPr>
        <p:spPr>
          <a:xfrm>
            <a:off x="7635240" y="3639312"/>
            <a:ext cx="3063240" cy="658368"/>
          </a:xfrm>
          <a:prstGeom prst="rect">
            <a:avLst/>
          </a:prstGeom>
          <a:solidFill>
            <a:srgbClr val="F0F4F8"/>
          </a:solidFill>
          <a:ln w="6350">
            <a:solidFill>
              <a:srgbClr val="F0F4F8"/>
            </a:solidFill>
            <a:prstDash val="solid"/>
          </a:ln>
        </p:spPr>
      </p:sp>
      <p:sp>
        <p:nvSpPr>
          <p:cNvPr id="52" name="Text 50"/>
          <p:cNvSpPr/>
          <p:nvPr/>
        </p:nvSpPr>
        <p:spPr>
          <a:xfrm>
            <a:off x="7680960" y="3685032"/>
            <a:ext cx="2971800" cy="566928"/>
          </a:xfrm>
          <a:prstGeom prst="rect">
            <a:avLst/>
          </a:prstGeom>
          <a:noFill/>
          <a:ln/>
        </p:spPr>
        <p:txBody>
          <a:bodyPr wrap="square" rtlCol="0" anchor="ctr"/>
          <a:lstStyle/>
          <a:p>
            <a:pPr indent="0" marL="0">
              <a:buNone/>
            </a:pPr>
            <a:r>
              <a:rPr lang="en-US" sz="1000" dirty="0">
                <a:solidFill>
                  <a:srgbClr val="0B1F38"/>
                </a:solidFill>
                <a:latin typeface="Calibri" pitchFamily="34" charset="0"/>
                <a:ea typeface="Calibri" pitchFamily="34" charset="-122"/>
                <a:cs typeface="Calibri" pitchFamily="34" charset="-120"/>
              </a:rPr>
              <a:t>USD 54M raised</a:t>
            </a:r>
            <a:endParaRPr lang="en-US" sz="1000" dirty="0"/>
          </a:p>
        </p:txBody>
      </p:sp>
      <p:sp>
        <p:nvSpPr>
          <p:cNvPr id="53" name="Shape 51"/>
          <p:cNvSpPr/>
          <p:nvPr/>
        </p:nvSpPr>
        <p:spPr>
          <a:xfrm>
            <a:off x="274320" y="4297680"/>
            <a:ext cx="1828800" cy="658368"/>
          </a:xfrm>
          <a:prstGeom prst="rect">
            <a:avLst/>
          </a:prstGeom>
          <a:solidFill>
            <a:srgbClr val="F0FDF4"/>
          </a:solidFill>
          <a:ln w="6350">
            <a:solidFill>
              <a:srgbClr val="F0F4F8"/>
            </a:solidFill>
            <a:prstDash val="solid"/>
          </a:ln>
        </p:spPr>
      </p:sp>
      <p:sp>
        <p:nvSpPr>
          <p:cNvPr id="54" name="Text 52"/>
          <p:cNvSpPr/>
          <p:nvPr/>
        </p:nvSpPr>
        <p:spPr>
          <a:xfrm>
            <a:off x="320040" y="4343400"/>
            <a:ext cx="1737360" cy="566928"/>
          </a:xfrm>
          <a:prstGeom prst="rect">
            <a:avLst/>
          </a:prstGeom>
          <a:noFill/>
          <a:ln/>
        </p:spPr>
        <p:txBody>
          <a:bodyPr wrap="square" rtlCol="0" anchor="ctr"/>
          <a:lstStyle/>
          <a:p>
            <a:pPr indent="0" marL="0">
              <a:buNone/>
            </a:pPr>
            <a:r>
              <a:rPr lang="en-US" sz="1000" b="1" dirty="0">
                <a:solidFill>
                  <a:srgbClr val="0D4F3C"/>
                </a:solidFill>
                <a:latin typeface="Calibri" pitchFamily="34" charset="0"/>
                <a:ea typeface="Calibri" pitchFamily="34" charset="-122"/>
                <a:cs typeface="Calibri" pitchFamily="34" charset="-120"/>
              </a:rPr>
              <a:t>ClimRisk B.V.</a:t>
            </a:r>
            <a:endParaRPr lang="en-US" sz="1000" dirty="0"/>
          </a:p>
        </p:txBody>
      </p:sp>
      <p:sp>
        <p:nvSpPr>
          <p:cNvPr id="55" name="Shape 53"/>
          <p:cNvSpPr/>
          <p:nvPr/>
        </p:nvSpPr>
        <p:spPr>
          <a:xfrm>
            <a:off x="2103120" y="4297680"/>
            <a:ext cx="1828800" cy="658368"/>
          </a:xfrm>
          <a:prstGeom prst="rect">
            <a:avLst/>
          </a:prstGeom>
          <a:solidFill>
            <a:srgbClr val="F0FDF4"/>
          </a:solidFill>
          <a:ln w="6350">
            <a:solidFill>
              <a:srgbClr val="F0F4F8"/>
            </a:solidFill>
            <a:prstDash val="solid"/>
          </a:ln>
        </p:spPr>
      </p:sp>
      <p:sp>
        <p:nvSpPr>
          <p:cNvPr id="56" name="Text 54"/>
          <p:cNvSpPr/>
          <p:nvPr/>
        </p:nvSpPr>
        <p:spPr>
          <a:xfrm>
            <a:off x="2148840" y="4343400"/>
            <a:ext cx="1737360" cy="566928"/>
          </a:xfrm>
          <a:prstGeom prst="rect">
            <a:avLst/>
          </a:prstGeom>
          <a:noFill/>
          <a:ln/>
        </p:spPr>
        <p:txBody>
          <a:bodyPr wrap="square" rtlCol="0" anchor="ctr"/>
          <a:lstStyle/>
          <a:p>
            <a:pPr indent="0" marL="0">
              <a:buNone/>
            </a:pPr>
            <a:r>
              <a:rPr lang="en-US" sz="1000" dirty="0">
                <a:solidFill>
                  <a:srgbClr val="0D4F3C"/>
                </a:solidFill>
                <a:latin typeface="Calibri" pitchFamily="34" charset="0"/>
                <a:ea typeface="Calibri" pitchFamily="34" charset="-122"/>
                <a:cs typeface="Calibri" pitchFamily="34" charset="-120"/>
              </a:rPr>
              <a:t>Open</a:t>
            </a:r>
            <a:endParaRPr lang="en-US" sz="1000" dirty="0"/>
          </a:p>
        </p:txBody>
      </p:sp>
      <p:sp>
        <p:nvSpPr>
          <p:cNvPr id="57" name="Shape 55"/>
          <p:cNvSpPr/>
          <p:nvPr/>
        </p:nvSpPr>
        <p:spPr>
          <a:xfrm>
            <a:off x="3931920" y="4297680"/>
            <a:ext cx="685800" cy="658368"/>
          </a:xfrm>
          <a:prstGeom prst="rect">
            <a:avLst/>
          </a:prstGeom>
          <a:solidFill>
            <a:srgbClr val="F0FDF4"/>
          </a:solidFill>
          <a:ln w="6350">
            <a:solidFill>
              <a:srgbClr val="F0F4F8"/>
            </a:solidFill>
            <a:prstDash val="solid"/>
          </a:ln>
        </p:spPr>
      </p:sp>
      <p:sp>
        <p:nvSpPr>
          <p:cNvPr id="58" name="Text 56"/>
          <p:cNvSpPr/>
          <p:nvPr/>
        </p:nvSpPr>
        <p:spPr>
          <a:xfrm>
            <a:off x="3977640" y="4343400"/>
            <a:ext cx="594360" cy="566928"/>
          </a:xfrm>
          <a:prstGeom prst="rect">
            <a:avLst/>
          </a:prstGeom>
          <a:noFill/>
          <a:ln/>
        </p:spPr>
        <p:txBody>
          <a:bodyPr wrap="square" rtlCol="0" anchor="ctr"/>
          <a:lstStyle/>
          <a:p>
            <a:pPr indent="0" marL="0">
              <a:buNone/>
            </a:pPr>
            <a:r>
              <a:rPr lang="en-US" sz="1000" dirty="0">
                <a:solidFill>
                  <a:srgbClr val="0D4F3C"/>
                </a:solidFill>
                <a:latin typeface="Calibri" pitchFamily="34" charset="0"/>
                <a:ea typeface="Calibri" pitchFamily="34" charset="-122"/>
                <a:cs typeface="Calibri" pitchFamily="34" charset="-120"/>
              </a:rPr>
              <a:t>2026</a:t>
            </a:r>
            <a:endParaRPr lang="en-US" sz="1000" dirty="0"/>
          </a:p>
        </p:txBody>
      </p:sp>
      <p:sp>
        <p:nvSpPr>
          <p:cNvPr id="59" name="Shape 57"/>
          <p:cNvSpPr/>
          <p:nvPr/>
        </p:nvSpPr>
        <p:spPr>
          <a:xfrm>
            <a:off x="4617720" y="4297680"/>
            <a:ext cx="3017520" cy="658368"/>
          </a:xfrm>
          <a:prstGeom prst="rect">
            <a:avLst/>
          </a:prstGeom>
          <a:solidFill>
            <a:srgbClr val="F0FDF4"/>
          </a:solidFill>
          <a:ln w="6350">
            <a:solidFill>
              <a:srgbClr val="F0F4F8"/>
            </a:solidFill>
            <a:prstDash val="solid"/>
          </a:ln>
        </p:spPr>
      </p:sp>
      <p:sp>
        <p:nvSpPr>
          <p:cNvPr id="60" name="Text 58"/>
          <p:cNvSpPr/>
          <p:nvPr/>
        </p:nvSpPr>
        <p:spPr>
          <a:xfrm>
            <a:off x="4663440" y="4343400"/>
            <a:ext cx="2926080" cy="566928"/>
          </a:xfrm>
          <a:prstGeom prst="rect">
            <a:avLst/>
          </a:prstGeom>
          <a:noFill/>
          <a:ln/>
        </p:spPr>
        <p:txBody>
          <a:bodyPr wrap="square" rtlCol="0" anchor="ctr"/>
          <a:lstStyle/>
          <a:p>
            <a:pPr indent="0" marL="0">
              <a:buNone/>
            </a:pPr>
            <a:r>
              <a:rPr lang="en-US" sz="1000" dirty="0">
                <a:solidFill>
                  <a:srgbClr val="0D4F3C"/>
                </a:solidFill>
                <a:latin typeface="Calibri" pitchFamily="34" charset="0"/>
                <a:ea typeface="Calibri" pitchFamily="34" charset="-122"/>
                <a:cs typeface="Calibri" pitchFamily="34" charset="-120"/>
              </a:rPr>
              <a:t>Pre revenue, full methodology platform</a:t>
            </a:r>
            <a:endParaRPr lang="en-US" sz="1000" dirty="0"/>
          </a:p>
        </p:txBody>
      </p:sp>
      <p:sp>
        <p:nvSpPr>
          <p:cNvPr id="61" name="Shape 59"/>
          <p:cNvSpPr/>
          <p:nvPr/>
        </p:nvSpPr>
        <p:spPr>
          <a:xfrm>
            <a:off x="7635240" y="4297680"/>
            <a:ext cx="3063240" cy="658368"/>
          </a:xfrm>
          <a:prstGeom prst="rect">
            <a:avLst/>
          </a:prstGeom>
          <a:solidFill>
            <a:srgbClr val="F0FDF4"/>
          </a:solidFill>
          <a:ln w="6350">
            <a:solidFill>
              <a:srgbClr val="F0F4F8"/>
            </a:solidFill>
            <a:prstDash val="solid"/>
          </a:ln>
        </p:spPr>
      </p:sp>
      <p:sp>
        <p:nvSpPr>
          <p:cNvPr id="62" name="Text 60"/>
          <p:cNvSpPr/>
          <p:nvPr/>
        </p:nvSpPr>
        <p:spPr>
          <a:xfrm>
            <a:off x="7680960" y="4343400"/>
            <a:ext cx="2971800" cy="566928"/>
          </a:xfrm>
          <a:prstGeom prst="rect">
            <a:avLst/>
          </a:prstGeom>
          <a:noFill/>
          <a:ln/>
        </p:spPr>
        <p:txBody>
          <a:bodyPr wrap="square" rtlCol="0" anchor="ctr"/>
          <a:lstStyle/>
          <a:p>
            <a:pPr indent="0" marL="0">
              <a:buNone/>
            </a:pPr>
            <a:r>
              <a:rPr lang="en-US" sz="1000" dirty="0">
                <a:solidFill>
                  <a:srgbClr val="0D4F3C"/>
                </a:solidFill>
                <a:latin typeface="Calibri" pitchFamily="34" charset="0"/>
                <a:ea typeface="Calibri" pitchFamily="34" charset="-122"/>
                <a:cs typeface="Calibri" pitchFamily="34" charset="-120"/>
              </a:rPr>
              <a:t>Available under NDA</a:t>
            </a:r>
            <a:endParaRPr lang="en-US" sz="1000" dirty="0"/>
          </a:p>
        </p:txBody>
      </p:sp>
      <p:sp>
        <p:nvSpPr>
          <p:cNvPr id="63" name="Shape 61"/>
          <p:cNvSpPr/>
          <p:nvPr/>
        </p:nvSpPr>
        <p:spPr>
          <a:xfrm>
            <a:off x="274320" y="5120640"/>
            <a:ext cx="11795760" cy="731520"/>
          </a:xfrm>
          <a:prstGeom prst="roundRect">
            <a:avLst>
              <a:gd name="adj" fmla="val 12500"/>
            </a:avLst>
          </a:prstGeom>
          <a:solidFill>
            <a:srgbClr val="1D9E75"/>
          </a:solidFill>
          <a:ln w="12700">
            <a:solidFill>
              <a:srgbClr val="1D9E75"/>
            </a:solidFill>
            <a:prstDash val="solid"/>
          </a:ln>
        </p:spPr>
      </p:sp>
      <p:sp>
        <p:nvSpPr>
          <p:cNvPr id="64" name="Text 62"/>
          <p:cNvSpPr/>
          <p:nvPr/>
        </p:nvSpPr>
        <p:spPr>
          <a:xfrm>
            <a:off x="457200" y="5193792"/>
            <a:ext cx="114300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 revenue climate risk methodology IP has transacted in the EUR 2M to EUR 15M range when strategic fit is clear.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640080"/>
          </a:xfrm>
          <a:prstGeom prst="rect">
            <a:avLst/>
          </a:prstGeom>
          <a:noFill/>
          <a:ln/>
        </p:spPr>
        <p:txBody>
          <a:bodyPr wrap="square" rtlCol="0" anchor="t"/>
          <a:lstStyle/>
          <a:p>
            <a:pPr indent="0" marL="0">
              <a:buNone/>
            </a:pPr>
            <a:r>
              <a:rPr lang="en-US" sz="2800" b="1" dirty="0">
                <a:solidFill>
                  <a:srgbClr val="0B1F38"/>
                </a:solidFill>
                <a:latin typeface="Calibri" pitchFamily="34" charset="0"/>
                <a:ea typeface="Calibri" pitchFamily="34" charset="-122"/>
                <a:cs typeface="Calibri" pitchFamily="34" charset="-120"/>
              </a:rPr>
              <a:t>Three Buyer Types. One Engine.</a:t>
            </a:r>
            <a:endParaRPr lang="en-US" sz="2800" dirty="0"/>
          </a:p>
        </p:txBody>
      </p:sp>
      <p:sp>
        <p:nvSpPr>
          <p:cNvPr id="3" name="Shape 1"/>
          <p:cNvSpPr/>
          <p:nvPr/>
        </p:nvSpPr>
        <p:spPr>
          <a:xfrm>
            <a:off x="274320" y="1005840"/>
            <a:ext cx="3749040" cy="5486400"/>
          </a:xfrm>
          <a:prstGeom prst="rect">
            <a:avLst/>
          </a:prstGeom>
          <a:solidFill>
            <a:srgbClr val="F0F4F8"/>
          </a:solidFill>
          <a:ln w="12700">
            <a:solidFill>
              <a:srgbClr val="F0F4F8"/>
            </a:solidFill>
            <a:prstDash val="solid"/>
          </a:ln>
        </p:spPr>
      </p:sp>
      <p:sp>
        <p:nvSpPr>
          <p:cNvPr id="4" name="Shape 2"/>
          <p:cNvSpPr/>
          <p:nvPr/>
        </p:nvSpPr>
        <p:spPr>
          <a:xfrm>
            <a:off x="274320" y="1005840"/>
            <a:ext cx="3749040" cy="109728"/>
          </a:xfrm>
          <a:prstGeom prst="rect">
            <a:avLst/>
          </a:prstGeom>
          <a:solidFill>
            <a:srgbClr val="1D9E75"/>
          </a:solidFill>
          <a:ln w="12700">
            <a:solidFill>
              <a:srgbClr val="1D9E75"/>
            </a:solidFill>
            <a:prstDash val="solid"/>
          </a:ln>
        </p:spPr>
      </p:sp>
      <p:sp>
        <p:nvSpPr>
          <p:cNvPr id="5" name="Text 3"/>
          <p:cNvSpPr/>
          <p:nvPr/>
        </p:nvSpPr>
        <p:spPr>
          <a:xfrm>
            <a:off x="411480" y="1188720"/>
            <a:ext cx="3474720" cy="457200"/>
          </a:xfrm>
          <a:prstGeom prst="rect">
            <a:avLst/>
          </a:prstGeom>
          <a:noFill/>
          <a:ln/>
        </p:spPr>
        <p:txBody>
          <a:bodyPr wrap="square" rtlCol="0" anchor="ctr"/>
          <a:lstStyle/>
          <a:p>
            <a:pPr indent="0" marL="0">
              <a:buNone/>
            </a:pPr>
            <a:r>
              <a:rPr lang="en-US" sz="1300" b="1" dirty="0">
                <a:solidFill>
                  <a:srgbClr val="0B1F38"/>
                </a:solidFill>
                <a:latin typeface="Calibri" pitchFamily="34" charset="0"/>
                <a:ea typeface="Calibri" pitchFamily="34" charset="-122"/>
                <a:cs typeface="Calibri" pitchFamily="34" charset="-120"/>
              </a:rPr>
              <a:t>ESG Data Providers</a:t>
            </a:r>
            <a:endParaRPr lang="en-US" sz="1300" dirty="0"/>
          </a:p>
        </p:txBody>
      </p:sp>
      <p:sp>
        <p:nvSpPr>
          <p:cNvPr id="6" name="Text 4"/>
          <p:cNvSpPr/>
          <p:nvPr/>
        </p:nvSpPr>
        <p:spPr>
          <a:xfrm>
            <a:off x="411480" y="1691640"/>
            <a:ext cx="3474720" cy="320040"/>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MSCI, Moody's, S&amp;P, Sustainalytics</a:t>
            </a:r>
            <a:endParaRPr lang="en-US" sz="1100" dirty="0"/>
          </a:p>
        </p:txBody>
      </p:sp>
      <p:sp>
        <p:nvSpPr>
          <p:cNvPr id="7" name="Text 5"/>
          <p:cNvSpPr/>
          <p:nvPr/>
        </p:nvSpPr>
        <p:spPr>
          <a:xfrm>
            <a:off x="411480" y="2057400"/>
            <a:ext cx="3474720" cy="192024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The gap: </a:t>
            </a:r>
            <a:pPr indent="0" marL="0">
              <a:buNone/>
            </a:pPr>
            <a:r>
              <a:rPr lang="en-US" sz="1100" dirty="0">
                <a:solidFill>
                  <a:srgbClr val="64748B"/>
                </a:solidFill>
                <a:latin typeface="Calibri" pitchFamily="34" charset="0"/>
                <a:ea typeface="Calibri" pitchFamily="34" charset="-122"/>
                <a:cs typeface="Calibri" pitchFamily="34" charset="-120"/>
              </a:rPr>
              <a:t>MACC, CBAM, and double materiality in one engine does not exist in their current product lines.</a:t>
            </a:r>
            <a:endParaRPr lang="en-US" sz="1200" dirty="0"/>
          </a:p>
        </p:txBody>
      </p:sp>
      <p:sp>
        <p:nvSpPr>
          <p:cNvPr id="8" name="Text 6"/>
          <p:cNvSpPr/>
          <p:nvPr/>
        </p:nvSpPr>
        <p:spPr>
          <a:xfrm>
            <a:off x="411480" y="4023360"/>
            <a:ext cx="3474720" cy="219456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What ClimRisk adds: </a:t>
            </a:r>
            <a:pPr indent="0" marL="0">
              <a:buNone/>
            </a:pPr>
            <a:r>
              <a:rPr lang="en-US" sz="1100" dirty="0">
                <a:solidFill>
                  <a:srgbClr val="64748B"/>
                </a:solidFill>
                <a:latin typeface="Calibri" pitchFamily="34" charset="0"/>
                <a:ea typeface="Calibri" pitchFamily="34" charset="-122"/>
                <a:cs typeface="Calibri" pitchFamily="34" charset="-120"/>
              </a:rPr>
              <a:t>Analyst workflow layer on top of existing data. New product line in 6 months vs 24 months internal build.</a:t>
            </a:r>
            <a:endParaRPr lang="en-US" sz="1200" dirty="0"/>
          </a:p>
        </p:txBody>
      </p:sp>
      <p:sp>
        <p:nvSpPr>
          <p:cNvPr id="9" name="Shape 7"/>
          <p:cNvSpPr/>
          <p:nvPr/>
        </p:nvSpPr>
        <p:spPr>
          <a:xfrm>
            <a:off x="4160520" y="1005840"/>
            <a:ext cx="3749040" cy="5486400"/>
          </a:xfrm>
          <a:prstGeom prst="rect">
            <a:avLst/>
          </a:prstGeom>
          <a:solidFill>
            <a:srgbClr val="F0F4F8"/>
          </a:solidFill>
          <a:ln w="12700">
            <a:solidFill>
              <a:srgbClr val="F0F4F8"/>
            </a:solidFill>
            <a:prstDash val="solid"/>
          </a:ln>
        </p:spPr>
      </p:sp>
      <p:sp>
        <p:nvSpPr>
          <p:cNvPr id="10" name="Shape 8"/>
          <p:cNvSpPr/>
          <p:nvPr/>
        </p:nvSpPr>
        <p:spPr>
          <a:xfrm>
            <a:off x="4160520" y="1005840"/>
            <a:ext cx="3749040" cy="109728"/>
          </a:xfrm>
          <a:prstGeom prst="rect">
            <a:avLst/>
          </a:prstGeom>
          <a:solidFill>
            <a:srgbClr val="1D9E75"/>
          </a:solidFill>
          <a:ln w="12700">
            <a:solidFill>
              <a:srgbClr val="1D9E75"/>
            </a:solidFill>
            <a:prstDash val="solid"/>
          </a:ln>
        </p:spPr>
      </p:sp>
      <p:sp>
        <p:nvSpPr>
          <p:cNvPr id="11" name="Text 9"/>
          <p:cNvSpPr/>
          <p:nvPr/>
        </p:nvSpPr>
        <p:spPr>
          <a:xfrm>
            <a:off x="4297680" y="1188720"/>
            <a:ext cx="3474720" cy="457200"/>
          </a:xfrm>
          <a:prstGeom prst="rect">
            <a:avLst/>
          </a:prstGeom>
          <a:noFill/>
          <a:ln/>
        </p:spPr>
        <p:txBody>
          <a:bodyPr wrap="square" rtlCol="0" anchor="ctr"/>
          <a:lstStyle/>
          <a:p>
            <a:pPr indent="0" marL="0">
              <a:buNone/>
            </a:pPr>
            <a:r>
              <a:rPr lang="en-US" sz="1300" b="1" dirty="0">
                <a:solidFill>
                  <a:srgbClr val="0B1F38"/>
                </a:solidFill>
                <a:latin typeface="Calibri" pitchFamily="34" charset="0"/>
                <a:ea typeface="Calibri" pitchFamily="34" charset="-122"/>
                <a:cs typeface="Calibri" pitchFamily="34" charset="-120"/>
              </a:rPr>
              <a:t>Insurance and Reinsurance</a:t>
            </a:r>
            <a:endParaRPr lang="en-US" sz="1300" dirty="0"/>
          </a:p>
        </p:txBody>
      </p:sp>
      <p:sp>
        <p:nvSpPr>
          <p:cNvPr id="12" name="Text 10"/>
          <p:cNvSpPr/>
          <p:nvPr/>
        </p:nvSpPr>
        <p:spPr>
          <a:xfrm>
            <a:off x="4297680" y="1691640"/>
            <a:ext cx="3474720" cy="320040"/>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Munich Re, Swiss Re, Allianz, Marsh</a:t>
            </a:r>
            <a:endParaRPr lang="en-US" sz="1100" dirty="0"/>
          </a:p>
        </p:txBody>
      </p:sp>
      <p:sp>
        <p:nvSpPr>
          <p:cNvPr id="13" name="Text 11"/>
          <p:cNvSpPr/>
          <p:nvPr/>
        </p:nvSpPr>
        <p:spPr>
          <a:xfrm>
            <a:off x="4297680" y="2057400"/>
            <a:ext cx="3474720" cy="192024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The gap: </a:t>
            </a:r>
            <a:pPr indent="0" marL="0">
              <a:buNone/>
            </a:pPr>
            <a:r>
              <a:rPr lang="en-US" sz="1100" dirty="0">
                <a:solidFill>
                  <a:srgbClr val="64748B"/>
                </a:solidFill>
                <a:latin typeface="Calibri" pitchFamily="34" charset="0"/>
                <a:ea typeface="Calibri" pitchFamily="34" charset="-122"/>
                <a:cs typeface="Calibri" pitchFamily="34" charset="-120"/>
              </a:rPr>
              <a:t>Catastrophe models cover acute events. Chronic risk (water stress, heat, SLR) is unmodelled.</a:t>
            </a:r>
            <a:endParaRPr lang="en-US" sz="1200" dirty="0"/>
          </a:p>
        </p:txBody>
      </p:sp>
      <p:sp>
        <p:nvSpPr>
          <p:cNvPr id="14" name="Text 12"/>
          <p:cNvSpPr/>
          <p:nvPr/>
        </p:nvSpPr>
        <p:spPr>
          <a:xfrm>
            <a:off x="4297680" y="4023360"/>
            <a:ext cx="3474720" cy="219456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What ClimRisk adds: </a:t>
            </a:r>
            <a:pPr indent="0" marL="0">
              <a:buNone/>
            </a:pPr>
            <a:r>
              <a:rPr lang="en-US" sz="1100" dirty="0">
                <a:solidFill>
                  <a:srgbClr val="64748B"/>
                </a:solidFill>
                <a:latin typeface="Calibri" pitchFamily="34" charset="0"/>
                <a:ea typeface="Calibri" pitchFamily="34" charset="-122"/>
                <a:cs typeface="Calibri" pitchFamily="34" charset="-120"/>
              </a:rPr>
              <a:t>Chronic plus acute in one NGFS-calibrated framework with financial translation. Underwriting tool in 3 months.</a:t>
            </a:r>
            <a:endParaRPr lang="en-US" sz="1200" dirty="0"/>
          </a:p>
        </p:txBody>
      </p:sp>
      <p:sp>
        <p:nvSpPr>
          <p:cNvPr id="15" name="Shape 13"/>
          <p:cNvSpPr/>
          <p:nvPr/>
        </p:nvSpPr>
        <p:spPr>
          <a:xfrm>
            <a:off x="8046720" y="1005840"/>
            <a:ext cx="3749040" cy="5486400"/>
          </a:xfrm>
          <a:prstGeom prst="rect">
            <a:avLst/>
          </a:prstGeom>
          <a:solidFill>
            <a:srgbClr val="F0F4F8"/>
          </a:solidFill>
          <a:ln w="12700">
            <a:solidFill>
              <a:srgbClr val="F0F4F8"/>
            </a:solidFill>
            <a:prstDash val="solid"/>
          </a:ln>
        </p:spPr>
      </p:sp>
      <p:sp>
        <p:nvSpPr>
          <p:cNvPr id="16" name="Shape 14"/>
          <p:cNvSpPr/>
          <p:nvPr/>
        </p:nvSpPr>
        <p:spPr>
          <a:xfrm>
            <a:off x="8046720" y="1005840"/>
            <a:ext cx="3749040" cy="109728"/>
          </a:xfrm>
          <a:prstGeom prst="rect">
            <a:avLst/>
          </a:prstGeom>
          <a:solidFill>
            <a:srgbClr val="1D9E75"/>
          </a:solidFill>
          <a:ln w="12700">
            <a:solidFill>
              <a:srgbClr val="1D9E75"/>
            </a:solidFill>
            <a:prstDash val="solid"/>
          </a:ln>
        </p:spPr>
      </p:sp>
      <p:sp>
        <p:nvSpPr>
          <p:cNvPr id="17" name="Text 15"/>
          <p:cNvSpPr/>
          <p:nvPr/>
        </p:nvSpPr>
        <p:spPr>
          <a:xfrm>
            <a:off x="8183880" y="1188720"/>
            <a:ext cx="3474720" cy="457200"/>
          </a:xfrm>
          <a:prstGeom prst="rect">
            <a:avLst/>
          </a:prstGeom>
          <a:noFill/>
          <a:ln/>
        </p:spPr>
        <p:txBody>
          <a:bodyPr wrap="square" rtlCol="0" anchor="ctr"/>
          <a:lstStyle/>
          <a:p>
            <a:pPr indent="0" marL="0">
              <a:buNone/>
            </a:pPr>
            <a:r>
              <a:rPr lang="en-US" sz="1300" b="1" dirty="0">
                <a:solidFill>
                  <a:srgbClr val="0B1F38"/>
                </a:solidFill>
                <a:latin typeface="Calibri" pitchFamily="34" charset="0"/>
                <a:ea typeface="Calibri" pitchFamily="34" charset="-122"/>
                <a:cs typeface="Calibri" pitchFamily="34" charset="-120"/>
              </a:rPr>
              <a:t>Dutch and EU Financial Institutions</a:t>
            </a:r>
            <a:endParaRPr lang="en-US" sz="1300" dirty="0"/>
          </a:p>
        </p:txBody>
      </p:sp>
      <p:sp>
        <p:nvSpPr>
          <p:cNvPr id="18" name="Text 16"/>
          <p:cNvSpPr/>
          <p:nvPr/>
        </p:nvSpPr>
        <p:spPr>
          <a:xfrm>
            <a:off x="8183880" y="1691640"/>
            <a:ext cx="3474720" cy="320040"/>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ING, Rabobank, ABN AMRO, APG, Aegon</a:t>
            </a:r>
            <a:endParaRPr lang="en-US" sz="1100" dirty="0"/>
          </a:p>
        </p:txBody>
      </p:sp>
      <p:sp>
        <p:nvSpPr>
          <p:cNvPr id="19" name="Text 17"/>
          <p:cNvSpPr/>
          <p:nvPr/>
        </p:nvSpPr>
        <p:spPr>
          <a:xfrm>
            <a:off x="8183880" y="2057400"/>
            <a:ext cx="3474720" cy="192024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The gap: </a:t>
            </a:r>
            <a:pPr indent="0" marL="0">
              <a:buNone/>
            </a:pPr>
            <a:r>
              <a:rPr lang="en-US" sz="1100" dirty="0">
                <a:solidFill>
                  <a:srgbClr val="64748B"/>
                </a:solidFill>
                <a:latin typeface="Calibri" pitchFamily="34" charset="0"/>
                <a:ea typeface="Calibri" pitchFamily="34" charset="-122"/>
                <a:cs typeface="Calibri" pitchFamily="34" charset="-120"/>
              </a:rPr>
              <a:t>DNB and ECB climate stress testing mandate requires verifiable methodology. Current approaches are estimate based.</a:t>
            </a:r>
            <a:endParaRPr lang="en-US" sz="1200" dirty="0"/>
          </a:p>
        </p:txBody>
      </p:sp>
      <p:sp>
        <p:nvSpPr>
          <p:cNvPr id="20" name="Text 18"/>
          <p:cNvSpPr/>
          <p:nvPr/>
        </p:nvSpPr>
        <p:spPr>
          <a:xfrm>
            <a:off x="8183880" y="4023360"/>
            <a:ext cx="3474720" cy="2194560"/>
          </a:xfrm>
          <a:prstGeom prst="rect">
            <a:avLst/>
          </a:prstGeom>
          <a:noFill/>
          <a:ln/>
        </p:spPr>
        <p:txBody>
          <a:bodyPr wrap="square" rtlCol="0" anchor="t"/>
          <a:lstStyle/>
          <a:p>
            <a:pPr indent="0" marL="0">
              <a:buNone/>
            </a:pPr>
            <a:r>
              <a:rPr lang="en-US" sz="1200" b="1" dirty="0">
                <a:solidFill>
                  <a:srgbClr val="0B1F38"/>
                </a:solidFill>
                <a:latin typeface="Calibri" pitchFamily="34" charset="0"/>
                <a:ea typeface="Calibri" pitchFamily="34" charset="-122"/>
                <a:cs typeface="Calibri" pitchFamily="34" charset="-120"/>
              </a:rPr>
              <a:t>What ClimRisk adds: </a:t>
            </a:r>
            <a:pPr indent="0" marL="0">
              <a:buNone/>
            </a:pPr>
            <a:r>
              <a:rPr lang="en-US" sz="1100" dirty="0">
                <a:solidFill>
                  <a:srgbClr val="64748B"/>
                </a:solidFill>
                <a:latin typeface="Calibri" pitchFamily="34" charset="0"/>
                <a:ea typeface="Calibri" pitchFamily="34" charset="-122"/>
                <a:cs typeface="Calibri" pitchFamily="34" charset="-120"/>
              </a:rPr>
              <a:t>CSRD ready engine with PCAF financed emissions and loan portfolio screening. Compliance tool in 60 days.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8"/>
        </a:solidFill>
      </p:bgPr>
    </p:bg>
    <p:spTree>
      <p:nvGrpSpPr>
        <p:cNvPr id="1" name=""/>
        <p:cNvGrpSpPr/>
        <p:nvPr/>
      </p:nvGrpSpPr>
      <p:grpSpPr>
        <a:xfrm>
          <a:off x="0" y="0"/>
          <a:ext cx="0" cy="0"/>
          <a:chOff x="0" y="0"/>
          <a:chExt cx="0" cy="0"/>
        </a:xfrm>
      </p:grpSpPr>
      <p:sp>
        <p:nvSpPr>
          <p:cNvPr id="2" name="Text 0"/>
          <p:cNvSpPr/>
          <p:nvPr/>
        </p:nvSpPr>
        <p:spPr>
          <a:xfrm>
            <a:off x="274320" y="274320"/>
            <a:ext cx="1188720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Three Forces Converging in 2026</a:t>
            </a:r>
            <a:endParaRPr lang="en-US" sz="3200" dirty="0"/>
          </a:p>
        </p:txBody>
      </p:sp>
      <p:sp>
        <p:nvSpPr>
          <p:cNvPr id="3" name="Shape 1"/>
          <p:cNvSpPr/>
          <p:nvPr/>
        </p:nvSpPr>
        <p:spPr>
          <a:xfrm>
            <a:off x="274320" y="1188720"/>
            <a:ext cx="548640" cy="548640"/>
          </a:xfrm>
          <a:prstGeom prst="ellipse">
            <a:avLst/>
          </a:prstGeom>
          <a:solidFill>
            <a:srgbClr val="1D9E75"/>
          </a:solidFill>
          <a:ln w="12700">
            <a:solidFill>
              <a:srgbClr val="1D9E75"/>
            </a:solidFill>
            <a:prstDash val="solid"/>
          </a:ln>
        </p:spPr>
      </p:sp>
      <p:sp>
        <p:nvSpPr>
          <p:cNvPr id="4" name="Text 2"/>
          <p:cNvSpPr/>
          <p:nvPr/>
        </p:nvSpPr>
        <p:spPr>
          <a:xfrm>
            <a:off x="274320" y="118872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005840" y="1188720"/>
            <a:ext cx="10972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Regulatory cliff edge</a:t>
            </a:r>
            <a:endParaRPr lang="en-US" sz="1600" dirty="0"/>
          </a:p>
        </p:txBody>
      </p:sp>
      <p:sp>
        <p:nvSpPr>
          <p:cNvPr id="6" name="Text 4"/>
          <p:cNvSpPr/>
          <p:nvPr/>
        </p:nvSpPr>
        <p:spPr>
          <a:xfrm>
            <a:off x="1005840" y="1645920"/>
            <a:ext cx="10972800" cy="114300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CSRD Phase 2 and CBAM full obligation land simultaneously in 2026. Every large EU company needs a verified methodology by Q4 2026. The window to deploy before the deadline is closing.</a:t>
            </a:r>
            <a:endParaRPr lang="en-US" sz="1300" dirty="0"/>
          </a:p>
        </p:txBody>
      </p:sp>
      <p:sp>
        <p:nvSpPr>
          <p:cNvPr id="7" name="Shape 5"/>
          <p:cNvSpPr/>
          <p:nvPr/>
        </p:nvSpPr>
        <p:spPr>
          <a:xfrm>
            <a:off x="274320" y="2880360"/>
            <a:ext cx="548640" cy="548640"/>
          </a:xfrm>
          <a:prstGeom prst="ellipse">
            <a:avLst/>
          </a:prstGeom>
          <a:solidFill>
            <a:srgbClr val="1D9E75"/>
          </a:solidFill>
          <a:ln w="12700">
            <a:solidFill>
              <a:srgbClr val="1D9E75"/>
            </a:solidFill>
            <a:prstDash val="solid"/>
          </a:ln>
        </p:spPr>
      </p:sp>
      <p:sp>
        <p:nvSpPr>
          <p:cNvPr id="8" name="Text 6"/>
          <p:cNvSpPr/>
          <p:nvPr/>
        </p:nvSpPr>
        <p:spPr>
          <a:xfrm>
            <a:off x="274320" y="28803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880360"/>
            <a:ext cx="10972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Build versus buy math</a:t>
            </a:r>
            <a:endParaRPr lang="en-US" sz="1600" dirty="0"/>
          </a:p>
        </p:txBody>
      </p:sp>
      <p:sp>
        <p:nvSpPr>
          <p:cNvPr id="10" name="Text 8"/>
          <p:cNvSpPr/>
          <p:nvPr/>
        </p:nvSpPr>
        <p:spPr>
          <a:xfrm>
            <a:off x="1005840" y="3337560"/>
            <a:ext cx="10972800" cy="114300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Senior climate quant talent costs EUR 150K to EUR 200K per year. An acquisition at EUR 3M to EUR 8M pays back in 18 months against the internal build cost alone, before any revenue contribution.</a:t>
            </a:r>
            <a:endParaRPr lang="en-US" sz="1300" dirty="0"/>
          </a:p>
        </p:txBody>
      </p:sp>
      <p:sp>
        <p:nvSpPr>
          <p:cNvPr id="11" name="Shape 9"/>
          <p:cNvSpPr/>
          <p:nvPr/>
        </p:nvSpPr>
        <p:spPr>
          <a:xfrm>
            <a:off x="274320" y="4572000"/>
            <a:ext cx="548640" cy="548640"/>
          </a:xfrm>
          <a:prstGeom prst="ellipse">
            <a:avLst/>
          </a:prstGeom>
          <a:solidFill>
            <a:srgbClr val="1D9E75"/>
          </a:solidFill>
          <a:ln w="12700">
            <a:solidFill>
              <a:srgbClr val="1D9E75"/>
            </a:solidFill>
            <a:prstDash val="solid"/>
          </a:ln>
        </p:spPr>
      </p:sp>
      <p:sp>
        <p:nvSpPr>
          <p:cNvPr id="12" name="Text 10"/>
          <p:cNvSpPr/>
          <p:nvPr/>
        </p:nvSpPr>
        <p:spPr>
          <a:xfrm>
            <a:off x="274320" y="457200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005840" y="4572000"/>
            <a:ext cx="109728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Founder timing</a:t>
            </a:r>
            <a:endParaRPr lang="en-US" sz="1600" dirty="0"/>
          </a:p>
        </p:txBody>
      </p:sp>
      <p:sp>
        <p:nvSpPr>
          <p:cNvPr id="14" name="Text 12"/>
          <p:cNvSpPr/>
          <p:nvPr/>
        </p:nvSpPr>
        <p:spPr>
          <a:xfrm>
            <a:off x="1005840" y="5029200"/>
            <a:ext cx="10972800" cy="114300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The platform is complete. The methodology is documented. The regulatory mapping is done. The integration window is now, before a competitor relationship closes this opportunity.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82880"/>
            <a:ext cx="11612880" cy="640080"/>
          </a:xfrm>
          <a:prstGeom prst="rect">
            <a:avLst/>
          </a:prstGeom>
          <a:noFill/>
          <a:ln/>
        </p:spPr>
        <p:txBody>
          <a:bodyPr wrap="square" rtlCol="0" anchor="t"/>
          <a:lstStyle/>
          <a:p>
            <a:pPr indent="0" marL="0">
              <a:buNone/>
            </a:pPr>
            <a:r>
              <a:rPr lang="en-US" sz="3000" b="1" dirty="0">
                <a:solidFill>
                  <a:srgbClr val="0B1F38"/>
                </a:solidFill>
                <a:latin typeface="Calibri" pitchFamily="34" charset="0"/>
                <a:ea typeface="Calibri" pitchFamily="34" charset="-122"/>
                <a:cs typeface="Calibri" pitchFamily="34" charset="-120"/>
              </a:rPr>
              <a:t>Transaction Structure</a:t>
            </a:r>
            <a:endParaRPr lang="en-US" sz="3000" dirty="0"/>
          </a:p>
        </p:txBody>
      </p:sp>
      <p:sp>
        <p:nvSpPr>
          <p:cNvPr id="3" name="Shape 1"/>
          <p:cNvSpPr/>
          <p:nvPr/>
        </p:nvSpPr>
        <p:spPr>
          <a:xfrm>
            <a:off x="274320" y="1005840"/>
            <a:ext cx="5760720" cy="4114800"/>
          </a:xfrm>
          <a:prstGeom prst="rect">
            <a:avLst/>
          </a:prstGeom>
          <a:solidFill>
            <a:srgbClr val="F0F4F8"/>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4" name="Shape 2"/>
          <p:cNvSpPr/>
          <p:nvPr/>
        </p:nvSpPr>
        <p:spPr>
          <a:xfrm>
            <a:off x="274320" y="1005840"/>
            <a:ext cx="5760720" cy="128016"/>
          </a:xfrm>
          <a:prstGeom prst="rect">
            <a:avLst/>
          </a:prstGeom>
          <a:solidFill>
            <a:srgbClr val="1D9E75"/>
          </a:solidFill>
          <a:ln w="12700">
            <a:solidFill>
              <a:srgbClr val="1D9E75"/>
            </a:solidFill>
            <a:prstDash val="solid"/>
          </a:ln>
        </p:spPr>
      </p:sp>
      <p:sp>
        <p:nvSpPr>
          <p:cNvPr id="5" name="Text 3"/>
          <p:cNvSpPr/>
          <p:nvPr/>
        </p:nvSpPr>
        <p:spPr>
          <a:xfrm>
            <a:off x="457200" y="1188720"/>
            <a:ext cx="5394960" cy="548640"/>
          </a:xfrm>
          <a:prstGeom prst="rect">
            <a:avLst/>
          </a:prstGeom>
          <a:noFill/>
          <a:ln/>
        </p:spPr>
        <p:txBody>
          <a:bodyPr wrap="square" rtlCol="0" anchor="ctr"/>
          <a:lstStyle/>
          <a:p>
            <a:pPr indent="0" marL="0">
              <a:buNone/>
            </a:pPr>
            <a:r>
              <a:rPr lang="en-US" sz="1500" b="1" dirty="0">
                <a:solidFill>
                  <a:srgbClr val="0B1F38"/>
                </a:solidFill>
                <a:latin typeface="Calibri" pitchFamily="34" charset="0"/>
                <a:ea typeface="Calibri" pitchFamily="34" charset="-122"/>
                <a:cs typeface="Calibri" pitchFamily="34" charset="-120"/>
              </a:rPr>
              <a:t>Option A: Full Acquisition</a:t>
            </a:r>
            <a:endParaRPr lang="en-US" sz="1500" dirty="0"/>
          </a:p>
        </p:txBody>
      </p:sp>
      <p:sp>
        <p:nvSpPr>
          <p:cNvPr id="6" name="Text 4"/>
          <p:cNvSpPr/>
          <p:nvPr/>
        </p:nvSpPr>
        <p:spPr>
          <a:xfrm>
            <a:off x="457200" y="1828800"/>
            <a:ext cx="5394960" cy="310896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Complete transfer of IP, codebase, regulatory frameworks, and methodology documentation. Founder transition 6 to 12 months. Immediate deployment of platform into acquirer client base. Indicative range available under NDA.</a:t>
            </a:r>
            <a:endParaRPr lang="en-US" sz="1200" dirty="0"/>
          </a:p>
        </p:txBody>
      </p:sp>
      <p:sp>
        <p:nvSpPr>
          <p:cNvPr id="7" name="Shape 5"/>
          <p:cNvSpPr/>
          <p:nvPr/>
        </p:nvSpPr>
        <p:spPr>
          <a:xfrm>
            <a:off x="6400800" y="1005840"/>
            <a:ext cx="5760720" cy="4114800"/>
          </a:xfrm>
          <a:prstGeom prst="rect">
            <a:avLst/>
          </a:prstGeom>
          <a:solidFill>
            <a:srgbClr val="F0F4F8"/>
          </a:solidFill>
          <a:ln w="12700">
            <a:solidFill>
              <a:srgbClr val="F0F4F8"/>
            </a:solidFill>
            <a:prstDash val="solid"/>
          </a:ln>
          <a:effectLst>
            <a:outerShdw sx="100000" sy="100000" kx="0" ky="0" algn="bl" rotWithShape="0" blurRad="50800" dist="25400" dir="2700000">
              <a:srgbClr val="888888">
                <a:alpha val="18000"/>
              </a:srgbClr>
            </a:outerShdw>
          </a:effectLst>
        </p:spPr>
      </p:sp>
      <p:sp>
        <p:nvSpPr>
          <p:cNvPr id="8" name="Shape 6"/>
          <p:cNvSpPr/>
          <p:nvPr/>
        </p:nvSpPr>
        <p:spPr>
          <a:xfrm>
            <a:off x="6400800" y="1005840"/>
            <a:ext cx="5760720" cy="128016"/>
          </a:xfrm>
          <a:prstGeom prst="rect">
            <a:avLst/>
          </a:prstGeom>
          <a:solidFill>
            <a:srgbClr val="0B1F38"/>
          </a:solidFill>
          <a:ln w="12700">
            <a:solidFill>
              <a:srgbClr val="0B1F38"/>
            </a:solidFill>
            <a:prstDash val="solid"/>
          </a:ln>
        </p:spPr>
      </p:sp>
      <p:sp>
        <p:nvSpPr>
          <p:cNvPr id="9" name="Text 7"/>
          <p:cNvSpPr/>
          <p:nvPr/>
        </p:nvSpPr>
        <p:spPr>
          <a:xfrm>
            <a:off x="6583680" y="1188720"/>
            <a:ext cx="5394960" cy="548640"/>
          </a:xfrm>
          <a:prstGeom prst="rect">
            <a:avLst/>
          </a:prstGeom>
          <a:noFill/>
          <a:ln/>
        </p:spPr>
        <p:txBody>
          <a:bodyPr wrap="square" rtlCol="0" anchor="ctr"/>
          <a:lstStyle/>
          <a:p>
            <a:pPr indent="0" marL="0">
              <a:buNone/>
            </a:pPr>
            <a:r>
              <a:rPr lang="en-US" sz="1500" b="1" dirty="0">
                <a:solidFill>
                  <a:srgbClr val="0B1F38"/>
                </a:solidFill>
                <a:latin typeface="Calibri" pitchFamily="34" charset="0"/>
                <a:ea typeface="Calibri" pitchFamily="34" charset="-122"/>
                <a:cs typeface="Calibri" pitchFamily="34" charset="-120"/>
              </a:rPr>
              <a:t>Option B: Exclusive Licence Plus Option</a:t>
            </a:r>
            <a:endParaRPr lang="en-US" sz="1500" dirty="0"/>
          </a:p>
        </p:txBody>
      </p:sp>
      <p:sp>
        <p:nvSpPr>
          <p:cNvPr id="10" name="Text 8"/>
          <p:cNvSpPr/>
          <p:nvPr/>
        </p:nvSpPr>
        <p:spPr>
          <a:xfrm>
            <a:off x="6583680" y="1828800"/>
            <a:ext cx="5394960" cy="310896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Exclusive licence with 24 month acquisition option. Founder retained as technical advisor. Lower upfront commitment with fixed option price at signing. Joint go to market during the option period.</a:t>
            </a:r>
            <a:endParaRPr lang="en-US" sz="1200" dirty="0"/>
          </a:p>
        </p:txBody>
      </p:sp>
      <p:sp>
        <p:nvSpPr>
          <p:cNvPr id="11" name="Text 9"/>
          <p:cNvSpPr/>
          <p:nvPr/>
        </p:nvSpPr>
        <p:spPr>
          <a:xfrm>
            <a:off x="274320" y="5394960"/>
            <a:ext cx="11887200" cy="45720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Due diligence package: methodology document (30 pages), live platform access, full codebase review, regulatory mapping audit.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8"/>
        </a:solidFill>
      </p:bgPr>
    </p:bg>
    <p:spTree>
      <p:nvGrpSpPr>
        <p:cNvPr id="1" name=""/>
        <p:cNvGrpSpPr/>
        <p:nvPr/>
      </p:nvGrpSpPr>
      <p:grpSpPr>
        <a:xfrm>
          <a:off x="0" y="0"/>
          <a:ext cx="0" cy="0"/>
          <a:chOff x="0" y="0"/>
          <a:chExt cx="0" cy="0"/>
        </a:xfrm>
      </p:grpSpPr>
      <p:sp>
        <p:nvSpPr>
          <p:cNvPr id="2" name="Text 0"/>
          <p:cNvSpPr/>
          <p:nvPr/>
        </p:nvSpPr>
        <p:spPr>
          <a:xfrm>
            <a:off x="274320" y="365760"/>
            <a:ext cx="11887200" cy="68580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We Are Looking For</a:t>
            </a:r>
            <a:endParaRPr lang="en-US" sz="3400" dirty="0"/>
          </a:p>
        </p:txBody>
      </p:sp>
      <p:sp>
        <p:nvSpPr>
          <p:cNvPr id="3" name="Shape 1"/>
          <p:cNvSpPr/>
          <p:nvPr/>
        </p:nvSpPr>
        <p:spPr>
          <a:xfrm>
            <a:off x="274320" y="1444752"/>
            <a:ext cx="201168" cy="201168"/>
          </a:xfrm>
          <a:prstGeom prst="rect">
            <a:avLst/>
          </a:prstGeom>
          <a:solidFill>
            <a:srgbClr val="1D9E75"/>
          </a:solidFill>
          <a:ln w="12700">
            <a:solidFill>
              <a:srgbClr val="1D9E75"/>
            </a:solidFill>
            <a:prstDash val="solid"/>
          </a:ln>
        </p:spPr>
      </p:sp>
      <p:sp>
        <p:nvSpPr>
          <p:cNvPr id="4" name="Text 2"/>
          <p:cNvSpPr/>
          <p:nvPr/>
        </p:nvSpPr>
        <p:spPr>
          <a:xfrm>
            <a:off x="640080" y="1371600"/>
            <a:ext cx="11247120" cy="6858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strategic buyer who can deploy this engine into an existing client base within 12 months.</a:t>
            </a:r>
            <a:endParaRPr lang="en-US" sz="1600" dirty="0"/>
          </a:p>
        </p:txBody>
      </p:sp>
      <p:sp>
        <p:nvSpPr>
          <p:cNvPr id="5" name="Shape 3"/>
          <p:cNvSpPr/>
          <p:nvPr/>
        </p:nvSpPr>
        <p:spPr>
          <a:xfrm>
            <a:off x="274320" y="2679192"/>
            <a:ext cx="201168" cy="201168"/>
          </a:xfrm>
          <a:prstGeom prst="rect">
            <a:avLst/>
          </a:prstGeom>
          <a:solidFill>
            <a:srgbClr val="1D9E75"/>
          </a:solidFill>
          <a:ln w="12700">
            <a:solidFill>
              <a:srgbClr val="1D9E75"/>
            </a:solidFill>
            <a:prstDash val="solid"/>
          </a:ln>
        </p:spPr>
      </p:sp>
      <p:sp>
        <p:nvSpPr>
          <p:cNvPr id="6" name="Text 4"/>
          <p:cNvSpPr/>
          <p:nvPr/>
        </p:nvSpPr>
        <p:spPr>
          <a:xfrm>
            <a:off x="640080" y="2606040"/>
            <a:ext cx="11247120" cy="6858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partner who values proprietary climate methodology over raw data accumulation.</a:t>
            </a:r>
            <a:endParaRPr lang="en-US" sz="1600" dirty="0"/>
          </a:p>
        </p:txBody>
      </p:sp>
      <p:sp>
        <p:nvSpPr>
          <p:cNvPr id="7" name="Shape 5"/>
          <p:cNvSpPr/>
          <p:nvPr/>
        </p:nvSpPr>
        <p:spPr>
          <a:xfrm>
            <a:off x="274320" y="3913632"/>
            <a:ext cx="201168" cy="201168"/>
          </a:xfrm>
          <a:prstGeom prst="rect">
            <a:avLst/>
          </a:prstGeom>
          <a:solidFill>
            <a:srgbClr val="1D9E75"/>
          </a:solidFill>
          <a:ln w="12700">
            <a:solidFill>
              <a:srgbClr val="1D9E75"/>
            </a:solidFill>
            <a:prstDash val="solid"/>
          </a:ln>
        </p:spPr>
      </p:sp>
      <p:sp>
        <p:nvSpPr>
          <p:cNvPr id="8" name="Text 6"/>
          <p:cNvSpPr/>
          <p:nvPr/>
        </p:nvSpPr>
        <p:spPr>
          <a:xfrm>
            <a:off x="640080" y="3840480"/>
            <a:ext cx="11247120" cy="6858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counterparty who moves decisively. We are speaking with a limited number of parties.</a:t>
            </a:r>
            <a:endParaRPr lang="en-US" sz="1600" dirty="0"/>
          </a:p>
        </p:txBody>
      </p:sp>
      <p:sp>
        <p:nvSpPr>
          <p:cNvPr id="9" name="Shape 7"/>
          <p:cNvSpPr/>
          <p:nvPr/>
        </p:nvSpPr>
        <p:spPr>
          <a:xfrm>
            <a:off x="274320" y="5029200"/>
            <a:ext cx="11612880" cy="914400"/>
          </a:xfrm>
          <a:prstGeom prst="roundRect">
            <a:avLst>
              <a:gd name="adj" fmla="val 12000"/>
            </a:avLst>
          </a:prstGeom>
          <a:solidFill>
            <a:srgbClr val="1D9E75"/>
          </a:solidFill>
          <a:ln w="12700">
            <a:solidFill>
              <a:srgbClr val="1D9E75"/>
            </a:solidFill>
            <a:prstDash val="solid"/>
          </a:ln>
        </p:spPr>
      </p:sp>
      <p:sp>
        <p:nvSpPr>
          <p:cNvPr id="10" name="Text 8"/>
          <p:cNvSpPr/>
          <p:nvPr/>
        </p:nvSpPr>
        <p:spPr>
          <a:xfrm>
            <a:off x="457200" y="5120640"/>
            <a:ext cx="11247120" cy="7315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 receive the Information Memorandum: contact shri@climrisk.io or visit climrisk.io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8"/>
        </a:solidFill>
      </p:bgPr>
    </p:bg>
    <p:spTree>
      <p:nvGrpSpPr>
        <p:cNvPr id="1" name=""/>
        <p:cNvGrpSpPr/>
        <p:nvPr/>
      </p:nvGrpSpPr>
      <p:grpSpPr>
        <a:xfrm>
          <a:off x="0" y="0"/>
          <a:ext cx="0" cy="0"/>
          <a:chOff x="0" y="0"/>
          <a:chExt cx="0" cy="0"/>
        </a:xfrm>
      </p:grpSpPr>
      <p:sp>
        <p:nvSpPr>
          <p:cNvPr id="2" name="Text 0"/>
          <p:cNvSpPr/>
          <p:nvPr/>
        </p:nvSpPr>
        <p:spPr>
          <a:xfrm>
            <a:off x="457200" y="1645920"/>
            <a:ext cx="594360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Shrinivash Dhamodhara Kannan</a:t>
            </a:r>
            <a:endParaRPr lang="en-US" sz="2400" dirty="0"/>
          </a:p>
        </p:txBody>
      </p:sp>
      <p:sp>
        <p:nvSpPr>
          <p:cNvPr id="3" name="Text 1"/>
          <p:cNvSpPr/>
          <p:nvPr/>
        </p:nvSpPr>
        <p:spPr>
          <a:xfrm>
            <a:off x="457200" y="2331720"/>
            <a:ext cx="5943600" cy="411480"/>
          </a:xfrm>
          <a:prstGeom prst="rect">
            <a:avLst/>
          </a:prstGeom>
          <a:noFill/>
          <a:ln/>
        </p:spPr>
        <p:txBody>
          <a:bodyPr wrap="square" rtlCol="0" anchor="ctr"/>
          <a:lstStyle/>
          <a:p>
            <a:pPr indent="0" marL="0">
              <a:buNone/>
            </a:pPr>
            <a:r>
              <a:rPr lang="en-US" sz="1600" dirty="0">
                <a:solidFill>
                  <a:srgbClr val="1D9E75"/>
                </a:solidFill>
                <a:latin typeface="Calibri" pitchFamily="34" charset="0"/>
                <a:ea typeface="Calibri" pitchFamily="34" charset="-122"/>
                <a:cs typeface="Calibri" pitchFamily="34" charset="-120"/>
              </a:rPr>
              <a:t>Founder and CEO, ClimRisk B.V.</a:t>
            </a:r>
            <a:endParaRPr lang="en-US" sz="1600" dirty="0"/>
          </a:p>
        </p:txBody>
      </p:sp>
      <p:sp>
        <p:nvSpPr>
          <p:cNvPr id="4" name="Text 2"/>
          <p:cNvSpPr/>
          <p:nvPr/>
        </p:nvSpPr>
        <p:spPr>
          <a:xfrm>
            <a:off x="457200" y="2834640"/>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shri@climrisk.io</a:t>
            </a:r>
            <a:endParaRPr lang="en-US" sz="1400" dirty="0"/>
          </a:p>
        </p:txBody>
      </p:sp>
      <p:sp>
        <p:nvSpPr>
          <p:cNvPr id="5" name="Text 3"/>
          <p:cNvSpPr/>
          <p:nvPr/>
        </p:nvSpPr>
        <p:spPr>
          <a:xfrm>
            <a:off x="457200" y="3291840"/>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climrisk.io</a:t>
            </a:r>
            <a:endParaRPr lang="en-US" sz="1400" dirty="0"/>
          </a:p>
        </p:txBody>
      </p:sp>
      <p:sp>
        <p:nvSpPr>
          <p:cNvPr id="6" name="Text 4"/>
          <p:cNvSpPr/>
          <p:nvPr/>
        </p:nvSpPr>
        <p:spPr>
          <a:xfrm>
            <a:off x="457200" y="3749040"/>
            <a:ext cx="5943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Amsterdam, Netherlands</a:t>
            </a:r>
            <a:endParaRPr lang="en-US" sz="1200" dirty="0"/>
          </a:p>
        </p:txBody>
      </p:sp>
      <p:sp>
        <p:nvSpPr>
          <p:cNvPr id="7" name="Text 5"/>
          <p:cNvSpPr/>
          <p:nvPr/>
        </p:nvSpPr>
        <p:spPr>
          <a:xfrm>
            <a:off x="457200" y="4114800"/>
            <a:ext cx="59436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KVK: 95420134</a:t>
            </a:r>
            <a:endParaRPr lang="en-US" sz="1100" dirty="0"/>
          </a:p>
        </p:txBody>
      </p:sp>
      <p:sp>
        <p:nvSpPr>
          <p:cNvPr id="8" name="Shape 6"/>
          <p:cNvSpPr/>
          <p:nvPr/>
        </p:nvSpPr>
        <p:spPr>
          <a:xfrm>
            <a:off x="6583680" y="1371600"/>
            <a:ext cx="0" cy="4114800"/>
          </a:xfrm>
          <a:prstGeom prst="line">
            <a:avLst/>
          </a:prstGeom>
          <a:noFill/>
          <a:ln w="12700">
            <a:solidFill>
              <a:srgbClr val="1D9E75"/>
            </a:solidFill>
            <a:prstDash val="solid"/>
          </a:ln>
        </p:spPr>
      </p:sp>
      <p:sp>
        <p:nvSpPr>
          <p:cNvPr id="9" name="Shape 7"/>
          <p:cNvSpPr/>
          <p:nvPr/>
        </p:nvSpPr>
        <p:spPr>
          <a:xfrm>
            <a:off x="7132320" y="1371600"/>
            <a:ext cx="4846320" cy="1371600"/>
          </a:xfrm>
          <a:prstGeom prst="rect">
            <a:avLst/>
          </a:prstGeom>
          <a:solidFill>
            <a:srgbClr val="1D9E75"/>
          </a:solidFill>
          <a:ln w="12700">
            <a:solidFill>
              <a:srgbClr val="1D9E75"/>
            </a:solidFill>
            <a:prstDash val="solid"/>
          </a:ln>
        </p:spPr>
      </p:sp>
      <p:sp>
        <p:nvSpPr>
          <p:cNvPr id="10" name="Text 8"/>
          <p:cNvSpPr/>
          <p:nvPr/>
        </p:nvSpPr>
        <p:spPr>
          <a:xfrm>
            <a:off x="7132320" y="1371600"/>
            <a:ext cx="4846320" cy="1371600"/>
          </a:xfrm>
          <a:prstGeom prst="rect">
            <a:avLst/>
          </a:prstGeom>
          <a:noFill/>
          <a:ln/>
        </p:spPr>
        <p:txBody>
          <a:bodyPr wrap="square"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C</a:t>
            </a:r>
            <a:endParaRPr lang="en-US" sz="7200" dirty="0"/>
          </a:p>
        </p:txBody>
      </p:sp>
      <p:sp>
        <p:nvSpPr>
          <p:cNvPr id="11" name="Shape 9"/>
          <p:cNvSpPr/>
          <p:nvPr/>
        </p:nvSpPr>
        <p:spPr>
          <a:xfrm>
            <a:off x="7132320" y="2926080"/>
            <a:ext cx="4846320" cy="1371600"/>
          </a:xfrm>
          <a:prstGeom prst="rect">
            <a:avLst/>
          </a:prstGeom>
          <a:solidFill>
            <a:srgbClr val="0D4F3C"/>
          </a:solidFill>
          <a:ln w="12700">
            <a:solidFill>
              <a:srgbClr val="0D4F3C"/>
            </a:solidFill>
            <a:prstDash val="solid"/>
          </a:ln>
        </p:spPr>
      </p:sp>
      <p:sp>
        <p:nvSpPr>
          <p:cNvPr id="12" name="Text 10"/>
          <p:cNvSpPr/>
          <p:nvPr/>
        </p:nvSpPr>
        <p:spPr>
          <a:xfrm>
            <a:off x="7132320" y="2926080"/>
            <a:ext cx="4846320" cy="1371600"/>
          </a:xfrm>
          <a:prstGeom prst="rect">
            <a:avLst/>
          </a:prstGeom>
          <a:noFill/>
          <a:ln/>
        </p:spPr>
        <p:txBody>
          <a:bodyPr wrap="square"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R</a:t>
            </a:r>
            <a:endParaRPr lang="en-US" sz="7200" dirty="0"/>
          </a:p>
        </p:txBody>
      </p:sp>
      <p:sp>
        <p:nvSpPr>
          <p:cNvPr id="13" name="Shape 11"/>
          <p:cNvSpPr/>
          <p:nvPr/>
        </p:nvSpPr>
        <p:spPr>
          <a:xfrm>
            <a:off x="7132320" y="4480560"/>
            <a:ext cx="4846320" cy="1371600"/>
          </a:xfrm>
          <a:prstGeom prst="rect">
            <a:avLst/>
          </a:prstGeom>
          <a:solidFill>
            <a:srgbClr val="28B485"/>
          </a:solidFill>
          <a:ln w="12700">
            <a:solidFill>
              <a:srgbClr val="28B485"/>
            </a:solidFill>
            <a:prstDash val="solid"/>
          </a:ln>
        </p:spPr>
      </p:sp>
      <p:sp>
        <p:nvSpPr>
          <p:cNvPr id="14" name="Text 12"/>
          <p:cNvSpPr/>
          <p:nvPr/>
        </p:nvSpPr>
        <p:spPr>
          <a:xfrm>
            <a:off x="7132320" y="4480560"/>
            <a:ext cx="4846320" cy="1371600"/>
          </a:xfrm>
          <a:prstGeom prst="rect">
            <a:avLst/>
          </a:prstGeom>
          <a:noFill/>
          <a:ln/>
        </p:spPr>
        <p:txBody>
          <a:bodyPr wrap="square"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I</a:t>
            </a:r>
            <a:endParaRPr lang="en-US" sz="7200" dirty="0"/>
          </a:p>
        </p:txBody>
      </p:sp>
      <p:sp>
        <p:nvSpPr>
          <p:cNvPr id="15" name="Text 13"/>
          <p:cNvSpPr/>
          <p:nvPr/>
        </p:nvSpPr>
        <p:spPr>
          <a:xfrm>
            <a:off x="274320" y="6446520"/>
            <a:ext cx="118872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CONFIDENTIAL · ClimRisk B.V. · KVK 95420134 · Amsterdam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2026-05-14T08:39:41Z</dcterms:created>
  <dcterms:modified xsi:type="dcterms:W3CDTF">2026-05-14T08:39:41Z</dcterms:modified>
</cp:coreProperties>
</file>