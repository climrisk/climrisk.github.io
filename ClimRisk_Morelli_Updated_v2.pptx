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REVIEW  ·  PARTNERSHIP DISCUSSION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Risk Intelligence  —  Morelli Consulting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2084832"/>
            <a:ext cx="8321040" cy="640080"/>
          </a:xfrm>
          <a:prstGeom prst="rect">
            <a:avLst/>
          </a:prstGeom>
          <a:solidFill>
            <a:srgbClr val="0A2840"/>
          </a:solidFill>
          <a:ln w="12700">
            <a:solidFill>
              <a:srgbClr val="0A2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GPS-Resolved Physical Risk  ·  Sector-Calibrated Hazard Profiles  ·  NGFS Transition Modelling  ·  TCFD / IFRS S2 / CSRD Disclosures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A2F4A"/>
          </a:solidFill>
          <a:ln w="12700">
            <a:solidFill>
              <a:srgbClr val="0A2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4348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 Stovold  ·  Morelli Consulting     |     Shrinivash Dhamodhara Kannan  ·  Founder, ClimRisk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73659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 ·  10:00 BST / 14:30 IST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ClimRisk Is — In 60 Seconds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09728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887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is an automated climate-financial risk pipeline. It takes a company's asset locations, financials, and emissions — and produces quantified physical and transition risk outputs that map directly to TCFD, IFRS S2, CSRD, and BRSR disclosure requirements. Every number is in financial terms.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2697480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920240"/>
            <a:ext cx="64008" cy="2880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20240"/>
            <a:ext cx="269748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38528"/>
            <a:ext cx="2606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Risk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24871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hazard types scored at GPS coordinate level using IPCC AR6 and WRI Aqueduct data.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annualised loss rate (%) and Capital-at-Risk ($M/yr) per asset.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Sector-specific profiles amplify or reduce each hazard by industry.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920240"/>
            <a:ext cx="2697480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920240"/>
            <a:ext cx="64008" cy="2880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1920240"/>
            <a:ext cx="26974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938528"/>
            <a:ext cx="2606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Risk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2523744"/>
            <a:ext cx="24871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NGFS Phase 4 carbon price pathways through a 25-year DCF model.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EBITDA impact ($M) and EV sensitivity (%) across 3 scenarios.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Production-volume emission estimation — not just revenue proxies.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1920240"/>
            <a:ext cx="2697480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920240"/>
            <a:ext cx="64008" cy="2880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25896" y="1920240"/>
            <a:ext cx="269748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1938528"/>
            <a:ext cx="2606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Output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63056" y="2523744"/>
            <a:ext cx="24871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TCFD strategy matrix, IFRS S2 metrics table, CSRD E1 sections.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Audit-traceable, white-label ready, delivered in 24–48 hours.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reproducible from raw inputs — no black-box scores.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RISK · PART 1 OF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Hazard Types &amp; How Severity Is Measured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09728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34440"/>
            <a:ext cx="1572768" cy="713232"/>
          </a:xfrm>
          <a:prstGeom prst="rect">
            <a:avLst/>
          </a:prstGeom>
          <a:solidFill>
            <a:srgbClr val="EEF6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710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Riverine Flood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84832" y="1234440"/>
            <a:ext cx="1572768" cy="713232"/>
          </a:xfrm>
          <a:prstGeom prst="rect">
            <a:avLst/>
          </a:prstGeom>
          <a:solidFill>
            <a:srgbClr val="EEF6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84832" y="12710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84832" y="160020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Flood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58184" y="1234440"/>
            <a:ext cx="1572768" cy="713232"/>
          </a:xfrm>
          <a:prstGeom prst="rect">
            <a:avLst/>
          </a:prstGeom>
          <a:solidFill>
            <a:srgbClr val="EEF6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58184" y="12710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58184" y="160020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31536" y="1234440"/>
            <a:ext cx="1572768" cy="713232"/>
          </a:xfrm>
          <a:prstGeom prst="rect">
            <a:avLst/>
          </a:prstGeom>
          <a:solidFill>
            <a:srgbClr val="EEF6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31536" y="12710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31536" y="160020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04888" y="1234440"/>
            <a:ext cx="1572768" cy="713232"/>
          </a:xfrm>
          <a:prstGeom prst="rect">
            <a:avLst/>
          </a:prstGeom>
          <a:solidFill>
            <a:srgbClr val="EEF6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04888" y="12710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04888" y="160020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039112"/>
            <a:ext cx="1572768" cy="713232"/>
          </a:xfrm>
          <a:prstGeom prst="rect">
            <a:avLst/>
          </a:prstGeom>
          <a:solidFill>
            <a:srgbClr val="EEF6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0756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" y="24048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84832" y="2039112"/>
            <a:ext cx="1572768" cy="713232"/>
          </a:xfrm>
          <a:prstGeom prst="rect">
            <a:avLst/>
          </a:prstGeom>
          <a:solidFill>
            <a:srgbClr val="EEF6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84832" y="20756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🚱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84832" y="24048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58184" y="2039112"/>
            <a:ext cx="1572768" cy="713232"/>
          </a:xfrm>
          <a:prstGeom prst="rect">
            <a:avLst/>
          </a:prstGeom>
          <a:solidFill>
            <a:srgbClr val="EEF6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58184" y="20756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58184" y="24048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31536" y="2039112"/>
            <a:ext cx="1572768" cy="713232"/>
          </a:xfrm>
          <a:prstGeom prst="rect">
            <a:avLst/>
          </a:prstGeom>
          <a:solidFill>
            <a:srgbClr val="EEF6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31536" y="20756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31536" y="24048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04888" y="2039112"/>
            <a:ext cx="1572768" cy="713232"/>
          </a:xfrm>
          <a:prstGeom prst="rect">
            <a:avLst/>
          </a:prstGeom>
          <a:solidFill>
            <a:srgbClr val="EEF6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04888" y="20756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🧂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04888" y="24048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Saltwater Intrusion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2971800"/>
            <a:ext cx="8321040" cy="146304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035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Scale: 0 → 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3328416"/>
            <a:ext cx="438912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24128" y="33467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24128" y="3529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exists but no financial risk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176272" y="3328416"/>
            <a:ext cx="438912" cy="43891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76272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51760" y="33467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51760" y="3529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disruption, no material CaR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803904" y="3328416"/>
            <a:ext cx="438912" cy="43891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03904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279392" y="33467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279392" y="3529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loss, adaptation advisable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31536" y="3328416"/>
            <a:ext cx="438912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31536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07024" y="33467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07024" y="3529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CaR, disclosure mandatory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59168" y="3328416"/>
            <a:ext cx="438912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59168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534656" y="33467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534656" y="3529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viability at question — major CaR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448056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hazard is scored independently per asset, per scenario, per year (2026→2050)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RISK · DATA FOUNDATION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Authoritative Scientific Datasets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09728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269748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07008"/>
            <a:ext cx="26974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2252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Aqueduct 4.0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53619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Resources Institute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95681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baseline water &amp; flood risk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1208" y="232257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basin flood frequency &amp; depth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208" y="268833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 ratios by sub-basin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1208" y="30540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flood exposure mapping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1208" y="341985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risk by watershed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" y="4069080"/>
            <a:ext cx="2487168" cy="658368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40873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this: </a:t>
            </a:r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'today' baseline risk for water-related hazards before any climate warming is applied.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18688" y="1207008"/>
            <a:ext cx="269748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207008"/>
            <a:ext cx="269748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12252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AR6 WG1 &amp; WG2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28416" y="153619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Intergovernmental Panel on Climate Change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28416" y="195681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 projections per SSP scenario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28416" y="232257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precipitation change projections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28416" y="268833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ranges by coastline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28416" y="30540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weather frequency multipliers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28416" y="4069080"/>
            <a:ext cx="2487168" cy="658368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40873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this: </a:t>
            </a:r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how much each hazard intensifies as global temperatures rise — the core of scenario modelling.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25896" y="1207008"/>
            <a:ext cx="269748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25896" y="1207008"/>
            <a:ext cx="269748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5624" y="12252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NEX-GDDP-CMIP6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35624" y="153619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Earth Exchange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35624" y="195681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25km grid daily temperature &amp; precipitation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35624" y="232257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CMIP6 multi-model ensemble 2015–2100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35624" y="268833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Bias-corrected against historical obs.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35624" y="30540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SSP scenarios covered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35624" y="4069080"/>
            <a:ext cx="2487168" cy="658368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40873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this: </a:t>
            </a:r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granular, high-resolution data to score individual asset locations precisely rather than regional averages.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RISK · CALCULATION CHAIN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GPS to Capital-at-Risk — Every Step Traceable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09728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1298448"/>
            <a:ext cx="1572768" cy="3429000"/>
          </a:xfrm>
          <a:prstGeom prst="rect">
            <a:avLst/>
          </a:prstGeom>
          <a:solidFill>
            <a:srgbClr val="F8FC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98448"/>
            <a:ext cx="1572768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1673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49808" y="133502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62763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location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103120"/>
            <a:ext cx="13898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→ 25km grid cell. Elevation (m) and LULC type extracted from NASA DEM. Coastal proximity flagged.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0240" y="24688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48256" y="1298448"/>
            <a:ext cx="1572768" cy="3429000"/>
          </a:xfrm>
          <a:prstGeom prst="rect">
            <a:avLst/>
          </a:prstGeom>
          <a:solidFill>
            <a:srgbClr val="F8FC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48256" y="1298448"/>
            <a:ext cx="1572768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31673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50592" y="133502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Hazard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50592" y="162763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Aqueduct 4.0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39696" y="2103120"/>
            <a:ext cx="13898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hazards scored at baseline. Riverine flood from river discharge models. Water stress from demand/supply ratios by sub-basin.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21024" y="24688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749040" y="1298448"/>
            <a:ext cx="1572768" cy="3429000"/>
          </a:xfrm>
          <a:prstGeom prst="rect">
            <a:avLst/>
          </a:prstGeom>
          <a:solidFill>
            <a:srgbClr val="F8FC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298448"/>
            <a:ext cx="1572768" cy="7315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31673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151376" y="133502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 Factor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51376" y="162763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AR6 × NASA NEX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0" y="2103120"/>
            <a:ext cx="13898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× scenario warming factor. SSP3-7.0 at 2050 amplifies heat stress ~1.8×. Applied per hazard per year per scenario.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21808" y="24688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49824" y="1298448"/>
            <a:ext cx="1572768" cy="3429000"/>
          </a:xfrm>
          <a:prstGeom prst="rect">
            <a:avLst/>
          </a:prstGeom>
          <a:solidFill>
            <a:srgbClr val="F8FC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9824" y="1298448"/>
            <a:ext cx="1572768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131673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852160" y="133502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Multiplier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52160" y="162763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Calibrated Profiles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41264" y="2103120"/>
            <a:ext cx="13898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Per-sector loss and severity multipliers applied. F&amp;B brewery: Water Stress ×2.8. Cement plant: Water Stress ×0.65. Same location, different exposure.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22592" y="24688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150608" y="1298448"/>
            <a:ext cx="1572768" cy="3429000"/>
          </a:xfrm>
          <a:prstGeom prst="rect">
            <a:avLst/>
          </a:prstGeom>
          <a:solidFill>
            <a:srgbClr val="F8FC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50608" y="1298448"/>
            <a:ext cx="1572768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50608" y="131673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552944" y="133502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Capital-at-Risk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52944" y="162763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output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42048" y="2103120"/>
            <a:ext cx="13898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($M/yr) = Carrying Value × Annual Loss Rate. Joint loss: 1−∏(1−lossᵢ) across all hazards. Portfolio CaR = sum across assets.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4773168"/>
            <a:ext cx="8449056" cy="27432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782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= Σ [ CVasset × (1 − ∏(1 − losshazard_i)) ] × Sector Multiplier   across all assets in portfolio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RISK · SECTOR INTELLIGENCE — KEY DIFFERENTIATOR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Engine. 16 Sector-Calibrated Risk Profiles.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09728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704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GPS. Same hazard map. Completely different exposure — because sectors use water, heat, and land differently.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3931920" cy="3154680"/>
          </a:xfrm>
          <a:prstGeom prst="rect">
            <a:avLst/>
          </a:prstGeom>
          <a:solidFill>
            <a:srgbClr val="F0FDF9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72768"/>
            <a:ext cx="3931920" cy="5852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600200"/>
            <a:ext cx="3730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🍺  Food &amp; Beverage (Brewery)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" y="2231136"/>
            <a:ext cx="475488" cy="42062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231136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×2.8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2416" y="2240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42416" y="24323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 L water per L product — restriction = halt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" y="2798064"/>
            <a:ext cx="475488" cy="42062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79806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×2.4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2416" y="2807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42416" y="29992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Barley, hops, dairy — all drought-sensitive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2064" y="3364992"/>
            <a:ext cx="475488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36499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2416" y="33741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Heat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42416" y="35661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failure + fermentation disruption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" y="3931920"/>
            <a:ext cx="475488" cy="42062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931920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2416" y="39410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Riverine Flood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42416" y="41330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storage — higher loss than durables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1572768"/>
            <a:ext cx="3931920" cy="3154680"/>
          </a:xfrm>
          <a:prstGeom prst="rect">
            <a:avLst/>
          </a:prstGeom>
          <a:solidFill>
            <a:srgbClr val="FFF7ED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572768"/>
            <a:ext cx="3931920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1600200"/>
            <a:ext cx="3730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Cement Plant (Clinker Route)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01184" y="2231136"/>
            <a:ext cx="530352" cy="42062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2231136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×0.65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77256" y="2240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77256" y="24323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Kilns recycle water — water restriction manageable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01184" y="2798064"/>
            <a:ext cx="530352" cy="42062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2798064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×0.60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77256" y="2807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77256" y="29992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Quarrying unaffected; no crop dependency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01184" y="3364992"/>
            <a:ext cx="530352" cy="42062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3364992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×0.50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77256" y="33741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77256" y="35661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Stone/concrete structures largely fireproof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01184" y="3931920"/>
            <a:ext cx="530352" cy="42062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393192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×1.4↑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77256" y="39410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Riverine Flood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77256" y="41330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Clinker stockpiles vulnerable to flooding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33088" y="2889504"/>
            <a:ext cx="512064" cy="512064"/>
          </a:xfrm>
          <a:prstGeom prst="ellipse">
            <a:avLst/>
          </a:prstGeom>
          <a:solidFill>
            <a:srgbClr val="0A2F4A"/>
          </a:solidFill>
          <a:ln w="12700">
            <a:solidFill>
              <a:srgbClr val="0A2F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33088" y="2889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8097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sectors calibrated: F&amp;B · Agriculture · Cement · Steel &amp; Metals · Aluminium · Oil &amp; Gas · Chemicals · Fertilisers · Pharmaceuticals · Real Estate · Energy/Utilities · Mining · Transport &amp; Logistics · Shipping · Technology · Financial Services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RISK · PART 1 OF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NGFS Scenarios &amp; What Transition Risk Actually Means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09728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5029200" cy="1170432"/>
          </a:xfrm>
          <a:prstGeom prst="rect">
            <a:avLst/>
          </a:prstGeom>
          <a:solidFill>
            <a:srgbClr val="F0F9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43584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Transition Risk?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risk — Carbon taxes, ETS, fuel standards — governments pricing carbon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 — Demand shifts, energy price volatility, green product substitution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risk — New low-carbon tech making existing assets obsolete early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139696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risk — ESG ratings, cost of capital premium for high-carbon companies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0" y="2487168"/>
            <a:ext cx="3063240" cy="749808"/>
          </a:xfrm>
          <a:prstGeom prst="rect">
            <a:avLst/>
          </a:prstGeom>
          <a:solidFill>
            <a:srgbClr val="FAFAFA"/>
          </a:solidFill>
          <a:ln w="1524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2487168"/>
            <a:ext cx="512064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487168"/>
            <a:ext cx="512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36208" y="25237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2050 (NZE)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6208" y="27523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Orderly · Carbon: ~$250/t by 2050 · Warming: ~1.5°C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36208" y="294436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early action. High carbon price. Low physical risk.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0" y="3328416"/>
            <a:ext cx="3063240" cy="749808"/>
          </a:xfrm>
          <a:prstGeom prst="rect">
            <a:avLst/>
          </a:prstGeom>
          <a:solidFill>
            <a:srgbClr val="FAFAFA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3328416"/>
            <a:ext cx="512064" cy="7498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328416"/>
            <a:ext cx="512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36208" y="33649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Transition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35935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Disorderly · Carbon: ~$180/t by 2050 · Warming: ~2.0°C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36208" y="378561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policy action, sharp transition. High transition CaR in 2030s.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0" y="4169664"/>
            <a:ext cx="3063240" cy="749808"/>
          </a:xfrm>
          <a:prstGeom prst="rect">
            <a:avLst/>
          </a:prstGeom>
          <a:solidFill>
            <a:srgbClr val="FAFAFA"/>
          </a:solidFill>
          <a:ln w="1524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4169664"/>
            <a:ext cx="512064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4169664"/>
            <a:ext cx="512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42062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Policies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44348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House · Carbon: &lt;$30/t · Warming: 3°C+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36208" y="46268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transition. Low carbon cost now but extreme physical risk.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0" y="22860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NGFS Phase 4 Scenarios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RISK · DCF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Carbon Costs Translate Into Enterprise Value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09728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80160"/>
            <a:ext cx="1993392" cy="3566160"/>
          </a:xfrm>
          <a:prstGeom prst="rect">
            <a:avLst/>
          </a:prstGeom>
          <a:solidFill>
            <a:srgbClr val="FAFAFA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1993392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98448"/>
            <a:ext cx="4023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0664" y="1335024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75104"/>
            <a:ext cx="182880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priority: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Measured Scope 1+2 (tCO₂e/yr)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Production volume × product 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(e.g. 14 Mt cement × 0.87 tCO₂e/t)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Revenue × sector intensity (fallback only)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13432" y="283464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59736" y="1280160"/>
            <a:ext cx="1993392" cy="3566160"/>
          </a:xfrm>
          <a:prstGeom prst="rect">
            <a:avLst/>
          </a:prstGeom>
          <a:solidFill>
            <a:srgbClr val="FAFAFA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9736" y="1280160"/>
            <a:ext cx="1993392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9736" y="1298448"/>
            <a:ext cx="4023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80360" y="1335024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NGFS Carbon Price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51176" y="1975104"/>
            <a:ext cx="182880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$/tonne per scenario.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NZE: $70 (2026) → $250 (2050)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Delayed: $50 → $180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Policies: $40 → $75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Year-by-year interpolation — not snapshots.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53128" y="283464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99432" y="1280160"/>
            <a:ext cx="1993392" cy="3566160"/>
          </a:xfrm>
          <a:prstGeom prst="rect">
            <a:avLst/>
          </a:prstGeom>
          <a:solidFill>
            <a:srgbClr val="FAFAFA"/>
          </a:solidFill>
          <a:ln w="1524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9432" y="1280160"/>
            <a:ext cx="1993392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1298448"/>
            <a:ext cx="4023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0056" y="1335024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Impact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90872" y="1975104"/>
            <a:ext cx="182880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cost = tCO₂e × price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for: free ETS allowances,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abatement capex, pass-through ratio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(sector-specific — cement can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carbon cost to customers)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92824" y="283464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39128" y="1280160"/>
            <a:ext cx="1993392" cy="3566160"/>
          </a:xfrm>
          <a:prstGeom prst="rect">
            <a:avLst/>
          </a:prstGeom>
          <a:solidFill>
            <a:srgbClr val="FAFAFA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39128" y="1280160"/>
            <a:ext cx="1993392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9128" y="1298448"/>
            <a:ext cx="4023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59752" y="1335024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→ EV Sensitivity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0568" y="1975104"/>
            <a:ext cx="182880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25-year DCF with climate-adjusted WACC.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cost reduces free cash flow yearly.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of reduction = EV sensitivity ($M or %).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High-carbon sectors get +0.5–2.0% WACC premium.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882896"/>
            <a:ext cx="8503920" cy="20116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Production-volume emission estimation (PRODUCT_EF table, 25 industrial products, IEA/GCCA/World Steel Association calibrated) — not revenue proxies which underestimate cement by 4×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MSCI ESG or Sustainalytics?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097280" cy="411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company-level ESG ratings for portfolio screens. CRI is a sector-physics engine for quantified financial statements, stress tests, and regulatory disclosure.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8321040" cy="402336"/>
          </a:xfrm>
          <a:prstGeom prst="rect">
            <a:avLst/>
          </a:prstGeom>
          <a:solidFill>
            <a:srgbClr val="0A2F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66420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64408" y="1664208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MSCI ESG / Sustainalytics / S&amp;P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81928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Engine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8321040" cy="457200"/>
          </a:xfrm>
          <a:prstGeom prst="rect">
            <a:avLst/>
          </a:prstGeom>
          <a:solidFill>
            <a:srgbClr val="0F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121408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hazard profiles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64408" y="2121408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maps — same weight for brewery vs cement plant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81928" y="212140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sector profiles, per-hazard multipliers, IEA/GCCA calibrated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578608"/>
            <a:ext cx="8321040" cy="457200"/>
          </a:xfrm>
          <a:prstGeom prst="rect">
            <a:avLst/>
          </a:prstGeom>
          <a:solidFill>
            <a:srgbClr val="0D1F2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596896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estimation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64408" y="2596896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× intensity factor (±40% error for heavy industry)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81928" y="25968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volume × product EF — revenue only as fallback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054096"/>
            <a:ext cx="8321040" cy="457200"/>
          </a:xfrm>
          <a:prstGeom prst="rect">
            <a:avLst/>
          </a:prstGeom>
          <a:solidFill>
            <a:srgbClr val="0F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072384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price path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3072384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snapshot or simple linear ramp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81928" y="30723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NGFS Phase 4 — year-by-year 2026→2050, 3 scenarios, interpolated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529584"/>
            <a:ext cx="8321040" cy="457200"/>
          </a:xfrm>
          <a:prstGeom prst="rect">
            <a:avLst/>
          </a:prstGeom>
          <a:solidFill>
            <a:srgbClr val="0D1F2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54787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Asset-level output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64408" y="3547872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Company-level ratings only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81928" y="35478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Per-asset GPS scores, CaR in USD, joint-loss breakdown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005072"/>
            <a:ext cx="8321040" cy="457200"/>
          </a:xfrm>
          <a:prstGeom prst="rect">
            <a:avLst/>
          </a:prstGeom>
          <a:solidFill>
            <a:srgbClr val="0F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402336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output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64408" y="402336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indices — no disclosure text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81928" y="40233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TCFD / IFRS S2 / CSRD / BRSR draft text, numbers pre-filled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480560"/>
            <a:ext cx="8321040" cy="457200"/>
          </a:xfrm>
          <a:prstGeom prst="rect">
            <a:avLst/>
          </a:prstGeom>
          <a:solidFill>
            <a:srgbClr val="0D1F2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4498848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audit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64408" y="4498848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— not reproducible by client or regulator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81928" y="44988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formula + source citation in downloadable Excel audit trail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965192"/>
            <a:ext cx="832104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Intelligence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09728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70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SSP3-7.0 scenario · Same assessment year (2030) · Two companies, two sectors, fundamentally different risk profiles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536192"/>
            <a:ext cx="4005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36192"/>
            <a:ext cx="4005072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55448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🍺  Heineken — Seville, Spain  (F&amp;B)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1214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212140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37.4°N / 6.0°W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Value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24871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8529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 (base)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85292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1.8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32186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Sector multiplier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32186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×2.2 = Sev 3.96 (High)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35844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Physical CaR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358444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$22.8M/yr (2.85%)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39502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Cost / EBITDA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395020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(NZE 2030)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43159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Rating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43159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C with sector profile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27448" y="1536192"/>
            <a:ext cx="4005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1536192"/>
            <a:ext cx="4005072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55448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UltraTech Cement — Rajasthan, India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37176" y="21214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212140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Mt cement/yr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37176" y="24871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 (production-based)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24871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 MtCO₂e/yr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37176" y="28529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Price NZE 2030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285292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$130/tonne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37176" y="32186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Cost / EBITDA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32186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40-50%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37176" y="35844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 multiplier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358444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×0.65 (REDUCED)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37176" y="39502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Rating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395020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(High Risk)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37176" y="43159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Rating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43159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(moderate — kilns resilient)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901184"/>
            <a:ext cx="8321040" cy="219456"/>
          </a:xfrm>
          <a:prstGeom prst="rect">
            <a:avLst/>
          </a:prstGeom>
          <a:solidFill>
            <a:srgbClr val="FEF3C7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4910328"/>
            <a:ext cx="8174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proxy would give UltraTech ~3.2 MtCO₂ (vs actual 12.2 Mt) → B rating instead of D — a 2-grade underestimation.  Production-volume estimation is non-negotiable for heavy industry.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Disclosure Output Looks Like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09728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section maps to a specific regulatory requirement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17904"/>
            <a:ext cx="2697480" cy="3246120"/>
          </a:xfrm>
          <a:prstGeom prst="rect">
            <a:avLst/>
          </a:prstGeom>
          <a:solidFill>
            <a:srgbClr val="FAFAFA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17904"/>
            <a:ext cx="269748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3619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21208" y="2103120"/>
            <a:ext cx="475488" cy="2377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1031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climate oversight, risk committee structure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" y="2761488"/>
            <a:ext cx="475488" cy="2377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761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51560" y="276148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opportunity per scenario (SSP1.26 / SSP3.70)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1208" y="3419856"/>
            <a:ext cx="475488" cy="2377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41985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Mgmt.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1560" y="341985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ID process, materiality thresholds, controls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" y="4078224"/>
            <a:ext cx="475488" cy="2377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407822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1560" y="407822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CaR ($M), Transition CaR ($M), Rating (A–E)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18688" y="1517904"/>
            <a:ext cx="2697480" cy="3246120"/>
          </a:xfrm>
          <a:prstGeom prst="rect">
            <a:avLst/>
          </a:prstGeom>
          <a:solidFill>
            <a:srgbClr val="FAFAFA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1517904"/>
            <a:ext cx="2697480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153619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S2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328416" y="2103120"/>
            <a:ext cx="475488" cy="2377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28416" y="21031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risks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58768" y="21031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physical &amp; transition with scenario analysis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28416" y="2761488"/>
            <a:ext cx="475488" cy="2377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28416" y="2761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58768" y="276148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as % assets, EV sensitivity %, carbon price exposure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28416" y="3419856"/>
            <a:ext cx="475488" cy="2377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341985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58768" y="341985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reduction commitments vs SBTi / NGFS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28416" y="4078224"/>
            <a:ext cx="475488" cy="2377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8416" y="407822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58768" y="407822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resilience narrative + adaptation NPV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25896" y="1517904"/>
            <a:ext cx="2697480" cy="3246120"/>
          </a:xfrm>
          <a:prstGeom prst="rect">
            <a:avLst/>
          </a:prstGeom>
          <a:solidFill>
            <a:srgbClr val="FAFAF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25896" y="1517904"/>
            <a:ext cx="269748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35624" y="153619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E1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135624" y="2103120"/>
            <a:ext cx="475488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35624" y="21031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665976" y="21031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 table for all 10 hazard types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35624" y="2761488"/>
            <a:ext cx="475488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35624" y="2761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mat.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65976" y="276148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+ impact materiality per hazard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35624" y="3419856"/>
            <a:ext cx="475488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35624" y="341985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Trans. plan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665976" y="341985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trajectory, milestones, abatement capex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35624" y="4078224"/>
            <a:ext cx="475488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35624" y="407822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665976" y="407822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reduction, carbon removal, energy efficiency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Morelli Engagement Looks Like With ClimRisk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09728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1261872"/>
            <a:ext cx="1591056" cy="3520440"/>
          </a:xfrm>
          <a:prstGeom prst="rect">
            <a:avLst/>
          </a:prstGeom>
          <a:solidFill>
            <a:srgbClr val="FAFAFA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61872"/>
            <a:ext cx="1591056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8016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1371600" cy="20116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Morelli lead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" y="2359152"/>
            <a:ext cx="140817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asset portfolio scope, regulatory requirements (TCFD/IFRS/CSRD), scenario preferences, and disclosure deadline. ClimRisk briefed on data format.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48256" y="1261872"/>
            <a:ext cx="1591056" cy="3520440"/>
          </a:xfrm>
          <a:prstGeom prst="rect">
            <a:avLst/>
          </a:prstGeom>
          <a:solidFill>
            <a:srgbClr val="FAFAFA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48256" y="1261872"/>
            <a:ext cx="1591056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28016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48256" y="157276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57984" y="2084832"/>
            <a:ext cx="1371600" cy="20116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7984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Client + Morelli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39696" y="2359152"/>
            <a:ext cx="140817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provides asset register (location, sector, CV), Scope 1/2 emissions, supplier list. ClimRisk data template (Excel/CSV) — no IT setup.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49040" y="1261872"/>
            <a:ext cx="1591056" cy="3520440"/>
          </a:xfrm>
          <a:prstGeom prst="rect">
            <a:avLst/>
          </a:prstGeom>
          <a:solidFill>
            <a:srgbClr val="FAFAFA"/>
          </a:solidFill>
          <a:ln w="1524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261872"/>
            <a:ext cx="159105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28016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157276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Engine Run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58768" y="2084832"/>
            <a:ext cx="1371600" cy="20116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ClimRisk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0" y="2359152"/>
            <a:ext cx="140817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physical + transition risk assessment in 24–48 hrs. Output: CaR tables, scenario comparison, climate rating, adaptation NPVs, disclosure drafts.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9824" y="1261872"/>
            <a:ext cx="1591056" cy="3520440"/>
          </a:xfrm>
          <a:prstGeom prst="rect">
            <a:avLst/>
          </a:prstGeom>
          <a:solidFill>
            <a:srgbClr val="FAFAFA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9824" y="1261872"/>
            <a:ext cx="1591056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128016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49824" y="157276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Layer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59552" y="2084832"/>
            <a:ext cx="1371600" cy="20116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Morelli lead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41264" y="2359152"/>
            <a:ext cx="140817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Morelli integrates quantitative outputs into client narrative. Governance, strategy, ERM language written. Outputs reviewed for board-readiness.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50608" y="1261872"/>
            <a:ext cx="1591056" cy="3520440"/>
          </a:xfrm>
          <a:prstGeom prst="rect">
            <a:avLst/>
          </a:prstGeom>
          <a:solidFill>
            <a:srgbClr val="FAFAFA"/>
          </a:solidFill>
          <a:ln w="1524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50608" y="1261872"/>
            <a:ext cx="1591056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50608" y="128016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50608" y="157276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Delivery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60336" y="2084832"/>
            <a:ext cx="1371600" cy="20116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0336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Morelli + Client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42048" y="2359152"/>
            <a:ext cx="140817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disclosure delivered under Morelli branding. ClimRisk outputs fully embedded — white-label, invisible to client. Audit-ready.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STRUCTURE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Options — Designed Around How Morelli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09728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61872"/>
            <a:ext cx="269748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269748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7784" y="197510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full access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" y="245059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live client projects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" y="292608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methodology sessions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" y="340156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outputs throughout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" y="387705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fit before long-term commitment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261872"/>
            <a:ext cx="269748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261872"/>
            <a:ext cx="26974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261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1517904"/>
            <a:ext cx="269748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1517904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64992" y="223113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client projects/month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4992" y="27066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frameworks (TCFD/IFRS S2/CSRD)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64992" y="318211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feature requests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64992" y="365760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model briefings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413308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fee — unlimited mandate use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25896" y="1261872"/>
            <a:ext cx="269748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25896" y="1261872"/>
            <a:ext cx="269748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25896" y="126187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72200" y="197510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per client engagement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245059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access per project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292608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monthly commitment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40156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included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387705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when you use 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83717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tiers: white-label outputs  ·  no per-report fees  ·  full methodology documentation  ·  NDA on all client data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Call to First Engagement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09728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325880"/>
            <a:ext cx="8321040" cy="786384"/>
          </a:xfrm>
          <a:prstGeom prst="rect">
            <a:avLst/>
          </a:prstGeom>
          <a:solidFill>
            <a:srgbClr val="FAFAFA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9047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2416" y="13898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Analysis — Today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live analysis on a sample sector — Gus nominates the industry. ClimRisk delivers the full output stack: physical CaR, transition rating, scenario comparison, and a disclosure draft excerpt. 10 minutes.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0" y="1527048"/>
            <a:ext cx="146304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5270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call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240280"/>
            <a:ext cx="8321040" cy="786384"/>
          </a:xfrm>
          <a:prstGeom prst="rect">
            <a:avLst/>
          </a:prstGeom>
          <a:solidFill>
            <a:srgbClr val="FAFAFA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04872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04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2416" y="23042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Agreement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" y="2606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a 3-month pilot: full access, up to 5 client projects. Co-design output templates to match Morelli's reporting style. No payment until we've validated the workflow together.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2441448"/>
            <a:ext cx="1463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4414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week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154680"/>
            <a:ext cx="8321040" cy="786384"/>
          </a:xfrm>
          <a:prstGeom prst="rect">
            <a:avLst/>
          </a:prstGeom>
          <a:solidFill>
            <a:srgbClr val="FAFAFA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19272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42416" y="32186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Engagement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2416" y="3520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an active Morelli client project. ClimRisk provides quantitative outputs; Morelli provides advisory framing and client delivery. Fully white-labelled.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3355848"/>
            <a:ext cx="14630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33558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069080"/>
            <a:ext cx="8321040" cy="786384"/>
          </a:xfrm>
          <a:prstGeom prst="rect">
            <a:avLst/>
          </a:prstGeom>
          <a:solidFill>
            <a:srgbClr val="FAFAFA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23367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33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42416" y="4133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TNFD Roadmap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42416" y="44348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on what Morelli's integrated climate-nature clients actually need from a TNFD quantitative layer. This shapes our next development sprint — co-development opportunity.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32320" y="4270248"/>
            <a:ext cx="14630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42702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5029200"/>
            <a:ext cx="8321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8463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ask: Can we run a live assessment on one of your current or upcoming client sectors right now?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exist.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" y="17830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let's make them work for Morelli's clients.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11480" y="2633472"/>
            <a:ext cx="8321040" cy="731520"/>
          </a:xfrm>
          <a:prstGeom prst="rect">
            <a:avLst/>
          </a:prstGeom>
          <a:solidFill>
            <a:srgbClr val="0A2840"/>
          </a:solidFill>
          <a:ln w="12700">
            <a:solidFill>
              <a:srgbClr val="0A28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2670048"/>
            <a:ext cx="8083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TCFD report, every IFRS S2 filing, every CSRD disclosure your clients need — ClimRisk produces the quantified foundation. Morelli delivers the strategy. Together that's a complete, credible product.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566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 climrisk.io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8587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 shrinivashdkannan@gmail.com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2F4A"/>
          </a:solidFill>
          <a:ln w="12700">
            <a:solidFill>
              <a:srgbClr val="0A2F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51713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Gus Stovold  ·  Morelli Consulting  ·  Confidential  ·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ClimRisk × Morelli Consulting — Partnership Deck</dc:title>
  <dc:subject>PptxGenJS Presentation</dc:subject>
  <dc:creator>PptxGenJS</dc:creator>
  <cp:lastModifiedBy>PptxGenJS</cp:lastModifiedBy>
  <cp:revision>1</cp:revision>
  <dcterms:created xsi:type="dcterms:W3CDTF">2026-04-30T06:16:41Z</dcterms:created>
  <dcterms:modified xsi:type="dcterms:W3CDTF">2026-04-30T06:16:41Z</dcterms:modified>
</cp:coreProperties>
</file>